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1" r:id="rId2"/>
    <p:sldId id="262" r:id="rId3"/>
    <p:sldId id="286" r:id="rId4"/>
    <p:sldId id="267" r:id="rId5"/>
    <p:sldId id="264" r:id="rId6"/>
    <p:sldId id="266" r:id="rId7"/>
    <p:sldId id="268" r:id="rId8"/>
    <p:sldId id="287" r:id="rId9"/>
    <p:sldId id="274" r:id="rId10"/>
    <p:sldId id="273" r:id="rId11"/>
    <p:sldId id="288" r:id="rId12"/>
    <p:sldId id="269" r:id="rId13"/>
    <p:sldId id="276" r:id="rId14"/>
    <p:sldId id="275" r:id="rId15"/>
    <p:sldId id="270" r:id="rId16"/>
    <p:sldId id="289" r:id="rId17"/>
    <p:sldId id="277" r:id="rId18"/>
    <p:sldId id="278" r:id="rId19"/>
    <p:sldId id="271" r:id="rId20"/>
    <p:sldId id="290" r:id="rId21"/>
    <p:sldId id="279" r:id="rId22"/>
    <p:sldId id="280" r:id="rId23"/>
    <p:sldId id="283" r:id="rId24"/>
    <p:sldId id="284" r:id="rId25"/>
    <p:sldId id="282" r:id="rId26"/>
    <p:sldId id="285" r:id="rId27"/>
    <p:sldId id="263" r:id="rId28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61D3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53" d="100"/>
          <a:sy n="153" d="100"/>
        </p:scale>
        <p:origin x="576" y="12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 dirty="0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 dirty="0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0" y="6008758"/>
            <a:ext cx="12191746" cy="84888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-12700" y="-125780"/>
            <a:ext cx="12217400" cy="10072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4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415239" y="1034872"/>
            <a:ext cx="10883900" cy="446595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8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9/29/2026</a:t>
            </a:fld>
            <a:endParaRPr lang="en-US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851148" y="228600"/>
            <a:ext cx="6489700" cy="63754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632460" marR="5080" indent="-620395">
              <a:lnSpc>
                <a:spcPct val="100499"/>
              </a:lnSpc>
              <a:spcBef>
                <a:spcPts val="90"/>
              </a:spcBef>
            </a:pPr>
            <a:r>
              <a:rPr sz="2000" spc="-10" dirty="0">
                <a:latin typeface="Calibri"/>
                <a:cs typeface="Calibri"/>
              </a:rPr>
              <a:t>Санкт-Петербургский</a:t>
            </a:r>
            <a:r>
              <a:rPr sz="2000" spc="-25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государственный электротехнический </a:t>
            </a:r>
            <a:r>
              <a:rPr sz="2000" dirty="0">
                <a:latin typeface="Calibri"/>
                <a:cs typeface="Calibri"/>
              </a:rPr>
              <a:t>университет</a:t>
            </a:r>
            <a:r>
              <a:rPr sz="2000" spc="-8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«ЛЭТИ»</a:t>
            </a:r>
            <a:r>
              <a:rPr sz="2000" spc="-45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им.</a:t>
            </a:r>
            <a:r>
              <a:rPr sz="2000" spc="-70" dirty="0">
                <a:latin typeface="Calibri"/>
                <a:cs typeface="Calibri"/>
              </a:rPr>
              <a:t> </a:t>
            </a:r>
            <a:r>
              <a:rPr sz="2000" dirty="0">
                <a:latin typeface="Calibri"/>
                <a:cs typeface="Calibri"/>
              </a:rPr>
              <a:t>В.И.</a:t>
            </a:r>
            <a:r>
              <a:rPr sz="2000" spc="-65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Ульянова</a:t>
            </a:r>
            <a:r>
              <a:rPr sz="2000" spc="-50" dirty="0">
                <a:latin typeface="Calibri"/>
                <a:cs typeface="Calibri"/>
              </a:rPr>
              <a:t> </a:t>
            </a:r>
            <a:r>
              <a:rPr sz="2000" spc="-10" dirty="0">
                <a:latin typeface="Calibri"/>
                <a:cs typeface="Calibri"/>
              </a:rPr>
              <a:t>(Ленина)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359342" y="1600200"/>
            <a:ext cx="7473315" cy="2042867"/>
          </a:xfrm>
          <a:prstGeom prst="rect">
            <a:avLst/>
          </a:prstGeom>
        </p:spPr>
        <p:txBody>
          <a:bodyPr vert="horz" wrap="square" lIns="0" tIns="571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450"/>
              </a:spcBef>
              <a:tabLst>
                <a:tab pos="3475990" algn="l"/>
              </a:tabLst>
            </a:pPr>
            <a:r>
              <a:rPr sz="2800" spc="-10" dirty="0">
                <a:latin typeface="Calibri"/>
                <a:cs typeface="Calibri"/>
              </a:rPr>
              <a:t>Лабораторная </a:t>
            </a:r>
            <a:r>
              <a:rPr sz="2800" dirty="0">
                <a:latin typeface="Calibri"/>
                <a:cs typeface="Calibri"/>
              </a:rPr>
              <a:t>№ </a:t>
            </a:r>
            <a:r>
              <a:rPr lang="en-US" sz="2800" u="heavy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1</a:t>
            </a:r>
            <a:endParaRPr sz="2800" dirty="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  <a:spcBef>
                <a:spcPts val="615"/>
              </a:spcBef>
            </a:pPr>
            <a:r>
              <a:rPr lang="ru-RU" sz="4800" i="1" spc="-155" dirty="0">
                <a:solidFill>
                  <a:schemeClr val="tx1"/>
                </a:solidFill>
                <a:latin typeface="Calibri"/>
                <a:cs typeface="Calibri"/>
              </a:rPr>
              <a:t>Изучение шести классических шифров</a:t>
            </a:r>
            <a:endParaRPr sz="48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373186" y="3962400"/>
            <a:ext cx="9445625" cy="17188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50000"/>
              </a:lnSpc>
              <a:spcBef>
                <a:spcPts val="95"/>
              </a:spcBef>
              <a:tabLst>
                <a:tab pos="4105910" algn="l"/>
              </a:tabLst>
            </a:pPr>
            <a:r>
              <a:rPr sz="2800" dirty="0">
                <a:latin typeface="Calibri"/>
                <a:cs typeface="Calibri"/>
              </a:rPr>
              <a:t>Студент: </a:t>
            </a:r>
            <a:r>
              <a:rPr sz="2800" u="heavy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	</a:t>
            </a:r>
            <a:r>
              <a:rPr lang="ru-RU" sz="2800" i="1" dirty="0">
                <a:solidFill>
                  <a:schemeClr val="tx1"/>
                </a:solidFill>
                <a:latin typeface="Calibri"/>
                <a:cs typeface="Calibri"/>
              </a:rPr>
              <a:t>Марков</a:t>
            </a:r>
            <a:r>
              <a:rPr lang="ru-RU" sz="2800" i="1" spc="-65" dirty="0">
                <a:solidFill>
                  <a:schemeClr val="tx1"/>
                </a:solidFill>
                <a:latin typeface="Calibri"/>
                <a:cs typeface="Calibri"/>
              </a:rPr>
              <a:t> Марк</a:t>
            </a:r>
            <a:r>
              <a:rPr lang="ru-RU" sz="2800" i="1" spc="-40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sz="2800" i="1" dirty="0">
                <a:solidFill>
                  <a:schemeClr val="tx1"/>
                </a:solidFill>
                <a:latin typeface="Calibri"/>
                <a:cs typeface="Calibri"/>
              </a:rPr>
              <a:t>,</a:t>
            </a:r>
            <a:r>
              <a:rPr sz="2800" i="1" spc="-35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sz="2800" dirty="0">
                <a:solidFill>
                  <a:schemeClr val="tx1"/>
                </a:solidFill>
                <a:latin typeface="Calibri"/>
                <a:cs typeface="Calibri"/>
              </a:rPr>
              <a:t>группа</a:t>
            </a:r>
            <a:r>
              <a:rPr sz="2800" spc="-25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lang="ru-RU" sz="2800" i="1" spc="-20" dirty="0">
                <a:solidFill>
                  <a:schemeClr val="tx1"/>
                </a:solidFill>
                <a:latin typeface="Calibri"/>
                <a:cs typeface="Calibri"/>
              </a:rPr>
              <a:t>3</a:t>
            </a:r>
            <a:r>
              <a:rPr sz="2800" i="1" spc="-20" dirty="0">
                <a:solidFill>
                  <a:schemeClr val="tx1"/>
                </a:solidFill>
                <a:latin typeface="Calibri"/>
                <a:cs typeface="Calibri"/>
              </a:rPr>
              <a:t>3</a:t>
            </a:r>
            <a:r>
              <a:rPr lang="ru-RU" sz="2800" i="1" spc="-20" dirty="0">
                <a:solidFill>
                  <a:schemeClr val="tx1"/>
                </a:solidFill>
                <a:latin typeface="Calibri"/>
                <a:cs typeface="Calibri"/>
              </a:rPr>
              <a:t>81</a:t>
            </a:r>
            <a:endParaRPr sz="2800" dirty="0">
              <a:latin typeface="Calibri"/>
              <a:cs typeface="Calibri"/>
            </a:endParaRPr>
          </a:p>
          <a:p>
            <a:pPr marL="12700">
              <a:lnSpc>
                <a:spcPct val="150000"/>
              </a:lnSpc>
              <a:tabLst>
                <a:tab pos="4222750" algn="l"/>
              </a:tabLst>
            </a:pPr>
            <a:r>
              <a:rPr sz="2800" spc="-10" dirty="0">
                <a:latin typeface="Calibri"/>
                <a:cs typeface="Calibri"/>
              </a:rPr>
              <a:t>Руководитель:</a:t>
            </a:r>
            <a:r>
              <a:rPr sz="2800" u="heavy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	</a:t>
            </a:r>
            <a:r>
              <a:rPr sz="2800" dirty="0">
                <a:latin typeface="Calibri"/>
                <a:cs typeface="Calibri"/>
              </a:rPr>
              <a:t>Племянников</a:t>
            </a:r>
            <a:r>
              <a:rPr sz="2800" spc="-114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А.К.,</a:t>
            </a:r>
            <a:r>
              <a:rPr sz="2800" spc="-7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доцент</a:t>
            </a:r>
            <a:r>
              <a:rPr sz="2800" spc="-105" dirty="0">
                <a:latin typeface="Calibri"/>
                <a:cs typeface="Calibri"/>
              </a:rPr>
              <a:t> </a:t>
            </a:r>
            <a:r>
              <a:rPr sz="2800" dirty="0">
                <a:latin typeface="Calibri"/>
                <a:cs typeface="Calibri"/>
              </a:rPr>
              <a:t>каф.</a:t>
            </a:r>
            <a:r>
              <a:rPr sz="2800" spc="-85" dirty="0">
                <a:latin typeface="Calibri"/>
                <a:cs typeface="Calibri"/>
              </a:rPr>
              <a:t> </a:t>
            </a:r>
            <a:r>
              <a:rPr sz="2800" spc="-25" dirty="0">
                <a:latin typeface="Calibri"/>
                <a:cs typeface="Calibri"/>
              </a:rPr>
              <a:t>ИБ</a:t>
            </a:r>
            <a:endParaRPr sz="2800" dirty="0">
              <a:latin typeface="Calibri"/>
              <a:cs typeface="Calibri"/>
            </a:endParaRPr>
          </a:p>
          <a:p>
            <a:pPr marL="2011680">
              <a:lnSpc>
                <a:spcPct val="150000"/>
              </a:lnSpc>
            </a:pPr>
            <a:r>
              <a:rPr sz="2000" spc="-10" dirty="0" err="1">
                <a:latin typeface="Calibri"/>
                <a:cs typeface="Calibri"/>
              </a:rPr>
              <a:t>Сан</a:t>
            </a:r>
            <a:r>
              <a:rPr lang="ru-RU" sz="2000" spc="-10" dirty="0">
                <a:latin typeface="Calibri"/>
                <a:cs typeface="Calibri"/>
              </a:rPr>
              <a:t>к</a:t>
            </a:r>
            <a:r>
              <a:rPr sz="2000" spc="-10" dirty="0">
                <a:latin typeface="Calibri"/>
                <a:cs typeface="Calibri"/>
              </a:rPr>
              <a:t>т-</a:t>
            </a:r>
            <a:r>
              <a:rPr sz="2000" dirty="0" err="1">
                <a:latin typeface="Calibri"/>
                <a:cs typeface="Calibri"/>
              </a:rPr>
              <a:t>Петербург</a:t>
            </a:r>
            <a:r>
              <a:rPr sz="2000" spc="-70" dirty="0">
                <a:latin typeface="Calibri"/>
                <a:cs typeface="Calibri"/>
              </a:rPr>
              <a:t> </a:t>
            </a:r>
            <a:r>
              <a:rPr sz="2000" spc="-20" dirty="0">
                <a:latin typeface="Calibri"/>
                <a:cs typeface="Calibri"/>
              </a:rPr>
              <a:t>2026</a:t>
            </a:r>
            <a:endParaRPr sz="2000" dirty="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228600" y="152400"/>
            <a:ext cx="11734800" cy="61517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sz="4000" spc="-150" dirty="0">
                <a:solidFill>
                  <a:srgbClr val="161D31"/>
                </a:solidFill>
                <a:latin typeface="Calibri"/>
                <a:cs typeface="Calibri"/>
              </a:rPr>
              <a:t>Цель.</a:t>
            </a:r>
            <a:r>
              <a:rPr sz="4000" spc="-220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lang="ru-RU" sz="3200" dirty="0">
                <a:solidFill>
                  <a:srgbClr val="161D31"/>
                </a:solidFill>
                <a:latin typeface="Calibri"/>
                <a:cs typeface="Calibri"/>
              </a:rPr>
              <a:t>Повышение</a:t>
            </a:r>
            <a:r>
              <a:rPr lang="ru-RU" sz="3200" spc="-90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lang="ru-RU" sz="3200" spc="-10" dirty="0">
                <a:solidFill>
                  <a:srgbClr val="161D31"/>
                </a:solidFill>
                <a:latin typeface="Calibri"/>
                <a:cs typeface="Calibri"/>
              </a:rPr>
              <a:t>компетентности</a:t>
            </a:r>
            <a:r>
              <a:rPr lang="ru-RU" sz="3200" spc="-75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lang="ru-RU" sz="3200" dirty="0">
                <a:solidFill>
                  <a:srgbClr val="161D31"/>
                </a:solidFill>
                <a:latin typeface="Calibri"/>
                <a:cs typeface="Calibri"/>
              </a:rPr>
              <a:t>в зашифрование и расшифрование шести классических шифров.</a:t>
            </a:r>
          </a:p>
          <a:p>
            <a:pPr marL="12700" marR="344805" algn="just">
              <a:lnSpc>
                <a:spcPct val="100699"/>
              </a:lnSpc>
            </a:pPr>
            <a:endParaRPr lang="ru-RU" sz="320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12700" marR="344805" algn="just">
              <a:lnSpc>
                <a:spcPct val="100699"/>
              </a:lnSpc>
            </a:pPr>
            <a:r>
              <a:rPr sz="3200" dirty="0" err="1">
                <a:solidFill>
                  <a:srgbClr val="161D31"/>
                </a:solidFill>
                <a:latin typeface="Calibri"/>
                <a:cs typeface="Calibri"/>
              </a:rPr>
              <a:t>Для</a:t>
            </a:r>
            <a:r>
              <a:rPr sz="3200" spc="-95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161D31"/>
                </a:solidFill>
                <a:latin typeface="Calibri"/>
                <a:cs typeface="Calibri"/>
              </a:rPr>
              <a:t>достижения</a:t>
            </a:r>
            <a:r>
              <a:rPr sz="3200" spc="-100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161D31"/>
                </a:solidFill>
                <a:latin typeface="Calibri"/>
                <a:cs typeface="Calibri"/>
              </a:rPr>
              <a:t>поставленной</a:t>
            </a:r>
            <a:r>
              <a:rPr sz="3200" spc="-125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161D31"/>
                </a:solidFill>
                <a:latin typeface="Calibri"/>
                <a:cs typeface="Calibri"/>
              </a:rPr>
              <a:t>цели</a:t>
            </a:r>
            <a:r>
              <a:rPr sz="3200" spc="-114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161D31"/>
                </a:solidFill>
                <a:latin typeface="Calibri"/>
                <a:cs typeface="Calibri"/>
              </a:rPr>
              <a:t>предстояло</a:t>
            </a:r>
            <a:r>
              <a:rPr sz="3200" spc="-100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sz="3200" spc="-10" dirty="0">
                <a:solidFill>
                  <a:srgbClr val="161D31"/>
                </a:solidFill>
                <a:latin typeface="Calibri"/>
                <a:cs typeface="Calibri"/>
              </a:rPr>
              <a:t>решить </a:t>
            </a:r>
            <a:r>
              <a:rPr sz="3200" dirty="0">
                <a:solidFill>
                  <a:srgbClr val="161D31"/>
                </a:solidFill>
                <a:latin typeface="Calibri"/>
                <a:cs typeface="Calibri"/>
              </a:rPr>
              <a:t>следующие</a:t>
            </a:r>
            <a:r>
              <a:rPr sz="3200" spc="-65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sz="3200" dirty="0">
                <a:solidFill>
                  <a:srgbClr val="161D31"/>
                </a:solidFill>
                <a:latin typeface="Calibri"/>
                <a:cs typeface="Calibri"/>
              </a:rPr>
              <a:t>основные</a:t>
            </a:r>
            <a:r>
              <a:rPr sz="3200" spc="-60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sz="3200" spc="-10" dirty="0" err="1">
                <a:solidFill>
                  <a:srgbClr val="161D31"/>
                </a:solidFill>
                <a:latin typeface="Calibri"/>
                <a:cs typeface="Calibri"/>
              </a:rPr>
              <a:t>задачи</a:t>
            </a:r>
            <a:r>
              <a:rPr sz="3200" spc="-10" dirty="0">
                <a:solidFill>
                  <a:srgbClr val="161D31"/>
                </a:solidFill>
                <a:latin typeface="Calibri"/>
                <a:cs typeface="Calibri"/>
              </a:rPr>
              <a:t>:</a:t>
            </a:r>
            <a:endParaRPr lang="ru-RU" sz="3200" spc="-1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764540" indent="-741680" algn="just">
              <a:spcBef>
                <a:spcPts val="1190"/>
              </a:spcBef>
              <a:buAutoNum type="arabicPeriod"/>
              <a:tabLst>
                <a:tab pos="764540" algn="l"/>
              </a:tabLst>
            </a:pPr>
            <a:r>
              <a:rPr lang="ru-RU" sz="22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Изучить и исследовать шифр «</a:t>
            </a:r>
            <a:r>
              <a:rPr lang="en-US" sz="22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Scytale</a:t>
            </a:r>
            <a:r>
              <a:rPr lang="ru-RU" sz="22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»</a:t>
            </a:r>
          </a:p>
          <a:p>
            <a:pPr marL="764540" indent="-741680" algn="just">
              <a:spcBef>
                <a:spcPts val="1190"/>
              </a:spcBef>
              <a:buFontTx/>
              <a:buAutoNum type="arabicPeriod"/>
              <a:tabLst>
                <a:tab pos="764540" algn="l"/>
              </a:tabLst>
            </a:pPr>
            <a:r>
              <a:rPr lang="ru-RU" sz="22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Изучить и исследовать шифр «Агентурный»</a:t>
            </a:r>
          </a:p>
          <a:p>
            <a:pPr marL="764540" indent="-741680" algn="just">
              <a:spcBef>
                <a:spcPts val="1190"/>
              </a:spcBef>
              <a:buFontTx/>
              <a:buAutoNum type="arabicPeriod"/>
              <a:tabLst>
                <a:tab pos="764540" algn="l"/>
              </a:tabLst>
            </a:pPr>
            <a:r>
              <a:rPr lang="ru-RU" sz="22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Изучить и исследовать шифр «</a:t>
            </a:r>
            <a:r>
              <a:rPr lang="en-US" sz="22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Vigenere</a:t>
            </a:r>
            <a:r>
              <a:rPr lang="ru-RU" sz="22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»</a:t>
            </a:r>
          </a:p>
          <a:p>
            <a:pPr marL="764540" indent="-741680" algn="just">
              <a:spcBef>
                <a:spcPts val="1190"/>
              </a:spcBef>
              <a:buFontTx/>
              <a:buAutoNum type="arabicPeriod"/>
              <a:tabLst>
                <a:tab pos="764540" algn="l"/>
              </a:tabLst>
            </a:pPr>
            <a:r>
              <a:rPr lang="ru-RU" sz="22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Изучить и исследовать шифр «</a:t>
            </a:r>
            <a:r>
              <a:rPr lang="en-US" sz="22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Hill</a:t>
            </a:r>
            <a:r>
              <a:rPr lang="ru-RU" sz="22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»</a:t>
            </a:r>
          </a:p>
          <a:p>
            <a:pPr marL="764540" indent="-741680" algn="just">
              <a:spcBef>
                <a:spcPts val="1190"/>
              </a:spcBef>
              <a:buFontTx/>
              <a:buAutoNum type="arabicPeriod"/>
              <a:tabLst>
                <a:tab pos="764540" algn="l"/>
              </a:tabLst>
            </a:pPr>
            <a:r>
              <a:rPr lang="ru-RU" sz="22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Изучить и исследовать шифр «</a:t>
            </a:r>
            <a:r>
              <a:rPr lang="en-US" sz="22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ADFGVX</a:t>
            </a:r>
            <a:r>
              <a:rPr lang="ru-RU" sz="22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»</a:t>
            </a:r>
          </a:p>
          <a:p>
            <a:pPr marL="764540" indent="-741680" algn="just">
              <a:spcBef>
                <a:spcPts val="1190"/>
              </a:spcBef>
              <a:buFontTx/>
              <a:buAutoNum type="arabicPeriod"/>
              <a:tabLst>
                <a:tab pos="764540" algn="l"/>
              </a:tabLst>
            </a:pPr>
            <a:r>
              <a:rPr lang="ru-RU" sz="22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Изучить и исследовать шифр</a:t>
            </a:r>
            <a:r>
              <a:rPr lang="en-US" sz="22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, </a:t>
            </a:r>
            <a:r>
              <a:rPr lang="ru-RU" sz="22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заданный 4 вариантом, прототип «Решётки Кардано»</a:t>
            </a:r>
          </a:p>
          <a:p>
            <a:pPr marL="764540" indent="-741680" algn="just">
              <a:lnSpc>
                <a:spcPct val="100000"/>
              </a:lnSpc>
              <a:spcBef>
                <a:spcPts val="1190"/>
              </a:spcBef>
              <a:buAutoNum type="arabicPeriod"/>
              <a:tabLst>
                <a:tab pos="764540" algn="l"/>
              </a:tabLst>
            </a:pPr>
            <a:endParaRPr lang="ru-RU" sz="2800" dirty="0">
              <a:solidFill>
                <a:srgbClr val="161D31"/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943AA6-DB97-45FB-8745-C8DEF185D432}"/>
              </a:ext>
            </a:extLst>
          </p:cNvPr>
          <p:cNvSpPr txBox="1"/>
          <p:nvPr/>
        </p:nvSpPr>
        <p:spPr>
          <a:xfrm>
            <a:off x="609600" y="228600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4000" spc="-150" dirty="0">
                <a:solidFill>
                  <a:srgbClr val="161D31"/>
                </a:solidFill>
                <a:latin typeface="Calibri"/>
                <a:cs typeface="Calibri"/>
              </a:rPr>
              <a:t>Шифр 1. Сцитала (Scytale)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19139E-7DA1-401A-A431-5B5651BC2D55}"/>
              </a:ext>
            </a:extLst>
          </p:cNvPr>
          <p:cNvSpPr txBox="1"/>
          <p:nvPr/>
        </p:nvSpPr>
        <p:spPr>
          <a:xfrm>
            <a:off x="461898" y="2029832"/>
            <a:ext cx="503781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3345">
              <a:lnSpc>
                <a:spcPct val="100000"/>
              </a:lnSpc>
            </a:pPr>
            <a:r>
              <a:rPr lang="ru-RU" sz="3200" spc="-10" dirty="0">
                <a:solidFill>
                  <a:srgbClr val="DE7400"/>
                </a:solidFill>
                <a:latin typeface="Calibri"/>
                <a:cs typeface="Calibri"/>
              </a:rPr>
              <a:t>ПРИМЕР</a:t>
            </a:r>
            <a:r>
              <a:rPr lang="ru-RU" sz="3200" spc="-10" dirty="0">
                <a:solidFill>
                  <a:srgbClr val="5E9922"/>
                </a:solidFill>
                <a:latin typeface="Calibri"/>
                <a:cs typeface="Calibri"/>
              </a:rPr>
              <a:t>ШИФРАС</a:t>
            </a:r>
            <a:r>
              <a:rPr lang="ru-RU" sz="3200" spc="-10" dirty="0">
                <a:solidFill>
                  <a:srgbClr val="7B3B9F"/>
                </a:solidFill>
                <a:latin typeface="Calibri"/>
                <a:cs typeface="Calibri"/>
              </a:rPr>
              <a:t>ЦИТАЛА</a:t>
            </a:r>
            <a:endParaRPr lang="ru-RU" sz="3200" dirty="0">
              <a:latin typeface="Calibri"/>
              <a:cs typeface="Calibri"/>
            </a:endParaRPr>
          </a:p>
        </p:txBody>
      </p:sp>
      <p:graphicFrame>
        <p:nvGraphicFramePr>
          <p:cNvPr id="8" name="object 4">
            <a:extLst>
              <a:ext uri="{FF2B5EF4-FFF2-40B4-BE49-F238E27FC236}">
                <a16:creationId xmlns:a16="http://schemas.microsoft.com/office/drawing/2014/main" id="{23EF5952-D226-4792-8305-486B33F9B9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02986611"/>
              </p:ext>
            </p:extLst>
          </p:nvPr>
        </p:nvGraphicFramePr>
        <p:xfrm>
          <a:off x="5810425" y="2458619"/>
          <a:ext cx="5181600" cy="16924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807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7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0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766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604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8530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6416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b="1" spc="-50" dirty="0">
                          <a:solidFill>
                            <a:srgbClr val="DE7400"/>
                          </a:solidFill>
                          <a:latin typeface="Calibri"/>
                          <a:cs typeface="Calibri"/>
                        </a:rPr>
                        <a:t>П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b="1" spc="-50" dirty="0">
                          <a:solidFill>
                            <a:srgbClr val="DE7400"/>
                          </a:solidFill>
                          <a:latin typeface="Calibri"/>
                          <a:cs typeface="Calibri"/>
                        </a:rPr>
                        <a:t>Р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b="1" spc="-50" dirty="0">
                          <a:solidFill>
                            <a:srgbClr val="DE7400"/>
                          </a:solidFill>
                          <a:latin typeface="Calibri"/>
                          <a:cs typeface="Calibri"/>
                        </a:rPr>
                        <a:t>И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b="1" spc="-50" dirty="0">
                          <a:solidFill>
                            <a:srgbClr val="DE7400"/>
                          </a:solidFill>
                          <a:latin typeface="Calibri"/>
                          <a:cs typeface="Calibri"/>
                        </a:rPr>
                        <a:t>М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b="1" spc="-50" dirty="0">
                          <a:solidFill>
                            <a:srgbClr val="DE7400"/>
                          </a:solidFill>
                          <a:latin typeface="Calibri"/>
                          <a:cs typeface="Calibri"/>
                        </a:rPr>
                        <a:t>Е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b="1" spc="-50" dirty="0">
                          <a:solidFill>
                            <a:srgbClr val="DE7400"/>
                          </a:solidFill>
                          <a:latin typeface="Calibri"/>
                          <a:cs typeface="Calibri"/>
                        </a:rPr>
                        <a:t>Р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416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b="1" spc="-50" dirty="0">
                          <a:solidFill>
                            <a:srgbClr val="5E9922"/>
                          </a:solidFill>
                          <a:latin typeface="Calibri"/>
                          <a:cs typeface="Calibri"/>
                        </a:rPr>
                        <a:t>Ш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b="1" spc="-50" dirty="0">
                          <a:solidFill>
                            <a:srgbClr val="5E9922"/>
                          </a:solidFill>
                          <a:latin typeface="Calibri"/>
                          <a:cs typeface="Calibri"/>
                        </a:rPr>
                        <a:t>И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b="1" spc="-50" dirty="0">
                          <a:solidFill>
                            <a:srgbClr val="5E9922"/>
                          </a:solidFill>
                          <a:latin typeface="Calibri"/>
                          <a:cs typeface="Calibri"/>
                        </a:rPr>
                        <a:t>Ф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b="1" spc="-50" dirty="0">
                          <a:solidFill>
                            <a:srgbClr val="5E9922"/>
                          </a:solidFill>
                          <a:latin typeface="Calibri"/>
                          <a:cs typeface="Calibri"/>
                        </a:rPr>
                        <a:t>Р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b="1" spc="-50" dirty="0">
                          <a:solidFill>
                            <a:srgbClr val="5E9922"/>
                          </a:solidFill>
                          <a:latin typeface="Calibri"/>
                          <a:cs typeface="Calibri"/>
                        </a:rPr>
                        <a:t>А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b="1" spc="-50" dirty="0">
                          <a:solidFill>
                            <a:srgbClr val="5E9922"/>
                          </a:solidFill>
                          <a:latin typeface="Calibri"/>
                          <a:cs typeface="Calibri"/>
                        </a:rPr>
                        <a:t>С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416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Ц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И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Т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А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Л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А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09E9BD71-41CB-4996-8688-A20E8001BAFD}"/>
              </a:ext>
            </a:extLst>
          </p:cNvPr>
          <p:cNvSpPr txBox="1"/>
          <p:nvPr/>
        </p:nvSpPr>
        <p:spPr>
          <a:xfrm>
            <a:off x="546709" y="1591131"/>
            <a:ext cx="339242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469265" algn="l"/>
              </a:tabLst>
            </a:pPr>
            <a:r>
              <a:rPr lang="ru-RU" sz="3200" b="1" dirty="0">
                <a:solidFill>
                  <a:srgbClr val="163557"/>
                </a:solidFill>
                <a:latin typeface="Calibri"/>
                <a:cs typeface="Calibri"/>
              </a:rPr>
              <a:t>Открытый</a:t>
            </a:r>
            <a:r>
              <a:rPr lang="ru-RU" sz="3200" b="1" spc="5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lang="ru-RU" sz="3200" b="1" spc="-10" dirty="0">
                <a:solidFill>
                  <a:srgbClr val="163557"/>
                </a:solidFill>
                <a:latin typeface="Calibri"/>
                <a:cs typeface="Calibri"/>
              </a:rPr>
              <a:t>текст:</a:t>
            </a:r>
            <a:endParaRPr lang="ru-RU" sz="3200" dirty="0">
              <a:latin typeface="Calibri"/>
              <a:cs typeface="Calibri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96891F-1447-4326-9C5C-1AEE34B6D2DE}"/>
              </a:ext>
            </a:extLst>
          </p:cNvPr>
          <p:cNvSpPr txBox="1"/>
          <p:nvPr/>
        </p:nvSpPr>
        <p:spPr>
          <a:xfrm>
            <a:off x="5512410" y="1752600"/>
            <a:ext cx="6248139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tabLst>
                <a:tab pos="469265" algn="l"/>
              </a:tabLst>
            </a:pPr>
            <a:r>
              <a:rPr lang="ru-RU" sz="3200" b="1" dirty="0">
                <a:solidFill>
                  <a:srgbClr val="163557"/>
                </a:solidFill>
                <a:latin typeface="Calibri"/>
                <a:cs typeface="Calibri"/>
              </a:rPr>
              <a:t>Ключ</a:t>
            </a:r>
            <a:r>
              <a:rPr lang="ru-RU" sz="3200" b="1" spc="540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lang="ru-RU" sz="3200" b="1" dirty="0">
                <a:solidFill>
                  <a:srgbClr val="163557"/>
                </a:solidFill>
                <a:latin typeface="Calibri"/>
                <a:cs typeface="Calibri"/>
              </a:rPr>
              <a:t>(сдвиг</a:t>
            </a:r>
            <a:r>
              <a:rPr lang="ru-RU" sz="3200" b="1" spc="-45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lang="ru-RU" sz="3200" b="1" dirty="0">
                <a:solidFill>
                  <a:srgbClr val="163557"/>
                </a:solidFill>
                <a:latin typeface="Calibri"/>
                <a:cs typeface="Calibri"/>
              </a:rPr>
              <a:t>+</a:t>
            </a:r>
            <a:r>
              <a:rPr lang="ru-RU" sz="3200" b="1" spc="-55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lang="ru-RU" sz="3200" b="1" dirty="0">
                <a:solidFill>
                  <a:srgbClr val="163557"/>
                </a:solidFill>
                <a:latin typeface="Calibri"/>
                <a:cs typeface="Calibri"/>
              </a:rPr>
              <a:t>толщина):</a:t>
            </a:r>
            <a:r>
              <a:rPr lang="ru-RU" sz="3200" b="1" spc="575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lang="ru-RU" sz="3200" b="1" dirty="0">
                <a:solidFill>
                  <a:srgbClr val="163557"/>
                </a:solidFill>
                <a:latin typeface="Calibri"/>
                <a:cs typeface="Calibri"/>
              </a:rPr>
              <a:t>&gt;&gt;0</a:t>
            </a:r>
            <a:r>
              <a:rPr lang="ru-RU" sz="3200" b="1" spc="-30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lang="ru-RU" sz="3200" b="1" spc="-25" dirty="0">
                <a:solidFill>
                  <a:srgbClr val="163557"/>
                </a:solidFill>
                <a:latin typeface="Calibri"/>
                <a:cs typeface="Calibri"/>
              </a:rPr>
              <a:t>+3</a:t>
            </a:r>
            <a:endParaRPr lang="ru-RU" sz="3200" dirty="0">
              <a:latin typeface="Calibri"/>
              <a:cs typeface="Calibri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97F5769-435F-4B19-922F-DE395027B17F}"/>
              </a:ext>
            </a:extLst>
          </p:cNvPr>
          <p:cNvSpPr txBox="1"/>
          <p:nvPr/>
        </p:nvSpPr>
        <p:spPr>
          <a:xfrm>
            <a:off x="553756" y="3304867"/>
            <a:ext cx="275981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tabLst>
                <a:tab pos="469265" algn="l"/>
              </a:tabLst>
            </a:pPr>
            <a:r>
              <a:rPr lang="ru-RU" sz="3200" b="1" spc="-10" dirty="0" err="1">
                <a:solidFill>
                  <a:srgbClr val="163557"/>
                </a:solidFill>
                <a:latin typeface="Calibri"/>
                <a:cs typeface="Calibri"/>
              </a:rPr>
              <a:t>Шифротекст</a:t>
            </a:r>
            <a:r>
              <a:rPr lang="ru-RU" sz="3200" b="1" spc="-10" dirty="0">
                <a:solidFill>
                  <a:srgbClr val="163557"/>
                </a:solidFill>
                <a:latin typeface="Calibri"/>
                <a:cs typeface="Calibri"/>
              </a:rPr>
              <a:t>:</a:t>
            </a:r>
            <a:endParaRPr lang="ru-RU" sz="3200" dirty="0">
              <a:latin typeface="Calibri"/>
              <a:cs typeface="Calibri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7512347-ED95-4D4C-8336-3523555BECBC}"/>
              </a:ext>
            </a:extLst>
          </p:cNvPr>
          <p:cNvSpPr txBox="1"/>
          <p:nvPr/>
        </p:nvSpPr>
        <p:spPr>
          <a:xfrm>
            <a:off x="461898" y="3707953"/>
            <a:ext cx="524449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3345">
              <a:lnSpc>
                <a:spcPct val="100000"/>
              </a:lnSpc>
              <a:spcBef>
                <a:spcPts val="3360"/>
              </a:spcBef>
            </a:pPr>
            <a:r>
              <a:rPr lang="ru-RU" sz="3200" spc="-10" dirty="0">
                <a:solidFill>
                  <a:srgbClr val="DE7400"/>
                </a:solidFill>
                <a:latin typeface="Calibri"/>
                <a:cs typeface="Calibri"/>
              </a:rPr>
              <a:t>П</a:t>
            </a:r>
            <a:r>
              <a:rPr lang="ru-RU" sz="3200" spc="-10" dirty="0">
                <a:solidFill>
                  <a:srgbClr val="5E9922"/>
                </a:solidFill>
                <a:latin typeface="Calibri"/>
                <a:cs typeface="Calibri"/>
              </a:rPr>
              <a:t>Ш</a:t>
            </a:r>
            <a:r>
              <a:rPr lang="ru-RU" sz="3200" spc="-10" dirty="0">
                <a:solidFill>
                  <a:srgbClr val="7B3B9F"/>
                </a:solidFill>
                <a:latin typeface="Calibri"/>
                <a:cs typeface="Calibri"/>
              </a:rPr>
              <a:t>Ц</a:t>
            </a:r>
            <a:r>
              <a:rPr lang="ru-RU" sz="3200" spc="-10" dirty="0">
                <a:solidFill>
                  <a:srgbClr val="DE7400"/>
                </a:solidFill>
                <a:latin typeface="Calibri"/>
                <a:cs typeface="Calibri"/>
              </a:rPr>
              <a:t>Р</a:t>
            </a:r>
            <a:r>
              <a:rPr lang="ru-RU" sz="3200" spc="-10" dirty="0">
                <a:solidFill>
                  <a:srgbClr val="5E9922"/>
                </a:solidFill>
                <a:latin typeface="Calibri"/>
                <a:cs typeface="Calibri"/>
              </a:rPr>
              <a:t>И</a:t>
            </a:r>
            <a:r>
              <a:rPr lang="ru-RU" sz="3200" spc="-10" dirty="0">
                <a:solidFill>
                  <a:srgbClr val="7B3B9F"/>
                </a:solidFill>
                <a:latin typeface="Calibri"/>
                <a:cs typeface="Calibri"/>
              </a:rPr>
              <a:t>И</a:t>
            </a:r>
            <a:r>
              <a:rPr lang="ru-RU" sz="3200" spc="-10" dirty="0">
                <a:solidFill>
                  <a:srgbClr val="DE7400"/>
                </a:solidFill>
                <a:latin typeface="Calibri"/>
                <a:cs typeface="Calibri"/>
              </a:rPr>
              <a:t>И</a:t>
            </a:r>
            <a:r>
              <a:rPr lang="ru-RU" sz="3200" spc="-10" dirty="0">
                <a:solidFill>
                  <a:srgbClr val="5E9922"/>
                </a:solidFill>
                <a:latin typeface="Calibri"/>
                <a:cs typeface="Calibri"/>
              </a:rPr>
              <a:t>Ф</a:t>
            </a:r>
            <a:r>
              <a:rPr lang="ru-RU" sz="3200" spc="-10" dirty="0">
                <a:solidFill>
                  <a:srgbClr val="7B3B9F"/>
                </a:solidFill>
                <a:latin typeface="Calibri"/>
                <a:cs typeface="Calibri"/>
              </a:rPr>
              <a:t>Т</a:t>
            </a:r>
            <a:r>
              <a:rPr lang="ru-RU" sz="3200" spc="-10" dirty="0">
                <a:solidFill>
                  <a:srgbClr val="DE7400"/>
                </a:solidFill>
                <a:latin typeface="Calibri"/>
                <a:cs typeface="Calibri"/>
              </a:rPr>
              <a:t>М</a:t>
            </a:r>
            <a:r>
              <a:rPr lang="ru-RU" sz="3200" spc="-10" dirty="0">
                <a:solidFill>
                  <a:srgbClr val="5E9922"/>
                </a:solidFill>
                <a:latin typeface="Calibri"/>
                <a:cs typeface="Calibri"/>
              </a:rPr>
              <a:t>Р</a:t>
            </a:r>
            <a:r>
              <a:rPr lang="ru-RU" sz="3200" spc="-10" dirty="0">
                <a:solidFill>
                  <a:srgbClr val="7B3B9F"/>
                </a:solidFill>
                <a:latin typeface="Calibri"/>
                <a:cs typeface="Calibri"/>
              </a:rPr>
              <a:t>А</a:t>
            </a:r>
            <a:r>
              <a:rPr lang="ru-RU" sz="3200" spc="-10" dirty="0">
                <a:solidFill>
                  <a:srgbClr val="DE7400"/>
                </a:solidFill>
                <a:latin typeface="Calibri"/>
                <a:cs typeface="Calibri"/>
              </a:rPr>
              <a:t>Е</a:t>
            </a:r>
            <a:r>
              <a:rPr lang="ru-RU" sz="3200" spc="-10" dirty="0">
                <a:solidFill>
                  <a:srgbClr val="5E9922"/>
                </a:solidFill>
                <a:latin typeface="Calibri"/>
                <a:cs typeface="Calibri"/>
              </a:rPr>
              <a:t>А</a:t>
            </a:r>
            <a:r>
              <a:rPr lang="ru-RU" sz="3200" spc="-10" dirty="0">
                <a:solidFill>
                  <a:srgbClr val="7B3B9F"/>
                </a:solidFill>
                <a:latin typeface="Calibri"/>
                <a:cs typeface="Calibri"/>
              </a:rPr>
              <a:t>Л</a:t>
            </a:r>
            <a:r>
              <a:rPr lang="ru-RU" sz="3200" spc="-10" dirty="0">
                <a:solidFill>
                  <a:srgbClr val="DE7400"/>
                </a:solidFill>
                <a:latin typeface="Calibri"/>
                <a:cs typeface="Calibri"/>
              </a:rPr>
              <a:t>Р</a:t>
            </a:r>
            <a:r>
              <a:rPr lang="ru-RU" sz="3200" spc="-10" dirty="0">
                <a:solidFill>
                  <a:srgbClr val="5E9922"/>
                </a:solidFill>
                <a:latin typeface="Calibri"/>
                <a:cs typeface="Calibri"/>
              </a:rPr>
              <a:t>С</a:t>
            </a:r>
            <a:r>
              <a:rPr lang="ru-RU" sz="3200" spc="-10" dirty="0">
                <a:solidFill>
                  <a:srgbClr val="7B3B9F"/>
                </a:solidFill>
                <a:latin typeface="Calibri"/>
                <a:cs typeface="Calibri"/>
              </a:rPr>
              <a:t>А</a:t>
            </a:r>
            <a:endParaRPr lang="ru-RU" sz="32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64269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E483E1-EDFA-4540-B421-9E3910A0DD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86" y="1143000"/>
            <a:ext cx="12169628" cy="36576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4368C03-8FD5-4D91-8371-0AEC469A3D7D}"/>
              </a:ext>
            </a:extLst>
          </p:cNvPr>
          <p:cNvSpPr txBox="1"/>
          <p:nvPr/>
        </p:nvSpPr>
        <p:spPr>
          <a:xfrm>
            <a:off x="634651" y="22860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2800" b="1" spc="-150" dirty="0">
                <a:solidFill>
                  <a:srgbClr val="161D31"/>
                </a:solidFill>
                <a:latin typeface="Calibri"/>
                <a:cs typeface="Calibri"/>
              </a:rPr>
              <a:t>C</a:t>
            </a: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хема протокола шифра в </a:t>
            </a:r>
            <a:r>
              <a:rPr lang="en-US" sz="2800" b="1" spc="-150" dirty="0">
                <a:solidFill>
                  <a:srgbClr val="161D31"/>
                </a:solidFill>
                <a:latin typeface="Calibri"/>
                <a:cs typeface="Calibri"/>
              </a:rPr>
              <a:t>CrypTool2</a:t>
            </a:r>
            <a:endParaRPr lang="ru-RU" sz="2800" b="1" spc="-150" dirty="0">
              <a:solidFill>
                <a:srgbClr val="161D31"/>
              </a:solidFill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282835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533400" y="152400"/>
            <a:ext cx="10114915" cy="5716308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Внешняя спецификация алгоритма расшифрования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Назначение: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восстановление открытого текста, зашифрованного методом геометрической перестановки (запись по строкам, считывание по столбцам).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Входные данные:</a:t>
            </a:r>
          </a:p>
          <a:p>
            <a:pPr marL="355600" indent="-3429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C (</a:t>
            </a:r>
            <a:r>
              <a:rPr lang="ru-RU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) — шифротекст.</a:t>
            </a:r>
          </a:p>
          <a:p>
            <a:pPr marL="355600" indent="-3429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m (</a:t>
            </a:r>
            <a:r>
              <a:rPr lang="ru-RU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) — ключ (толщина / количество строк).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Выходные данные:</a:t>
            </a:r>
          </a:p>
          <a:p>
            <a:pPr marL="355600" indent="-3429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P (</a:t>
            </a:r>
            <a:r>
              <a:rPr lang="ru-RU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) — расшифрованный открытый текст.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Условия и ограничения: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ключ m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&gt; 1. Длина текста L должна быть кратна m. Если нет — шифротекст при зашифровании дополнялся незначащими символами, обычно пробелами.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Математическая модель: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расшифрование заключается в заполнении пустой матрицы размерностью m × n (где n = L/m) символами шифротекста строго по столбцам, а затем считывании полученного текста по строкам.</a:t>
            </a:r>
            <a:endParaRPr lang="ru-RU" sz="26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311540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3F4AFE5-A83B-458C-A072-08C8DA475824}"/>
              </a:ext>
            </a:extLst>
          </p:cNvPr>
          <p:cNvSpPr txBox="1"/>
          <p:nvPr/>
        </p:nvSpPr>
        <p:spPr>
          <a:xfrm>
            <a:off x="533400" y="152400"/>
            <a:ext cx="2971800" cy="1410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Блок-схема 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алгоритма 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расшифрования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9A5E0A4-1EC1-42D6-8C31-FF80AA1F57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3000" y="152400"/>
            <a:ext cx="2286000" cy="6172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0472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943AA6-DB97-45FB-8745-C8DEF185D432}"/>
              </a:ext>
            </a:extLst>
          </p:cNvPr>
          <p:cNvSpPr txBox="1"/>
          <p:nvPr/>
        </p:nvSpPr>
        <p:spPr>
          <a:xfrm>
            <a:off x="609600" y="228600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4000" spc="-150" dirty="0">
                <a:solidFill>
                  <a:srgbClr val="161D31"/>
                </a:solidFill>
                <a:latin typeface="Calibri"/>
                <a:cs typeface="Calibri"/>
              </a:rPr>
              <a:t>Шифр 2. Агентурный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5C9E2D-E3DF-4722-B2B6-37809B570132}"/>
              </a:ext>
            </a:extLst>
          </p:cNvPr>
          <p:cNvSpPr txBox="1"/>
          <p:nvPr/>
        </p:nvSpPr>
        <p:spPr>
          <a:xfrm>
            <a:off x="1066800" y="990600"/>
            <a:ext cx="24384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469265" algn="l"/>
              </a:tabLst>
            </a:pPr>
            <a:r>
              <a:rPr lang="ru-RU" sz="2400" b="1" dirty="0">
                <a:solidFill>
                  <a:srgbClr val="163557"/>
                </a:solidFill>
                <a:latin typeface="Calibri"/>
                <a:cs typeface="Calibri"/>
              </a:rPr>
              <a:t>Открытый</a:t>
            </a:r>
            <a:r>
              <a:rPr lang="ru-RU" sz="2400" b="1" spc="5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lang="ru-RU" sz="2400" b="1" spc="-10" dirty="0">
                <a:solidFill>
                  <a:srgbClr val="163557"/>
                </a:solidFill>
                <a:latin typeface="Calibri"/>
                <a:cs typeface="Calibri"/>
              </a:rPr>
              <a:t>текст:</a:t>
            </a:r>
            <a:endParaRPr lang="ru-RU" sz="2400" dirty="0">
              <a:latin typeface="Calibri"/>
              <a:cs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86F252-F701-4A10-BAF9-D872EFD298CC}"/>
              </a:ext>
            </a:extLst>
          </p:cNvPr>
          <p:cNvSpPr txBox="1"/>
          <p:nvPr/>
        </p:nvSpPr>
        <p:spPr>
          <a:xfrm>
            <a:off x="228600" y="1359932"/>
            <a:ext cx="4419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spc="-10" dirty="0">
                <a:solidFill>
                  <a:srgbClr val="FF0000"/>
                </a:solidFill>
                <a:latin typeface="Calibri"/>
                <a:cs typeface="Calibri"/>
              </a:rPr>
              <a:t>П</a:t>
            </a:r>
            <a:r>
              <a:rPr lang="ru-RU" sz="2400" b="1" spc="-10" dirty="0">
                <a:latin typeface="Calibri"/>
                <a:cs typeface="Calibri"/>
              </a:rPr>
              <a:t>РИМЕРАГЕНТУРНОГОШИФРА</a:t>
            </a:r>
            <a:endParaRPr lang="ru-RU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193E44-6D6D-47EC-9FE0-050301B904FF}"/>
              </a:ext>
            </a:extLst>
          </p:cNvPr>
          <p:cNvSpPr txBox="1"/>
          <p:nvPr/>
        </p:nvSpPr>
        <p:spPr>
          <a:xfrm>
            <a:off x="7162800" y="990600"/>
            <a:ext cx="352978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rgbClr val="163557"/>
                </a:solidFill>
                <a:latin typeface="Calibri"/>
                <a:cs typeface="Calibri"/>
              </a:rPr>
              <a:t>Ключ</a:t>
            </a:r>
            <a:r>
              <a:rPr lang="ru-RU" sz="2400" b="1" spc="-75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lang="ru-RU" sz="2400" b="1" dirty="0">
                <a:solidFill>
                  <a:srgbClr val="163557"/>
                </a:solidFill>
                <a:latin typeface="Calibri"/>
                <a:cs typeface="Calibri"/>
              </a:rPr>
              <a:t>(пароль</a:t>
            </a:r>
            <a:r>
              <a:rPr lang="ru-RU" sz="2400" b="1" spc="-60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lang="ru-RU" sz="2400" b="1" dirty="0">
                <a:solidFill>
                  <a:srgbClr val="163557"/>
                </a:solidFill>
                <a:latin typeface="Calibri"/>
                <a:cs typeface="Calibri"/>
              </a:rPr>
              <a:t>и</a:t>
            </a:r>
            <a:r>
              <a:rPr lang="ru-RU" sz="2400" b="1" spc="-85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lang="ru-RU" sz="2400" b="1" spc="-10" dirty="0">
                <a:solidFill>
                  <a:srgbClr val="163557"/>
                </a:solidFill>
                <a:latin typeface="Calibri"/>
                <a:cs typeface="Calibri"/>
              </a:rPr>
              <a:t>сдвиг):</a:t>
            </a:r>
            <a:endParaRPr lang="ru-RU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975D17-6BAE-41BD-A779-11A717FB5ECA}"/>
              </a:ext>
            </a:extLst>
          </p:cNvPr>
          <p:cNvSpPr txBox="1"/>
          <p:nvPr/>
        </p:nvSpPr>
        <p:spPr>
          <a:xfrm>
            <a:off x="7990860" y="1452265"/>
            <a:ext cx="18736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b="1" dirty="0">
                <a:solidFill>
                  <a:srgbClr val="FF0000"/>
                </a:solidFill>
                <a:latin typeface="Calibri"/>
                <a:cs typeface="Calibri"/>
              </a:rPr>
              <a:t>ЛОЗУНГ</a:t>
            </a:r>
            <a:r>
              <a:rPr lang="ru-RU" sz="2400" b="1" spc="-9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ru-RU" sz="2400" dirty="0">
                <a:solidFill>
                  <a:srgbClr val="FF0000"/>
                </a:solidFill>
                <a:latin typeface="Calibri"/>
                <a:cs typeface="Calibri"/>
              </a:rPr>
              <a:t>&gt;&gt;</a:t>
            </a:r>
            <a:r>
              <a:rPr lang="ru-RU" sz="2400" spc="-7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ru-RU" sz="2400" spc="-50" dirty="0">
                <a:solidFill>
                  <a:srgbClr val="FF0000"/>
                </a:solidFill>
                <a:latin typeface="Calibri"/>
                <a:cs typeface="Calibri"/>
              </a:rPr>
              <a:t>3</a:t>
            </a:r>
            <a:endParaRPr lang="ru-RU" sz="2400" dirty="0"/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8F00E771-200A-4690-80D6-EF1CFEBD07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4935970"/>
              </p:ext>
            </p:extLst>
          </p:nvPr>
        </p:nvGraphicFramePr>
        <p:xfrm>
          <a:off x="479695" y="2640409"/>
          <a:ext cx="10212885" cy="9835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836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58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58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58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58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258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25873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2587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587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2587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25872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25873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25873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25873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25873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25873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25873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25873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25873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25873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25872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25872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325872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325872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325872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325872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325872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325872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325872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325872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378968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</a:tblGrid>
              <a:tr h="491364">
                <a:tc>
                  <a:txBody>
                    <a:bodyPr/>
                    <a:lstStyle/>
                    <a:p>
                      <a:pPr marR="4381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lang="ru-RU" sz="2400" spc="-50" dirty="0">
                          <a:latin typeface="Calibri"/>
                          <a:cs typeface="Calibri"/>
                        </a:rPr>
                        <a:t>А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Б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В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1590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Г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0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Д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Е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5244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Ж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1430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З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И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К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6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Л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М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240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Н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349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О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604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П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3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Р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С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7620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Т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У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2384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Ф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Х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68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Ц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Ч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2700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Ш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7620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Щ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Ъ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6830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Ы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Ь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Э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9525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Ю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127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Я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2146">
                <a:tc>
                  <a:txBody>
                    <a:bodyPr/>
                    <a:lstStyle/>
                    <a:p>
                      <a:pPr marR="32384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b="1" spc="-5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Л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6034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b="1" spc="-5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О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016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b="1" spc="-5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З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b="1" spc="-5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У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87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b="1" spc="-5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Н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b="1" spc="-5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Г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44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А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Б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В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Д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25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Е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5244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Ж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И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К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М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604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П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Р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С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762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Т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2384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Ф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Х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Ц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Ч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2700" algn="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Ш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7620" algn="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Щ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Ъ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6830" algn="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Ы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Ь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Э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9525" algn="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Ю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191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2400" spc="-50" dirty="0">
                          <a:latin typeface="Calibri"/>
                          <a:cs typeface="Calibri"/>
                        </a:rPr>
                        <a:t>Я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" name="object 6">
            <a:extLst>
              <a:ext uri="{FF2B5EF4-FFF2-40B4-BE49-F238E27FC236}">
                <a16:creationId xmlns:a16="http://schemas.microsoft.com/office/drawing/2014/main" id="{82DB684B-B67D-4E33-A316-A240320C2A01}"/>
              </a:ext>
            </a:extLst>
          </p:cNvPr>
          <p:cNvSpPr/>
          <p:nvPr/>
        </p:nvSpPr>
        <p:spPr>
          <a:xfrm rot="313157">
            <a:off x="396231" y="1938631"/>
            <a:ext cx="4900654" cy="558228"/>
          </a:xfrm>
          <a:custGeom>
            <a:avLst/>
            <a:gdLst/>
            <a:ahLst/>
            <a:cxnLst/>
            <a:rect l="l" t="t" r="r" b="b"/>
            <a:pathLst>
              <a:path w="4395470" h="432435">
                <a:moveTo>
                  <a:pt x="4279904" y="393904"/>
                </a:moveTo>
                <a:lnTo>
                  <a:pt x="4276725" y="431926"/>
                </a:lnTo>
                <a:lnTo>
                  <a:pt x="4367750" y="395477"/>
                </a:lnTo>
                <a:lnTo>
                  <a:pt x="4298823" y="395477"/>
                </a:lnTo>
                <a:lnTo>
                  <a:pt x="4279904" y="393904"/>
                </a:lnTo>
                <a:close/>
              </a:path>
              <a:path w="4395470" h="432435">
                <a:moveTo>
                  <a:pt x="4283079" y="355931"/>
                </a:moveTo>
                <a:lnTo>
                  <a:pt x="4279904" y="393904"/>
                </a:lnTo>
                <a:lnTo>
                  <a:pt x="4298823" y="395477"/>
                </a:lnTo>
                <a:lnTo>
                  <a:pt x="4301998" y="357504"/>
                </a:lnTo>
                <a:lnTo>
                  <a:pt x="4283079" y="355931"/>
                </a:lnTo>
                <a:close/>
              </a:path>
              <a:path w="4395470" h="432435">
                <a:moveTo>
                  <a:pt x="4286250" y="318008"/>
                </a:moveTo>
                <a:lnTo>
                  <a:pt x="4283079" y="355931"/>
                </a:lnTo>
                <a:lnTo>
                  <a:pt x="4301998" y="357504"/>
                </a:lnTo>
                <a:lnTo>
                  <a:pt x="4298823" y="395477"/>
                </a:lnTo>
                <a:lnTo>
                  <a:pt x="4367750" y="395477"/>
                </a:lnTo>
                <a:lnTo>
                  <a:pt x="4395343" y="384428"/>
                </a:lnTo>
                <a:lnTo>
                  <a:pt x="4286250" y="318008"/>
                </a:lnTo>
                <a:close/>
              </a:path>
              <a:path w="4395470" h="432435">
                <a:moveTo>
                  <a:pt x="3162" y="0"/>
                </a:moveTo>
                <a:lnTo>
                  <a:pt x="0" y="37973"/>
                </a:lnTo>
                <a:lnTo>
                  <a:pt x="4279904" y="393904"/>
                </a:lnTo>
                <a:lnTo>
                  <a:pt x="4283079" y="355931"/>
                </a:lnTo>
                <a:lnTo>
                  <a:pt x="3162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8">
            <a:extLst>
              <a:ext uri="{FF2B5EF4-FFF2-40B4-BE49-F238E27FC236}">
                <a16:creationId xmlns:a16="http://schemas.microsoft.com/office/drawing/2014/main" id="{D950B319-1FC7-4D62-AD03-61A210BE9463}"/>
              </a:ext>
            </a:extLst>
          </p:cNvPr>
          <p:cNvSpPr/>
          <p:nvPr/>
        </p:nvSpPr>
        <p:spPr>
          <a:xfrm rot="655056">
            <a:off x="5323132" y="2730019"/>
            <a:ext cx="990600" cy="463793"/>
          </a:xfrm>
          <a:custGeom>
            <a:avLst/>
            <a:gdLst/>
            <a:ahLst/>
            <a:cxnLst/>
            <a:rect l="l" t="t" r="r" b="b"/>
            <a:pathLst>
              <a:path w="957579" h="340360">
                <a:moveTo>
                  <a:pt x="842878" y="304103"/>
                </a:moveTo>
                <a:lnTo>
                  <a:pt x="831342" y="340359"/>
                </a:lnTo>
                <a:lnTo>
                  <a:pt x="957580" y="320548"/>
                </a:lnTo>
                <a:lnTo>
                  <a:pt x="946623" y="309879"/>
                </a:lnTo>
                <a:lnTo>
                  <a:pt x="861060" y="309879"/>
                </a:lnTo>
                <a:lnTo>
                  <a:pt x="842878" y="304103"/>
                </a:lnTo>
                <a:close/>
              </a:path>
              <a:path w="957579" h="340360">
                <a:moveTo>
                  <a:pt x="854435" y="267781"/>
                </a:moveTo>
                <a:lnTo>
                  <a:pt x="842878" y="304103"/>
                </a:lnTo>
                <a:lnTo>
                  <a:pt x="861060" y="309879"/>
                </a:lnTo>
                <a:lnTo>
                  <a:pt x="872617" y="273557"/>
                </a:lnTo>
                <a:lnTo>
                  <a:pt x="854435" y="267781"/>
                </a:lnTo>
                <a:close/>
              </a:path>
              <a:path w="957579" h="340360">
                <a:moveTo>
                  <a:pt x="866013" y="231393"/>
                </a:moveTo>
                <a:lnTo>
                  <a:pt x="854435" y="267781"/>
                </a:lnTo>
                <a:lnTo>
                  <a:pt x="872617" y="273557"/>
                </a:lnTo>
                <a:lnTo>
                  <a:pt x="861060" y="309879"/>
                </a:lnTo>
                <a:lnTo>
                  <a:pt x="946623" y="309879"/>
                </a:lnTo>
                <a:lnTo>
                  <a:pt x="866013" y="231393"/>
                </a:lnTo>
                <a:close/>
              </a:path>
              <a:path w="957579" h="340360">
                <a:moveTo>
                  <a:pt x="11557" y="0"/>
                </a:moveTo>
                <a:lnTo>
                  <a:pt x="0" y="36321"/>
                </a:lnTo>
                <a:lnTo>
                  <a:pt x="842878" y="304103"/>
                </a:lnTo>
                <a:lnTo>
                  <a:pt x="854435" y="267781"/>
                </a:lnTo>
                <a:lnTo>
                  <a:pt x="11557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9AD235D-9698-4ED2-A7FB-B97B3D0ECDFB}"/>
              </a:ext>
            </a:extLst>
          </p:cNvPr>
          <p:cNvSpPr txBox="1"/>
          <p:nvPr/>
        </p:nvSpPr>
        <p:spPr>
          <a:xfrm>
            <a:off x="609600" y="4017600"/>
            <a:ext cx="36576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469900" algn="l"/>
              </a:tabLst>
            </a:pPr>
            <a:r>
              <a:rPr lang="ru-RU" sz="2400" b="1" dirty="0">
                <a:solidFill>
                  <a:srgbClr val="163557"/>
                </a:solidFill>
                <a:latin typeface="Calibri"/>
                <a:cs typeface="Calibri"/>
              </a:rPr>
              <a:t>Шифровка</a:t>
            </a:r>
            <a:r>
              <a:rPr lang="ru-RU" sz="2400" b="1" spc="-85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lang="ru-RU" sz="2400" b="1" dirty="0">
                <a:solidFill>
                  <a:srgbClr val="163557"/>
                </a:solidFill>
                <a:latin typeface="Calibri"/>
                <a:cs typeface="Calibri"/>
              </a:rPr>
              <a:t>при</a:t>
            </a:r>
            <a:r>
              <a:rPr lang="ru-RU" sz="2400" b="1" spc="-105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lang="ru-RU" sz="2400" b="1" dirty="0">
                <a:solidFill>
                  <a:srgbClr val="163557"/>
                </a:solidFill>
                <a:latin typeface="Calibri"/>
                <a:cs typeface="Calibri"/>
              </a:rPr>
              <a:t>сдвиге</a:t>
            </a:r>
            <a:r>
              <a:rPr lang="ru-RU" sz="2400" b="1" spc="-114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lang="ru-RU" sz="2400" b="1" spc="-25" dirty="0">
                <a:solidFill>
                  <a:srgbClr val="163557"/>
                </a:solidFill>
                <a:latin typeface="Calibri"/>
                <a:cs typeface="Calibri"/>
              </a:rPr>
              <a:t>3:</a:t>
            </a:r>
            <a:endParaRPr lang="ru-RU" sz="2400" dirty="0">
              <a:latin typeface="Calibri"/>
              <a:cs typeface="Calibri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EBBD984-B997-49F6-8F9F-1BCDDF3A4C6C}"/>
              </a:ext>
            </a:extLst>
          </p:cNvPr>
          <p:cNvSpPr txBox="1"/>
          <p:nvPr/>
        </p:nvSpPr>
        <p:spPr>
          <a:xfrm>
            <a:off x="609600" y="4525680"/>
            <a:ext cx="609704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3360"/>
              </a:spcBef>
            </a:pPr>
            <a:r>
              <a:rPr lang="ru-RU" sz="2400" b="1" spc="-20" dirty="0">
                <a:solidFill>
                  <a:srgbClr val="FF0000"/>
                </a:solidFill>
                <a:latin typeface="Calibri"/>
                <a:cs typeface="Calibri"/>
              </a:rPr>
              <a:t>С</a:t>
            </a:r>
            <a:r>
              <a:rPr lang="ru-RU" sz="2400" b="1" spc="-20" dirty="0">
                <a:latin typeface="Calibri"/>
                <a:cs typeface="Calibri"/>
              </a:rPr>
              <a:t>ТЖ…</a:t>
            </a:r>
            <a:endParaRPr lang="ru-RU" sz="2400" dirty="0">
              <a:latin typeface="Calibri"/>
              <a:cs typeface="Calibri"/>
            </a:endParaRPr>
          </a:p>
        </p:txBody>
      </p:sp>
      <p:sp>
        <p:nvSpPr>
          <p:cNvPr id="20" name="object 7">
            <a:extLst>
              <a:ext uri="{FF2B5EF4-FFF2-40B4-BE49-F238E27FC236}">
                <a16:creationId xmlns:a16="http://schemas.microsoft.com/office/drawing/2014/main" id="{DE49AB39-CF71-4B94-B41A-65435207C435}"/>
              </a:ext>
            </a:extLst>
          </p:cNvPr>
          <p:cNvSpPr/>
          <p:nvPr/>
        </p:nvSpPr>
        <p:spPr>
          <a:xfrm>
            <a:off x="914399" y="3445083"/>
            <a:ext cx="5257801" cy="1203118"/>
          </a:xfrm>
          <a:custGeom>
            <a:avLst/>
            <a:gdLst/>
            <a:ahLst/>
            <a:cxnLst/>
            <a:rect l="l" t="t" r="r" b="b"/>
            <a:pathLst>
              <a:path w="5439410" h="1577975">
                <a:moveTo>
                  <a:pt x="94462" y="1467611"/>
                </a:moveTo>
                <a:lnTo>
                  <a:pt x="0" y="1553717"/>
                </a:lnTo>
                <a:lnTo>
                  <a:pt x="125539" y="1577593"/>
                </a:lnTo>
                <a:lnTo>
                  <a:pt x="116639" y="1546097"/>
                </a:lnTo>
                <a:lnTo>
                  <a:pt x="96837" y="1546097"/>
                </a:lnTo>
                <a:lnTo>
                  <a:pt x="86474" y="1509395"/>
                </a:lnTo>
                <a:lnTo>
                  <a:pt x="104805" y="1504216"/>
                </a:lnTo>
                <a:lnTo>
                  <a:pt x="94462" y="1467611"/>
                </a:lnTo>
                <a:close/>
              </a:path>
              <a:path w="5439410" h="1577975">
                <a:moveTo>
                  <a:pt x="104805" y="1504216"/>
                </a:moveTo>
                <a:lnTo>
                  <a:pt x="86474" y="1509395"/>
                </a:lnTo>
                <a:lnTo>
                  <a:pt x="96837" y="1546097"/>
                </a:lnTo>
                <a:lnTo>
                  <a:pt x="115175" y="1540916"/>
                </a:lnTo>
                <a:lnTo>
                  <a:pt x="104805" y="1504216"/>
                </a:lnTo>
                <a:close/>
              </a:path>
              <a:path w="5439410" h="1577975">
                <a:moveTo>
                  <a:pt x="115175" y="1540916"/>
                </a:moveTo>
                <a:lnTo>
                  <a:pt x="96837" y="1546097"/>
                </a:lnTo>
                <a:lnTo>
                  <a:pt x="116639" y="1546097"/>
                </a:lnTo>
                <a:lnTo>
                  <a:pt x="115175" y="1540916"/>
                </a:lnTo>
                <a:close/>
              </a:path>
              <a:path w="5439410" h="1577975">
                <a:moveTo>
                  <a:pt x="5429072" y="0"/>
                </a:moveTo>
                <a:lnTo>
                  <a:pt x="104805" y="1504216"/>
                </a:lnTo>
                <a:lnTo>
                  <a:pt x="115175" y="1540916"/>
                </a:lnTo>
                <a:lnTo>
                  <a:pt x="5439359" y="36575"/>
                </a:lnTo>
                <a:lnTo>
                  <a:pt x="5429072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945712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4368C03-8FD5-4D91-8371-0AEC469A3D7D}"/>
              </a:ext>
            </a:extLst>
          </p:cNvPr>
          <p:cNvSpPr txBox="1"/>
          <p:nvPr/>
        </p:nvSpPr>
        <p:spPr>
          <a:xfrm>
            <a:off x="609600" y="7620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2800" b="1" spc="-150" dirty="0">
                <a:solidFill>
                  <a:srgbClr val="161D31"/>
                </a:solidFill>
                <a:latin typeface="Calibri"/>
                <a:cs typeface="Calibri"/>
              </a:rPr>
              <a:t>C</a:t>
            </a: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хема протокола шифра в </a:t>
            </a:r>
            <a:r>
              <a:rPr lang="en-US" sz="2800" b="1" spc="-150" dirty="0">
                <a:solidFill>
                  <a:srgbClr val="161D31"/>
                </a:solidFill>
                <a:latin typeface="Calibri"/>
                <a:cs typeface="Calibri"/>
              </a:rPr>
              <a:t>CrypTool2</a:t>
            </a:r>
            <a:endParaRPr lang="ru-RU" sz="2800" b="1" spc="-150" dirty="0">
              <a:solidFill>
                <a:srgbClr val="161D31"/>
              </a:solidFill>
              <a:latin typeface="Calibri"/>
              <a:cs typeface="Calibri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810EF9C-81A0-44E5-8538-A3F810DD21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119508"/>
            <a:ext cx="9818957" cy="4886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03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533400" y="9525"/>
            <a:ext cx="11506200" cy="614206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Внешняя спецификация алгоритма расшифрования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Назначение: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восстановление текста, зашифрованного моноалфавитной подстановкой со смешанным по паролю алфавитом.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Входные данные:</a:t>
            </a: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C (</a:t>
            </a:r>
            <a:r>
              <a:rPr lang="en-US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) —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шифротекст.</a:t>
            </a: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W (</a:t>
            </a:r>
            <a:r>
              <a:rPr lang="en-US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) —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лозунг (например, </a:t>
            </a:r>
            <a:r>
              <a:rPr lang="ru-RU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ЛОЗУНГ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).</a:t>
            </a: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s (</a:t>
            </a:r>
            <a:r>
              <a:rPr lang="en-US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) —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сдвиг (например, 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s = 3).</a:t>
            </a: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A (</a:t>
            </a:r>
            <a:r>
              <a:rPr lang="en-US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) —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исходный алфавит (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N = 31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символ).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Выходные данные:</a:t>
            </a:r>
            <a:r>
              <a:rPr lang="en-US" sz="2600" b="1" spc="-150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P (</a:t>
            </a:r>
            <a:r>
              <a:rPr lang="en-US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) —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открытый текст.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Условия и ограничения: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символы C и W принадлежат A. Из W удаляются дубликаты.</a:t>
            </a:r>
            <a:endParaRPr lang="en-US" sz="2600" spc="-15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Математическая модель: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формируется алфавит K</a:t>
            </a:r>
            <a:r>
              <a:rPr lang="ru-RU" sz="2600" spc="-150" baseline="-25000" dirty="0">
                <a:solidFill>
                  <a:srgbClr val="161D31"/>
                </a:solidFill>
                <a:latin typeface="Calibri"/>
                <a:cs typeface="Calibri"/>
              </a:rPr>
              <a:t>raw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= W</a:t>
            </a:r>
            <a:r>
              <a:rPr lang="ru-RU" sz="2600" spc="-150" baseline="-25000" dirty="0">
                <a:solidFill>
                  <a:srgbClr val="161D31"/>
                </a:solidFill>
                <a:latin typeface="Calibri"/>
                <a:cs typeface="Calibri"/>
              </a:rPr>
              <a:t>norm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U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(A \ W</a:t>
            </a:r>
            <a:r>
              <a:rPr lang="ru-RU" sz="2600" spc="-150" baseline="-25000" dirty="0">
                <a:solidFill>
                  <a:srgbClr val="161D31"/>
                </a:solidFill>
                <a:latin typeface="Calibri"/>
                <a:cs typeface="Calibri"/>
              </a:rPr>
              <a:t>norm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). Итоговый шифрующий алфавит получается сдвигом K</a:t>
            </a:r>
            <a:r>
              <a:rPr lang="ru-RU" sz="2600" spc="-150" baseline="-25000" dirty="0">
                <a:solidFill>
                  <a:srgbClr val="161D31"/>
                </a:solidFill>
                <a:latin typeface="Calibri"/>
                <a:cs typeface="Calibri"/>
              </a:rPr>
              <a:t>raw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на s позиций. Дешифрование: для каждого символа c</a:t>
            </a:r>
            <a:r>
              <a:rPr lang="en-US" sz="2600" spc="-150" baseline="-25000" dirty="0">
                <a:solidFill>
                  <a:srgbClr val="161D31"/>
                </a:solidFill>
                <a:latin typeface="Calibri"/>
                <a:cs typeface="Calibri"/>
              </a:rPr>
              <a:t>i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∈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C ищется его индекс в ключевом алфавите K, и из A берется буква с тем же индексом.</a:t>
            </a:r>
            <a:endParaRPr lang="ru-RU" sz="26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594445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3F4AFE5-A83B-458C-A072-08C8DA475824}"/>
              </a:ext>
            </a:extLst>
          </p:cNvPr>
          <p:cNvSpPr txBox="1"/>
          <p:nvPr/>
        </p:nvSpPr>
        <p:spPr>
          <a:xfrm>
            <a:off x="533400" y="152400"/>
            <a:ext cx="2819400" cy="1410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Блок-схема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алгоритма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расшифрования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15B66D8-8DE7-4F0F-B58D-2423250DCD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3331" y="76200"/>
            <a:ext cx="4265337" cy="6343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35953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943AA6-DB97-45FB-8745-C8DEF185D432}"/>
              </a:ext>
            </a:extLst>
          </p:cNvPr>
          <p:cNvSpPr txBox="1"/>
          <p:nvPr/>
        </p:nvSpPr>
        <p:spPr>
          <a:xfrm>
            <a:off x="609600" y="228600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4000" spc="-150" dirty="0">
                <a:solidFill>
                  <a:srgbClr val="161D31"/>
                </a:solidFill>
                <a:latin typeface="Calibri"/>
                <a:cs typeface="Calibri"/>
              </a:rPr>
              <a:t>Шифр 3. Виженера (</a:t>
            </a:r>
            <a:r>
              <a:rPr lang="en-US" sz="4000" spc="-150" dirty="0">
                <a:solidFill>
                  <a:srgbClr val="161D31"/>
                </a:solidFill>
                <a:latin typeface="Calibri"/>
                <a:cs typeface="Calibri"/>
              </a:rPr>
              <a:t>Vigenere</a:t>
            </a:r>
            <a:r>
              <a:rPr lang="ru-RU" sz="4000" spc="-150" dirty="0">
                <a:solidFill>
                  <a:srgbClr val="161D31"/>
                </a:solidFill>
                <a:latin typeface="Calibri"/>
                <a:cs typeface="Calibri"/>
              </a:rPr>
              <a:t>)</a:t>
            </a:r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ECD1BC3C-9F4E-4396-95E3-7ADB9C43CDE9}"/>
              </a:ext>
            </a:extLst>
          </p:cNvPr>
          <p:cNvSpPr/>
          <p:nvPr/>
        </p:nvSpPr>
        <p:spPr>
          <a:xfrm>
            <a:off x="1270127" y="1942973"/>
            <a:ext cx="1214755" cy="744220"/>
          </a:xfrm>
          <a:custGeom>
            <a:avLst/>
            <a:gdLst/>
            <a:ahLst/>
            <a:cxnLst/>
            <a:rect l="l" t="t" r="r" b="b"/>
            <a:pathLst>
              <a:path w="1214755" h="744219">
                <a:moveTo>
                  <a:pt x="306704" y="0"/>
                </a:moveTo>
                <a:lnTo>
                  <a:pt x="306704" y="743712"/>
                </a:lnTo>
              </a:path>
              <a:path w="1214755" h="744219">
                <a:moveTo>
                  <a:pt x="607314" y="0"/>
                </a:moveTo>
                <a:lnTo>
                  <a:pt x="607314" y="743712"/>
                </a:lnTo>
              </a:path>
              <a:path w="1214755" h="744219">
                <a:moveTo>
                  <a:pt x="907922" y="0"/>
                </a:moveTo>
                <a:lnTo>
                  <a:pt x="907922" y="743712"/>
                </a:lnTo>
              </a:path>
              <a:path w="1214755" h="744219">
                <a:moveTo>
                  <a:pt x="0" y="371855"/>
                </a:moveTo>
                <a:lnTo>
                  <a:pt x="1214628" y="371855"/>
                </a:lnTo>
              </a:path>
              <a:path w="1214755" h="744219">
                <a:moveTo>
                  <a:pt x="6095" y="0"/>
                </a:moveTo>
                <a:lnTo>
                  <a:pt x="6095" y="743712"/>
                </a:lnTo>
              </a:path>
              <a:path w="1214755" h="744219">
                <a:moveTo>
                  <a:pt x="1208531" y="0"/>
                </a:moveTo>
                <a:lnTo>
                  <a:pt x="1208531" y="743712"/>
                </a:lnTo>
              </a:path>
              <a:path w="1214755" h="744219">
                <a:moveTo>
                  <a:pt x="0" y="6096"/>
                </a:moveTo>
                <a:lnTo>
                  <a:pt x="1214628" y="6096"/>
                </a:lnTo>
              </a:path>
              <a:path w="1214755" h="744219">
                <a:moveTo>
                  <a:pt x="0" y="737615"/>
                </a:moveTo>
                <a:lnTo>
                  <a:pt x="1214628" y="737615"/>
                </a:lnTo>
              </a:path>
            </a:pathLst>
          </a:custGeom>
          <a:ln w="122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8" name="object 11">
            <a:extLst>
              <a:ext uri="{FF2B5EF4-FFF2-40B4-BE49-F238E27FC236}">
                <a16:creationId xmlns:a16="http://schemas.microsoft.com/office/drawing/2014/main" id="{F108F1C5-82A7-439E-9AED-C8BE69E459A2}"/>
              </a:ext>
            </a:extLst>
          </p:cNvPr>
          <p:cNvGraphicFramePr>
            <a:graphicFrameLocks noGrp="1"/>
          </p:cNvGraphicFramePr>
          <p:nvPr/>
        </p:nvGraphicFramePr>
        <p:xfrm>
          <a:off x="1336166" y="1942949"/>
          <a:ext cx="1142999" cy="7308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33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6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3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46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125">
                <a:tc>
                  <a:txBody>
                    <a:bodyPr/>
                    <a:lstStyle/>
                    <a:p>
                      <a:pPr marR="39370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solidFill>
                            <a:srgbClr val="DE7400"/>
                          </a:solidFill>
                          <a:latin typeface="Calibri"/>
                          <a:cs typeface="Calibri"/>
                        </a:rPr>
                        <a:t>П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714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solidFill>
                            <a:srgbClr val="DE7400"/>
                          </a:solidFill>
                          <a:latin typeface="Calibri"/>
                          <a:cs typeface="Calibri"/>
                        </a:rPr>
                        <a:t>Р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222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solidFill>
                            <a:srgbClr val="DE7400"/>
                          </a:solidFill>
                          <a:latin typeface="Calibri"/>
                          <a:cs typeface="Calibri"/>
                        </a:rPr>
                        <a:t>И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72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solidFill>
                            <a:srgbClr val="DE7400"/>
                          </a:solidFill>
                          <a:latin typeface="Calibri"/>
                          <a:cs typeface="Calibri"/>
                        </a:rPr>
                        <a:t>М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R="5270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К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Л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2384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Ю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572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Ч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object 5">
            <a:extLst>
              <a:ext uri="{FF2B5EF4-FFF2-40B4-BE49-F238E27FC236}">
                <a16:creationId xmlns:a16="http://schemas.microsoft.com/office/drawing/2014/main" id="{637EDD4C-B71F-4B6C-A580-ED742407902F}"/>
              </a:ext>
            </a:extLst>
          </p:cNvPr>
          <p:cNvSpPr/>
          <p:nvPr/>
        </p:nvSpPr>
        <p:spPr>
          <a:xfrm>
            <a:off x="2570098" y="1949069"/>
            <a:ext cx="1214755" cy="0"/>
          </a:xfrm>
          <a:custGeom>
            <a:avLst/>
            <a:gdLst/>
            <a:ahLst/>
            <a:cxnLst/>
            <a:rect l="l" t="t" r="r" b="b"/>
            <a:pathLst>
              <a:path w="1214754">
                <a:moveTo>
                  <a:pt x="0" y="0"/>
                </a:moveTo>
                <a:lnTo>
                  <a:pt x="1214627" y="0"/>
                </a:lnTo>
              </a:path>
            </a:pathLst>
          </a:custGeom>
          <a:ln w="122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9">
            <a:extLst>
              <a:ext uri="{FF2B5EF4-FFF2-40B4-BE49-F238E27FC236}">
                <a16:creationId xmlns:a16="http://schemas.microsoft.com/office/drawing/2014/main" id="{E7E6CE0D-5C06-47C4-98FB-344B73097D8B}"/>
              </a:ext>
            </a:extLst>
          </p:cNvPr>
          <p:cNvSpPr/>
          <p:nvPr/>
        </p:nvSpPr>
        <p:spPr>
          <a:xfrm>
            <a:off x="5099430" y="1949069"/>
            <a:ext cx="1214755" cy="0"/>
          </a:xfrm>
          <a:custGeom>
            <a:avLst/>
            <a:gdLst/>
            <a:ahLst/>
            <a:cxnLst/>
            <a:rect l="l" t="t" r="r" b="b"/>
            <a:pathLst>
              <a:path w="1214754">
                <a:moveTo>
                  <a:pt x="0" y="0"/>
                </a:moveTo>
                <a:lnTo>
                  <a:pt x="1214628" y="0"/>
                </a:lnTo>
              </a:path>
            </a:pathLst>
          </a:custGeom>
          <a:ln w="122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7">
            <a:extLst>
              <a:ext uri="{FF2B5EF4-FFF2-40B4-BE49-F238E27FC236}">
                <a16:creationId xmlns:a16="http://schemas.microsoft.com/office/drawing/2014/main" id="{6EA406F1-D9D2-45C6-AE53-FC2E9E148E8B}"/>
              </a:ext>
            </a:extLst>
          </p:cNvPr>
          <p:cNvSpPr/>
          <p:nvPr/>
        </p:nvSpPr>
        <p:spPr>
          <a:xfrm>
            <a:off x="3837940" y="1953005"/>
            <a:ext cx="1214755" cy="0"/>
          </a:xfrm>
          <a:custGeom>
            <a:avLst/>
            <a:gdLst/>
            <a:ahLst/>
            <a:cxnLst/>
            <a:rect l="l" t="t" r="r" b="b"/>
            <a:pathLst>
              <a:path w="1214754">
                <a:moveTo>
                  <a:pt x="0" y="0"/>
                </a:moveTo>
                <a:lnTo>
                  <a:pt x="1214627" y="0"/>
                </a:lnTo>
              </a:path>
            </a:pathLst>
          </a:custGeom>
          <a:ln w="122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12">
            <a:extLst>
              <a:ext uri="{FF2B5EF4-FFF2-40B4-BE49-F238E27FC236}">
                <a16:creationId xmlns:a16="http://schemas.microsoft.com/office/drawing/2014/main" id="{4E9240C6-DB44-411B-A8B7-EF3E27501986}"/>
              </a:ext>
            </a:extLst>
          </p:cNvPr>
          <p:cNvSpPr/>
          <p:nvPr/>
        </p:nvSpPr>
        <p:spPr>
          <a:xfrm>
            <a:off x="2570098" y="2314829"/>
            <a:ext cx="1214755" cy="0"/>
          </a:xfrm>
          <a:custGeom>
            <a:avLst/>
            <a:gdLst/>
            <a:ahLst/>
            <a:cxnLst/>
            <a:rect l="l" t="t" r="r" b="b"/>
            <a:pathLst>
              <a:path w="1214754">
                <a:moveTo>
                  <a:pt x="0" y="0"/>
                </a:moveTo>
                <a:lnTo>
                  <a:pt x="1214627" y="0"/>
                </a:lnTo>
              </a:path>
            </a:pathLst>
          </a:custGeom>
          <a:ln w="122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6">
            <a:extLst>
              <a:ext uri="{FF2B5EF4-FFF2-40B4-BE49-F238E27FC236}">
                <a16:creationId xmlns:a16="http://schemas.microsoft.com/office/drawing/2014/main" id="{B8176837-8D4C-47E7-9A20-ADE5F7AD0F6D}"/>
              </a:ext>
            </a:extLst>
          </p:cNvPr>
          <p:cNvSpPr/>
          <p:nvPr/>
        </p:nvSpPr>
        <p:spPr>
          <a:xfrm>
            <a:off x="2570098" y="2680589"/>
            <a:ext cx="1214755" cy="0"/>
          </a:xfrm>
          <a:custGeom>
            <a:avLst/>
            <a:gdLst/>
            <a:ahLst/>
            <a:cxnLst/>
            <a:rect l="l" t="t" r="r" b="b"/>
            <a:pathLst>
              <a:path w="1214754">
                <a:moveTo>
                  <a:pt x="0" y="0"/>
                </a:moveTo>
                <a:lnTo>
                  <a:pt x="1214627" y="0"/>
                </a:lnTo>
              </a:path>
            </a:pathLst>
          </a:custGeom>
          <a:ln w="122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0">
            <a:extLst>
              <a:ext uri="{FF2B5EF4-FFF2-40B4-BE49-F238E27FC236}">
                <a16:creationId xmlns:a16="http://schemas.microsoft.com/office/drawing/2014/main" id="{21A50D1F-588F-4924-9534-F6D6A81103DF}"/>
              </a:ext>
            </a:extLst>
          </p:cNvPr>
          <p:cNvSpPr/>
          <p:nvPr/>
        </p:nvSpPr>
        <p:spPr>
          <a:xfrm>
            <a:off x="5099430" y="2680589"/>
            <a:ext cx="1214755" cy="0"/>
          </a:xfrm>
          <a:custGeom>
            <a:avLst/>
            <a:gdLst/>
            <a:ahLst/>
            <a:cxnLst/>
            <a:rect l="l" t="t" r="r" b="b"/>
            <a:pathLst>
              <a:path w="1214754">
                <a:moveTo>
                  <a:pt x="0" y="0"/>
                </a:moveTo>
                <a:lnTo>
                  <a:pt x="1214628" y="0"/>
                </a:lnTo>
              </a:path>
            </a:pathLst>
          </a:custGeom>
          <a:ln w="122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5" name="object 8">
            <a:extLst>
              <a:ext uri="{FF2B5EF4-FFF2-40B4-BE49-F238E27FC236}">
                <a16:creationId xmlns:a16="http://schemas.microsoft.com/office/drawing/2014/main" id="{7C697355-EDF0-4B2E-8F58-1608B8AFD914}"/>
              </a:ext>
            </a:extLst>
          </p:cNvPr>
          <p:cNvSpPr/>
          <p:nvPr/>
        </p:nvSpPr>
        <p:spPr>
          <a:xfrm>
            <a:off x="3837940" y="2684526"/>
            <a:ext cx="1214755" cy="0"/>
          </a:xfrm>
          <a:custGeom>
            <a:avLst/>
            <a:gdLst/>
            <a:ahLst/>
            <a:cxnLst/>
            <a:rect l="l" t="t" r="r" b="b"/>
            <a:pathLst>
              <a:path w="1214754">
                <a:moveTo>
                  <a:pt x="0" y="0"/>
                </a:moveTo>
                <a:lnTo>
                  <a:pt x="1214627" y="0"/>
                </a:lnTo>
              </a:path>
            </a:pathLst>
          </a:custGeom>
          <a:ln w="122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16" name="object 13">
            <a:extLst>
              <a:ext uri="{FF2B5EF4-FFF2-40B4-BE49-F238E27FC236}">
                <a16:creationId xmlns:a16="http://schemas.microsoft.com/office/drawing/2014/main" id="{8BC01381-EADB-45EE-87B5-B70D39930481}"/>
              </a:ext>
            </a:extLst>
          </p:cNvPr>
          <p:cNvGraphicFramePr>
            <a:graphicFrameLocks noGrp="1"/>
          </p:cNvGraphicFramePr>
          <p:nvPr/>
        </p:nvGraphicFramePr>
        <p:xfrm>
          <a:off x="2567027" y="1942973"/>
          <a:ext cx="1214755" cy="7429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03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5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0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33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-50" dirty="0">
                          <a:solidFill>
                            <a:srgbClr val="5E9922"/>
                          </a:solidFill>
                          <a:latin typeface="Calibri"/>
                          <a:cs typeface="Calibri"/>
                        </a:rPr>
                        <a:t>Е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-50" dirty="0">
                          <a:solidFill>
                            <a:srgbClr val="5E9922"/>
                          </a:solidFill>
                          <a:latin typeface="Calibri"/>
                          <a:cs typeface="Calibri"/>
                        </a:rPr>
                        <a:t>Р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81280" marR="3175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-50" dirty="0">
                          <a:solidFill>
                            <a:srgbClr val="5E9922"/>
                          </a:solidFill>
                          <a:latin typeface="Calibri"/>
                          <a:cs typeface="Calibri"/>
                        </a:rPr>
                        <a:t>Ш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29209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-50" dirty="0">
                          <a:solidFill>
                            <a:srgbClr val="5E9922"/>
                          </a:solidFill>
                          <a:latin typeface="Calibri"/>
                          <a:cs typeface="Calibri"/>
                        </a:rPr>
                        <a:t>И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9570">
                <a:tc>
                  <a:txBody>
                    <a:bodyPr/>
                    <a:lstStyle/>
                    <a:p>
                      <a:pPr marL="11430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К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26670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Л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91440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Ю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3335" algn="ctr">
                        <a:lnSpc>
                          <a:spcPct val="100000"/>
                        </a:lnSpc>
                        <a:spcBef>
                          <a:spcPts val="25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Ч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175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7" name="object 14">
            <a:extLst>
              <a:ext uri="{FF2B5EF4-FFF2-40B4-BE49-F238E27FC236}">
                <a16:creationId xmlns:a16="http://schemas.microsoft.com/office/drawing/2014/main" id="{041F07C1-162A-48D1-A36A-E6431DD29F15}"/>
              </a:ext>
            </a:extLst>
          </p:cNvPr>
          <p:cNvSpPr/>
          <p:nvPr/>
        </p:nvSpPr>
        <p:spPr>
          <a:xfrm>
            <a:off x="3837940" y="2318766"/>
            <a:ext cx="1214755" cy="0"/>
          </a:xfrm>
          <a:custGeom>
            <a:avLst/>
            <a:gdLst/>
            <a:ahLst/>
            <a:cxnLst/>
            <a:rect l="l" t="t" r="r" b="b"/>
            <a:pathLst>
              <a:path w="1214754">
                <a:moveTo>
                  <a:pt x="0" y="0"/>
                </a:moveTo>
                <a:lnTo>
                  <a:pt x="1214627" y="0"/>
                </a:lnTo>
              </a:path>
            </a:pathLst>
          </a:custGeom>
          <a:ln w="122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18" name="object 15">
            <a:extLst>
              <a:ext uri="{FF2B5EF4-FFF2-40B4-BE49-F238E27FC236}">
                <a16:creationId xmlns:a16="http://schemas.microsoft.com/office/drawing/2014/main" id="{1C65AF0A-50B3-4D87-AF78-B2BC2B5E4B40}"/>
              </a:ext>
            </a:extLst>
          </p:cNvPr>
          <p:cNvGraphicFramePr>
            <a:graphicFrameLocks noGrp="1"/>
          </p:cNvGraphicFramePr>
          <p:nvPr/>
        </p:nvGraphicFramePr>
        <p:xfrm>
          <a:off x="3837916" y="1946910"/>
          <a:ext cx="1211580" cy="7435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00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5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03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marL="41910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Ф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Р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5240" marR="3175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А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7620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В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pPr marL="11430" algn="ctr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К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27305" algn="ctr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Л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91440" algn="ctr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Ю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3335" algn="ctr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Ч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9" name="object 16">
            <a:extLst>
              <a:ext uri="{FF2B5EF4-FFF2-40B4-BE49-F238E27FC236}">
                <a16:creationId xmlns:a16="http://schemas.microsoft.com/office/drawing/2014/main" id="{BB126F9F-7E8A-40DF-AF98-8B5612B1EF56}"/>
              </a:ext>
            </a:extLst>
          </p:cNvPr>
          <p:cNvSpPr/>
          <p:nvPr/>
        </p:nvSpPr>
        <p:spPr>
          <a:xfrm>
            <a:off x="5099430" y="2314829"/>
            <a:ext cx="1214755" cy="0"/>
          </a:xfrm>
          <a:custGeom>
            <a:avLst/>
            <a:gdLst/>
            <a:ahLst/>
            <a:cxnLst/>
            <a:rect l="l" t="t" r="r" b="b"/>
            <a:pathLst>
              <a:path w="1214754">
                <a:moveTo>
                  <a:pt x="0" y="0"/>
                </a:moveTo>
                <a:lnTo>
                  <a:pt x="1214628" y="0"/>
                </a:lnTo>
              </a:path>
            </a:pathLst>
          </a:custGeom>
          <a:ln w="122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20" name="object 17">
            <a:extLst>
              <a:ext uri="{FF2B5EF4-FFF2-40B4-BE49-F238E27FC236}">
                <a16:creationId xmlns:a16="http://schemas.microsoft.com/office/drawing/2014/main" id="{3998E3F7-D3C3-4B66-A14D-4713FB025327}"/>
              </a:ext>
            </a:extLst>
          </p:cNvPr>
          <p:cNvGraphicFramePr>
            <a:graphicFrameLocks noGrp="1"/>
          </p:cNvGraphicFramePr>
          <p:nvPr/>
        </p:nvGraphicFramePr>
        <p:xfrm>
          <a:off x="5099406" y="1942973"/>
          <a:ext cx="1210944" cy="7429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00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5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97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700">
                <a:tc>
                  <a:txBody>
                    <a:bodyPr/>
                    <a:lstStyle/>
                    <a:p>
                      <a:pPr marL="29845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-50" dirty="0">
                          <a:solidFill>
                            <a:srgbClr val="BA5B1F"/>
                          </a:solidFill>
                          <a:latin typeface="Calibri"/>
                          <a:cs typeface="Calibri"/>
                        </a:rPr>
                        <a:t>И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66675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-50" dirty="0">
                          <a:solidFill>
                            <a:srgbClr val="BA5B1F"/>
                          </a:solidFill>
                          <a:latin typeface="Calibri"/>
                          <a:cs typeface="Calibri"/>
                        </a:rPr>
                        <a:t>Ж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92075" marR="317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-50" dirty="0">
                          <a:solidFill>
                            <a:srgbClr val="BA5B1F"/>
                          </a:solidFill>
                          <a:latin typeface="Calibri"/>
                          <a:cs typeface="Calibri"/>
                        </a:rPr>
                        <a:t>Е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26034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-50" dirty="0">
                          <a:solidFill>
                            <a:srgbClr val="BA5B1F"/>
                          </a:solidFill>
                          <a:latin typeface="Calibri"/>
                          <a:cs typeface="Calibri"/>
                        </a:rPr>
                        <a:t>Н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pPr marL="12065" algn="ctr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К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27305" algn="ctr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Л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Ю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3970" algn="ctr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Ч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1" name="object 21">
            <a:extLst>
              <a:ext uri="{FF2B5EF4-FFF2-40B4-BE49-F238E27FC236}">
                <a16:creationId xmlns:a16="http://schemas.microsoft.com/office/drawing/2014/main" id="{D02741AF-8E43-4F1C-B34D-A8DC316D6CFF}"/>
              </a:ext>
            </a:extLst>
          </p:cNvPr>
          <p:cNvSpPr/>
          <p:nvPr/>
        </p:nvSpPr>
        <p:spPr>
          <a:xfrm>
            <a:off x="887031" y="2129789"/>
            <a:ext cx="4932045" cy="686435"/>
          </a:xfrm>
          <a:custGeom>
            <a:avLst/>
            <a:gdLst/>
            <a:ahLst/>
            <a:cxnLst/>
            <a:rect l="l" t="t" r="r" b="b"/>
            <a:pathLst>
              <a:path w="4932045" h="686435">
                <a:moveTo>
                  <a:pt x="388429" y="0"/>
                </a:moveTo>
                <a:lnTo>
                  <a:pt x="0" y="0"/>
                </a:lnTo>
                <a:lnTo>
                  <a:pt x="0" y="686181"/>
                </a:lnTo>
                <a:lnTo>
                  <a:pt x="4931600" y="686181"/>
                </a:lnTo>
              </a:path>
            </a:pathLst>
          </a:custGeom>
          <a:ln w="22225">
            <a:solidFill>
              <a:srgbClr val="DE74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18">
            <a:extLst>
              <a:ext uri="{FF2B5EF4-FFF2-40B4-BE49-F238E27FC236}">
                <a16:creationId xmlns:a16="http://schemas.microsoft.com/office/drawing/2014/main" id="{052F4135-1DF3-4FE2-909E-B5F5731AD44B}"/>
              </a:ext>
            </a:extLst>
          </p:cNvPr>
          <p:cNvSpPr/>
          <p:nvPr/>
        </p:nvSpPr>
        <p:spPr>
          <a:xfrm>
            <a:off x="6361938" y="1946910"/>
            <a:ext cx="1214755" cy="744220"/>
          </a:xfrm>
          <a:custGeom>
            <a:avLst/>
            <a:gdLst/>
            <a:ahLst/>
            <a:cxnLst/>
            <a:rect l="l" t="t" r="r" b="b"/>
            <a:pathLst>
              <a:path w="1214754" h="744219">
                <a:moveTo>
                  <a:pt x="0" y="371855"/>
                </a:moveTo>
                <a:lnTo>
                  <a:pt x="1214628" y="371855"/>
                </a:lnTo>
              </a:path>
              <a:path w="1214754" h="744219">
                <a:moveTo>
                  <a:pt x="1208532" y="0"/>
                </a:moveTo>
                <a:lnTo>
                  <a:pt x="1208532" y="743712"/>
                </a:lnTo>
              </a:path>
              <a:path w="1214754" h="744219">
                <a:moveTo>
                  <a:pt x="0" y="6095"/>
                </a:moveTo>
                <a:lnTo>
                  <a:pt x="1214628" y="6095"/>
                </a:lnTo>
              </a:path>
              <a:path w="1214754" h="744219">
                <a:moveTo>
                  <a:pt x="0" y="737615"/>
                </a:moveTo>
                <a:lnTo>
                  <a:pt x="1214628" y="737615"/>
                </a:lnTo>
              </a:path>
            </a:pathLst>
          </a:custGeom>
          <a:ln w="1224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23" name="object 19">
            <a:extLst>
              <a:ext uri="{FF2B5EF4-FFF2-40B4-BE49-F238E27FC236}">
                <a16:creationId xmlns:a16="http://schemas.microsoft.com/office/drawing/2014/main" id="{6F983D21-E28C-46A7-A8F1-5760A844DECB}"/>
              </a:ext>
            </a:extLst>
          </p:cNvPr>
          <p:cNvGraphicFramePr>
            <a:graphicFrameLocks noGrp="1"/>
          </p:cNvGraphicFramePr>
          <p:nvPr/>
        </p:nvGraphicFramePr>
        <p:xfrm>
          <a:off x="6361914" y="1946910"/>
          <a:ext cx="910589" cy="7435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003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03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9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43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-50" dirty="0">
                          <a:solidFill>
                            <a:srgbClr val="163557"/>
                          </a:solidFill>
                          <a:latin typeface="Calibri"/>
                          <a:cs typeface="Calibri"/>
                        </a:rPr>
                        <a:t>Е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-50" dirty="0">
                          <a:solidFill>
                            <a:srgbClr val="163557"/>
                          </a:solidFill>
                          <a:latin typeface="Calibri"/>
                          <a:cs typeface="Calibri"/>
                        </a:rPr>
                        <a:t>Р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92075" marR="3175">
                        <a:lnSpc>
                          <a:spcPct val="100000"/>
                        </a:lnSpc>
                        <a:spcBef>
                          <a:spcPts val="315"/>
                        </a:spcBef>
                      </a:pPr>
                      <a:r>
                        <a:rPr sz="1800" spc="-50" dirty="0">
                          <a:solidFill>
                            <a:srgbClr val="163557"/>
                          </a:solidFill>
                          <a:latin typeface="Calibri"/>
                          <a:cs typeface="Calibri"/>
                        </a:rPr>
                        <a:t>А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4000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9250">
                <a:tc>
                  <a:txBody>
                    <a:bodyPr/>
                    <a:lstStyle/>
                    <a:p>
                      <a:pPr marL="12065" algn="ctr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К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27305" algn="ctr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Л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Ю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1143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24" name="object 3">
            <a:extLst>
              <a:ext uri="{FF2B5EF4-FFF2-40B4-BE49-F238E27FC236}">
                <a16:creationId xmlns:a16="http://schemas.microsoft.com/office/drawing/2014/main" id="{38E6AEBE-6998-4B20-A8E7-22B4CE64EC67}"/>
              </a:ext>
            </a:extLst>
          </p:cNvPr>
          <p:cNvGraphicFramePr>
            <a:graphicFrameLocks noGrp="1"/>
          </p:cNvGraphicFramePr>
          <p:nvPr/>
        </p:nvGraphicFramePr>
        <p:xfrm>
          <a:off x="1357225" y="3051659"/>
          <a:ext cx="9696450" cy="185229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111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26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27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28"/>
                    </a:ext>
                  </a:extLst>
                </a:gridCol>
                <a:gridCol w="311150">
                  <a:extLst>
                    <a:ext uri="{9D8B030D-6E8A-4147-A177-3AD203B41FA5}">
                      <a16:colId xmlns:a16="http://schemas.microsoft.com/office/drawing/2014/main" val="20029"/>
                    </a:ext>
                  </a:extLst>
                </a:gridCol>
                <a:gridCol w="361950">
                  <a:extLst>
                    <a:ext uri="{9D8B030D-6E8A-4147-A177-3AD203B41FA5}">
                      <a16:colId xmlns:a16="http://schemas.microsoft.com/office/drawing/2014/main" val="200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А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Б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В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159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Г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Д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25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Е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5244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Ж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З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И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К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6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Л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М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24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Н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13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О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651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DE7400"/>
                          </a:solidFill>
                          <a:latin typeface="Calibri"/>
                          <a:cs typeface="Calibri"/>
                        </a:rPr>
                        <a:t>П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DF093"/>
                    </a:solidFill>
                  </a:tcPr>
                </a:tc>
                <a:tc>
                  <a:txBody>
                    <a:bodyPr/>
                    <a:lstStyle/>
                    <a:p>
                      <a:pPr marR="127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Р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С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98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Т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У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Ф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Х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Ц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Ч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Ш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Щ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Ъ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Ы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Ь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Э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Ю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191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Я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К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DF093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Л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DF093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М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DF093"/>
                    </a:solidFill>
                  </a:tcPr>
                </a:tc>
                <a:tc>
                  <a:txBody>
                    <a:bodyPr/>
                    <a:lstStyle/>
                    <a:p>
                      <a:pPr marL="14604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Н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DF093"/>
                    </a:solidFill>
                  </a:tcPr>
                </a:tc>
                <a:tc>
                  <a:txBody>
                    <a:bodyPr/>
                    <a:lstStyle/>
                    <a:p>
                      <a:pPr marL="2349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О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DF093"/>
                    </a:solidFill>
                  </a:tcPr>
                </a:tc>
                <a:tc>
                  <a:txBody>
                    <a:bodyPr/>
                    <a:lstStyle/>
                    <a:p>
                      <a:pPr marL="1397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П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DF093"/>
                    </a:solidFill>
                  </a:tcPr>
                </a:tc>
                <a:tc>
                  <a:txBody>
                    <a:bodyPr/>
                    <a:lstStyle/>
                    <a:p>
                      <a:pPr marR="19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Р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DF093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С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DF093"/>
                    </a:solidFill>
                  </a:tcPr>
                </a:tc>
                <a:tc>
                  <a:txBody>
                    <a:bodyPr/>
                    <a:lstStyle/>
                    <a:p>
                      <a:pPr marR="825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Т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DF0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У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DF093"/>
                    </a:solidFill>
                  </a:tcPr>
                </a:tc>
                <a:tc>
                  <a:txBody>
                    <a:bodyPr/>
                    <a:lstStyle/>
                    <a:p>
                      <a:pPr marL="3175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Ф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DF093"/>
                    </a:solidFill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Х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DF093"/>
                    </a:solidFill>
                  </a:tcPr>
                </a:tc>
                <a:tc>
                  <a:txBody>
                    <a:bodyPr/>
                    <a:lstStyle/>
                    <a:p>
                      <a:pPr marL="1841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Ц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DF09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Ч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DF093"/>
                    </a:solidFill>
                  </a:tcPr>
                </a:tc>
                <a:tc>
                  <a:txBody>
                    <a:bodyPr/>
                    <a:lstStyle/>
                    <a:p>
                      <a:pPr marL="7747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latin typeface="Calibri"/>
                          <a:cs typeface="Calibri"/>
                        </a:rPr>
                        <a:t>Ш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DF093"/>
                    </a:solidFill>
                  </a:tcPr>
                </a:tc>
                <a:tc>
                  <a:txBody>
                    <a:bodyPr/>
                    <a:lstStyle/>
                    <a:p>
                      <a:pPr marL="7620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Щ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3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Ъ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762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Ы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Ь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Э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Ю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Я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71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А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Б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В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Г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Д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Е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Ж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З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222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И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Л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М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Н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349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О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97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П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90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Р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С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Т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У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Ф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Х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Ц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Ч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175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Ш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620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Щ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33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Ъ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99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Ы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Ь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Э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Ю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Я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71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А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Б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В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Г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Д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Е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Ж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З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И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445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К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Ю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Я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А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Б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В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159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Г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Д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Е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5244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Ж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143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З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05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И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К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06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Л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М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4604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Н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13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О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24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П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63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Р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С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Т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У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2384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Ф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Х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Ц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Ч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Ш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Щ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Ъ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Ы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Ь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4318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Э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Ч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Ш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Щ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270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Ъ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635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Ы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Ь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Э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Ю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Я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44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А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Б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В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095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Г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032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Д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762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Е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5588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Ж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1079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З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968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И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К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Л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М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587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Н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476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О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П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Р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С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Т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У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Ф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Х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286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Ц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25" name="object 23">
            <a:extLst>
              <a:ext uri="{FF2B5EF4-FFF2-40B4-BE49-F238E27FC236}">
                <a16:creationId xmlns:a16="http://schemas.microsoft.com/office/drawing/2014/main" id="{FEB868C2-EB97-4BA3-A9DE-D29F2FF89AEE}"/>
              </a:ext>
            </a:extLst>
          </p:cNvPr>
          <p:cNvGrpSpPr/>
          <p:nvPr/>
        </p:nvGrpSpPr>
        <p:grpSpPr>
          <a:xfrm>
            <a:off x="496849" y="2461704"/>
            <a:ext cx="867410" cy="1223010"/>
            <a:chOff x="496849" y="2461704"/>
            <a:chExt cx="867410" cy="1223010"/>
          </a:xfrm>
        </p:grpSpPr>
        <p:sp>
          <p:nvSpPr>
            <p:cNvPr id="26" name="object 24">
              <a:extLst>
                <a:ext uri="{FF2B5EF4-FFF2-40B4-BE49-F238E27FC236}">
                  <a16:creationId xmlns:a16="http://schemas.microsoft.com/office/drawing/2014/main" id="{22F5E1A4-FE88-49C5-935A-259B02629901}"/>
                </a:ext>
              </a:extLst>
            </p:cNvPr>
            <p:cNvSpPr/>
            <p:nvPr/>
          </p:nvSpPr>
          <p:spPr>
            <a:xfrm>
              <a:off x="507961" y="2472817"/>
              <a:ext cx="768350" cy="1153795"/>
            </a:xfrm>
            <a:custGeom>
              <a:avLst/>
              <a:gdLst/>
              <a:ahLst/>
              <a:cxnLst/>
              <a:rect l="l" t="t" r="r" b="b"/>
              <a:pathLst>
                <a:path w="768350" h="1153795">
                  <a:moveTo>
                    <a:pt x="768261" y="0"/>
                  </a:moveTo>
                  <a:lnTo>
                    <a:pt x="0" y="381"/>
                  </a:lnTo>
                </a:path>
                <a:path w="768350" h="1153795">
                  <a:moveTo>
                    <a:pt x="0" y="0"/>
                  </a:moveTo>
                  <a:lnTo>
                    <a:pt x="355" y="1153795"/>
                  </a:lnTo>
                </a:path>
              </a:pathLst>
            </a:custGeom>
            <a:ln w="22225">
              <a:solidFill>
                <a:srgbClr val="277082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5">
              <a:extLst>
                <a:ext uri="{FF2B5EF4-FFF2-40B4-BE49-F238E27FC236}">
                  <a16:creationId xmlns:a16="http://schemas.microsoft.com/office/drawing/2014/main" id="{CDA5541E-8291-4A80-8E64-7D5A6D4AA24B}"/>
                </a:ext>
              </a:extLst>
            </p:cNvPr>
            <p:cNvSpPr/>
            <p:nvPr/>
          </p:nvSpPr>
          <p:spPr>
            <a:xfrm>
              <a:off x="507822" y="3608451"/>
              <a:ext cx="855980" cy="76200"/>
            </a:xfrm>
            <a:custGeom>
              <a:avLst/>
              <a:gdLst/>
              <a:ahLst/>
              <a:cxnLst/>
              <a:rect l="l" t="t" r="r" b="b"/>
              <a:pathLst>
                <a:path w="855980" h="76200">
                  <a:moveTo>
                    <a:pt x="780084" y="0"/>
                  </a:moveTo>
                  <a:lnTo>
                    <a:pt x="779884" y="17144"/>
                  </a:lnTo>
                  <a:lnTo>
                    <a:pt x="779769" y="27016"/>
                  </a:lnTo>
                  <a:lnTo>
                    <a:pt x="792530" y="27178"/>
                  </a:lnTo>
                  <a:lnTo>
                    <a:pt x="792394" y="39116"/>
                  </a:lnTo>
                  <a:lnTo>
                    <a:pt x="792276" y="49403"/>
                  </a:lnTo>
                  <a:lnTo>
                    <a:pt x="779508" y="49403"/>
                  </a:lnTo>
                  <a:lnTo>
                    <a:pt x="779195" y="76200"/>
                  </a:lnTo>
                  <a:lnTo>
                    <a:pt x="834625" y="49403"/>
                  </a:lnTo>
                  <a:lnTo>
                    <a:pt x="792276" y="49403"/>
                  </a:lnTo>
                  <a:lnTo>
                    <a:pt x="779510" y="49241"/>
                  </a:lnTo>
                  <a:lnTo>
                    <a:pt x="834959" y="49241"/>
                  </a:lnTo>
                  <a:lnTo>
                    <a:pt x="855903" y="39116"/>
                  </a:lnTo>
                  <a:lnTo>
                    <a:pt x="780084" y="0"/>
                  </a:lnTo>
                  <a:close/>
                </a:path>
                <a:path w="855980" h="76200">
                  <a:moveTo>
                    <a:pt x="779769" y="27016"/>
                  </a:moveTo>
                  <a:lnTo>
                    <a:pt x="779628" y="39116"/>
                  </a:lnTo>
                  <a:lnTo>
                    <a:pt x="779510" y="49241"/>
                  </a:lnTo>
                  <a:lnTo>
                    <a:pt x="792276" y="49403"/>
                  </a:lnTo>
                  <a:lnTo>
                    <a:pt x="792530" y="27178"/>
                  </a:lnTo>
                  <a:lnTo>
                    <a:pt x="779769" y="27016"/>
                  </a:lnTo>
                  <a:close/>
                </a:path>
                <a:path w="855980" h="76200">
                  <a:moveTo>
                    <a:pt x="279" y="17144"/>
                  </a:moveTo>
                  <a:lnTo>
                    <a:pt x="3" y="39116"/>
                  </a:lnTo>
                  <a:lnTo>
                    <a:pt x="0" y="39369"/>
                  </a:lnTo>
                  <a:lnTo>
                    <a:pt x="779510" y="49241"/>
                  </a:lnTo>
                  <a:lnTo>
                    <a:pt x="779767" y="27178"/>
                  </a:lnTo>
                  <a:lnTo>
                    <a:pt x="779769" y="27016"/>
                  </a:lnTo>
                  <a:lnTo>
                    <a:pt x="279" y="17144"/>
                  </a:lnTo>
                  <a:close/>
                </a:path>
              </a:pathLst>
            </a:custGeom>
            <a:solidFill>
              <a:srgbClr val="27708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28" name="object 22">
            <a:extLst>
              <a:ext uri="{FF2B5EF4-FFF2-40B4-BE49-F238E27FC236}">
                <a16:creationId xmlns:a16="http://schemas.microsoft.com/office/drawing/2014/main" id="{93C9CB01-DB2C-478E-935F-2867A996D47D}"/>
              </a:ext>
            </a:extLst>
          </p:cNvPr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780785" y="2793238"/>
            <a:ext cx="76136" cy="199771"/>
          </a:xfrm>
          <a:prstGeom prst="rect">
            <a:avLst/>
          </a:prstGeom>
        </p:spPr>
      </p:pic>
      <p:sp>
        <p:nvSpPr>
          <p:cNvPr id="29" name="object 26">
            <a:extLst>
              <a:ext uri="{FF2B5EF4-FFF2-40B4-BE49-F238E27FC236}">
                <a16:creationId xmlns:a16="http://schemas.microsoft.com/office/drawing/2014/main" id="{6012B0E1-3877-47AB-A54D-42447F681023}"/>
              </a:ext>
            </a:extLst>
          </p:cNvPr>
          <p:cNvSpPr txBox="1"/>
          <p:nvPr/>
        </p:nvSpPr>
        <p:spPr>
          <a:xfrm>
            <a:off x="1335405" y="999236"/>
            <a:ext cx="9777095" cy="197103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469265" algn="l"/>
              </a:tabLst>
            </a:pPr>
            <a:r>
              <a:rPr sz="2800" b="1" dirty="0">
                <a:solidFill>
                  <a:srgbClr val="163557"/>
                </a:solidFill>
                <a:latin typeface="Calibri"/>
                <a:cs typeface="Calibri"/>
              </a:rPr>
              <a:t>Открытый</a:t>
            </a:r>
            <a:r>
              <a:rPr sz="2800" b="1" spc="-55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sz="2800" b="1" dirty="0">
                <a:solidFill>
                  <a:srgbClr val="163557"/>
                </a:solidFill>
                <a:latin typeface="Calibri"/>
                <a:cs typeface="Calibri"/>
              </a:rPr>
              <a:t>текст:</a:t>
            </a:r>
            <a:r>
              <a:rPr sz="2800" b="1" spc="-60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sz="2800" spc="-10" dirty="0">
                <a:solidFill>
                  <a:srgbClr val="DE7400"/>
                </a:solidFill>
                <a:latin typeface="Calibri"/>
                <a:cs typeface="Calibri"/>
              </a:rPr>
              <a:t>ПРИМ</a:t>
            </a:r>
            <a:r>
              <a:rPr sz="2800" spc="-10" dirty="0">
                <a:solidFill>
                  <a:srgbClr val="5E9922"/>
                </a:solidFill>
                <a:latin typeface="Calibri"/>
                <a:cs typeface="Calibri"/>
              </a:rPr>
              <a:t>ЕРШИ</a:t>
            </a:r>
            <a:r>
              <a:rPr sz="2800" spc="-10" dirty="0">
                <a:solidFill>
                  <a:srgbClr val="7B3B9F"/>
                </a:solidFill>
                <a:latin typeface="Calibri"/>
                <a:cs typeface="Calibri"/>
              </a:rPr>
              <a:t>ФРАВ</a:t>
            </a:r>
            <a:r>
              <a:rPr sz="2800" spc="-10" dirty="0">
                <a:solidFill>
                  <a:srgbClr val="BA5B1F"/>
                </a:solidFill>
                <a:latin typeface="Calibri"/>
                <a:cs typeface="Calibri"/>
              </a:rPr>
              <a:t>ИЖЕН</a:t>
            </a:r>
            <a:r>
              <a:rPr sz="2800" spc="-10" dirty="0">
                <a:solidFill>
                  <a:srgbClr val="163557"/>
                </a:solidFill>
                <a:latin typeface="Calibri"/>
                <a:cs typeface="Calibri"/>
              </a:rPr>
              <a:t>ЕРА</a:t>
            </a:r>
            <a:endParaRPr sz="28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tabLst>
                <a:tab pos="469265" algn="l"/>
                <a:tab pos="1640205" algn="l"/>
              </a:tabLst>
            </a:pPr>
            <a:r>
              <a:rPr sz="2800" b="1" spc="-20" dirty="0" err="1">
                <a:solidFill>
                  <a:srgbClr val="163557"/>
                </a:solidFill>
                <a:latin typeface="Calibri"/>
                <a:cs typeface="Calibri"/>
              </a:rPr>
              <a:t>Ключ</a:t>
            </a:r>
            <a:r>
              <a:rPr sz="2800" b="1" spc="-20" dirty="0">
                <a:solidFill>
                  <a:srgbClr val="163557"/>
                </a:solidFill>
                <a:latin typeface="Calibri"/>
                <a:cs typeface="Calibri"/>
              </a:rPr>
              <a:t>:</a:t>
            </a:r>
            <a:r>
              <a:rPr lang="ru-RU" sz="2800" b="1" spc="-20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sz="2800" b="1" spc="-20" dirty="0">
                <a:solidFill>
                  <a:srgbClr val="FF0000"/>
                </a:solidFill>
                <a:latin typeface="Calibri"/>
                <a:cs typeface="Calibri"/>
              </a:rPr>
              <a:t>КЛЮЧ</a:t>
            </a:r>
            <a:endParaRPr sz="28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300"/>
              </a:spcBef>
            </a:pPr>
            <a:endParaRPr sz="2800" dirty="0">
              <a:latin typeface="Calibri"/>
              <a:cs typeface="Calibri"/>
            </a:endParaRPr>
          </a:p>
          <a:p>
            <a:pPr marR="5080" algn="r">
              <a:lnSpc>
                <a:spcPct val="100000"/>
              </a:lnSpc>
              <a:spcBef>
                <a:spcPts val="5"/>
              </a:spcBef>
            </a:pPr>
            <a:r>
              <a:rPr sz="2400" b="1" spc="-25" dirty="0">
                <a:solidFill>
                  <a:srgbClr val="001F5F"/>
                </a:solidFill>
                <a:latin typeface="Calibri"/>
                <a:cs typeface="Calibri"/>
              </a:rPr>
              <a:t>Таблица</a:t>
            </a:r>
            <a:r>
              <a:rPr sz="2400" b="1" spc="-100" dirty="0">
                <a:solidFill>
                  <a:srgbClr val="001F5F"/>
                </a:solidFill>
                <a:latin typeface="Calibri"/>
                <a:cs typeface="Calibri"/>
              </a:rPr>
              <a:t> </a:t>
            </a:r>
            <a:r>
              <a:rPr sz="2400" b="1" spc="-10" dirty="0">
                <a:solidFill>
                  <a:srgbClr val="001F5F"/>
                </a:solidFill>
                <a:latin typeface="Calibri"/>
                <a:cs typeface="Calibri"/>
              </a:rPr>
              <a:t>Виженера</a:t>
            </a:r>
            <a:endParaRPr sz="2400" dirty="0">
              <a:latin typeface="Calibri"/>
              <a:cs typeface="Calibri"/>
            </a:endParaRPr>
          </a:p>
        </p:txBody>
      </p:sp>
      <p:sp>
        <p:nvSpPr>
          <p:cNvPr id="30" name="object 20">
            <a:extLst>
              <a:ext uri="{FF2B5EF4-FFF2-40B4-BE49-F238E27FC236}">
                <a16:creationId xmlns:a16="http://schemas.microsoft.com/office/drawing/2014/main" id="{0B916DF8-BF0B-488E-A20D-1A586A4AB27E}"/>
              </a:ext>
            </a:extLst>
          </p:cNvPr>
          <p:cNvSpPr txBox="1"/>
          <p:nvPr/>
        </p:nvSpPr>
        <p:spPr>
          <a:xfrm>
            <a:off x="1335405" y="5054041"/>
            <a:ext cx="4324985" cy="8788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469265" algn="l"/>
              </a:tabLst>
            </a:pPr>
            <a:r>
              <a:rPr sz="2800" b="1" spc="-10" dirty="0">
                <a:solidFill>
                  <a:srgbClr val="163557"/>
                </a:solidFill>
                <a:latin typeface="Calibri"/>
                <a:cs typeface="Calibri"/>
              </a:rPr>
              <a:t>Шифровка:</a:t>
            </a:r>
            <a:endParaRPr sz="2800" dirty="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2800" spc="-20" dirty="0">
                <a:solidFill>
                  <a:srgbClr val="DE7400"/>
                </a:solidFill>
                <a:latin typeface="Calibri"/>
                <a:cs typeface="Calibri"/>
              </a:rPr>
              <a:t>ШЪЖВ</a:t>
            </a:r>
            <a:r>
              <a:rPr sz="2800" spc="-20" dirty="0">
                <a:solidFill>
                  <a:srgbClr val="5E9922"/>
                </a:solidFill>
                <a:latin typeface="Calibri"/>
                <a:cs typeface="Calibri"/>
              </a:rPr>
              <a:t>ПЪЦЯ</a:t>
            </a:r>
            <a:r>
              <a:rPr sz="2800" spc="-20" dirty="0">
                <a:solidFill>
                  <a:srgbClr val="7B3B9F"/>
                </a:solidFill>
                <a:latin typeface="Calibri"/>
                <a:cs typeface="Calibri"/>
              </a:rPr>
              <a:t>ЭЪЮЩ</a:t>
            </a:r>
            <a:r>
              <a:rPr sz="2800" spc="-20" dirty="0">
                <a:solidFill>
                  <a:srgbClr val="934D00"/>
                </a:solidFill>
                <a:latin typeface="Calibri"/>
                <a:cs typeface="Calibri"/>
              </a:rPr>
              <a:t>ТСГГ</a:t>
            </a:r>
            <a:r>
              <a:rPr sz="2800" spc="-20" dirty="0">
                <a:solidFill>
                  <a:srgbClr val="508FD3"/>
                </a:solidFill>
                <a:latin typeface="Calibri"/>
                <a:cs typeface="Calibri"/>
              </a:rPr>
              <a:t>ПЪЮ</a:t>
            </a:r>
            <a:endParaRPr sz="28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572452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4368C03-8FD5-4D91-8371-0AEC469A3D7D}"/>
              </a:ext>
            </a:extLst>
          </p:cNvPr>
          <p:cNvSpPr txBox="1"/>
          <p:nvPr/>
        </p:nvSpPr>
        <p:spPr>
          <a:xfrm>
            <a:off x="467513" y="151529"/>
            <a:ext cx="6125985" cy="5407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2800" b="1" spc="-150" dirty="0">
                <a:solidFill>
                  <a:srgbClr val="161D31"/>
                </a:solidFill>
                <a:latin typeface="Calibri"/>
                <a:cs typeface="Calibri"/>
              </a:rPr>
              <a:t>C</a:t>
            </a: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хема протокола шифра в </a:t>
            </a:r>
            <a:r>
              <a:rPr lang="en-US" sz="2800" b="1" spc="-150" dirty="0">
                <a:solidFill>
                  <a:srgbClr val="161D31"/>
                </a:solidFill>
                <a:latin typeface="Calibri"/>
                <a:cs typeface="Calibri"/>
              </a:rPr>
              <a:t>CrypTool2</a:t>
            </a:r>
            <a:endParaRPr lang="ru-RU" sz="2800" b="1" spc="-150" dirty="0">
              <a:solidFill>
                <a:srgbClr val="161D31"/>
              </a:solidFill>
              <a:latin typeface="Calibri"/>
              <a:cs typeface="Calibri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EAFC1F1-2F53-49E1-B12D-0686A4983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" y="800100"/>
            <a:ext cx="11677436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47718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533400" y="152400"/>
            <a:ext cx="10114915" cy="53290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Внешняя спецификация алгоритма расшифрования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Назначение: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расшифрование текста на основе полиалфавитной подстановки по таблице Тритемия (сложение по модулю).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Входные данные:</a:t>
            </a: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C (</a:t>
            </a:r>
            <a:r>
              <a:rPr lang="en-US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) —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шифротекст.</a:t>
            </a: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K (</a:t>
            </a:r>
            <a:r>
              <a:rPr lang="en-US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) —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ключевое слово.</a:t>
            </a: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A(</a:t>
            </a:r>
            <a:r>
              <a:rPr lang="en-US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) —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алфавит (размер 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n = 3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1).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Выходные данные:</a:t>
            </a:r>
            <a:endParaRPr lang="en-US" sz="2600" b="1" spc="-15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P (</a:t>
            </a:r>
            <a:r>
              <a:rPr lang="en-US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) —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открытый текст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.</a:t>
            </a:r>
            <a:endParaRPr lang="ru-RU" sz="2600" spc="-15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Условия и ограничения: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символы шифротекста и ключа должны быть в A.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Математическая модель:</a:t>
            </a:r>
            <a:r>
              <a:rPr lang="en-US" sz="2600" b="1" spc="-150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Гамма G формируется циклическим повторением ключа K. Символ открытого текста вычисляется по формуле: P</a:t>
            </a:r>
            <a:r>
              <a:rPr lang="ru-RU" sz="2600" spc="-150" baseline="-25000" dirty="0">
                <a:solidFill>
                  <a:srgbClr val="161D31"/>
                </a:solidFill>
                <a:latin typeface="Calibri"/>
                <a:cs typeface="Calibri"/>
              </a:rPr>
              <a:t>i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= (C</a:t>
            </a:r>
            <a:r>
              <a:rPr lang="ru-RU" sz="2600" spc="-150" baseline="-25000" dirty="0">
                <a:solidFill>
                  <a:srgbClr val="161D31"/>
                </a:solidFill>
                <a:latin typeface="Calibri"/>
                <a:cs typeface="Calibri"/>
              </a:rPr>
              <a:t>i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- G</a:t>
            </a:r>
            <a:r>
              <a:rPr lang="ru-RU" sz="2600" spc="-150" baseline="-25000" dirty="0">
                <a:solidFill>
                  <a:srgbClr val="161D31"/>
                </a:solidFill>
                <a:latin typeface="Calibri"/>
                <a:cs typeface="Calibri"/>
              </a:rPr>
              <a:t>i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+ n) </a:t>
            </a:r>
            <a:r>
              <a:rPr lang="en-US" sz="2600" i="1" spc="-150" dirty="0">
                <a:solidFill>
                  <a:srgbClr val="161D31"/>
                </a:solidFill>
                <a:latin typeface="Calibri"/>
                <a:cs typeface="Calibri"/>
              </a:rPr>
              <a:t>mod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n, где C</a:t>
            </a:r>
            <a:r>
              <a:rPr lang="ru-RU" sz="2600" spc="-150" baseline="-25000" dirty="0">
                <a:solidFill>
                  <a:srgbClr val="161D31"/>
                </a:solidFill>
                <a:latin typeface="Calibri"/>
                <a:cs typeface="Calibri"/>
              </a:rPr>
              <a:t>i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и G</a:t>
            </a:r>
            <a:r>
              <a:rPr lang="ru-RU" sz="2600" spc="-150" baseline="-25000" dirty="0">
                <a:solidFill>
                  <a:srgbClr val="161D31"/>
                </a:solidFill>
                <a:latin typeface="Calibri"/>
                <a:cs typeface="Calibri"/>
              </a:rPr>
              <a:t>i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— порядковые номера символов в алфавите A.</a:t>
            </a:r>
            <a:endParaRPr lang="ru-RU" sz="26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082787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3F4AFE5-A83B-458C-A072-08C8DA475824}"/>
              </a:ext>
            </a:extLst>
          </p:cNvPr>
          <p:cNvSpPr txBox="1"/>
          <p:nvPr/>
        </p:nvSpPr>
        <p:spPr>
          <a:xfrm>
            <a:off x="533400" y="152400"/>
            <a:ext cx="2743200" cy="1410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Блок-схема</a:t>
            </a:r>
            <a:endParaRPr lang="en-US" sz="2800" b="1" spc="-15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алгоритма</a:t>
            </a:r>
            <a:endParaRPr lang="en-US" sz="2800" b="1" spc="-15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расшифрования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EE41CBD-4E97-4021-ACBA-82C1F680AB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2163" y="0"/>
            <a:ext cx="242767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521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943AA6-DB97-45FB-8745-C8DEF185D432}"/>
              </a:ext>
            </a:extLst>
          </p:cNvPr>
          <p:cNvSpPr txBox="1"/>
          <p:nvPr/>
        </p:nvSpPr>
        <p:spPr>
          <a:xfrm>
            <a:off x="609600" y="228600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4000" spc="-150" dirty="0">
                <a:solidFill>
                  <a:srgbClr val="161D31"/>
                </a:solidFill>
                <a:latin typeface="Calibri"/>
                <a:cs typeface="Calibri"/>
              </a:rPr>
              <a:t>Шифр 4. Хилла (</a:t>
            </a:r>
            <a:r>
              <a:rPr lang="en-US" sz="4000" spc="-150" dirty="0">
                <a:solidFill>
                  <a:srgbClr val="161D31"/>
                </a:solidFill>
                <a:latin typeface="Calibri"/>
                <a:cs typeface="Calibri"/>
              </a:rPr>
              <a:t>Hill</a:t>
            </a:r>
            <a:r>
              <a:rPr lang="ru-RU" sz="4000" spc="-150" dirty="0">
                <a:solidFill>
                  <a:srgbClr val="161D31"/>
                </a:solidFill>
                <a:latin typeface="Calibri"/>
                <a:cs typeface="Calibri"/>
              </a:rPr>
              <a:t>)</a:t>
            </a:r>
          </a:p>
        </p:txBody>
      </p:sp>
      <p:sp>
        <p:nvSpPr>
          <p:cNvPr id="28" name="object 4">
            <a:extLst>
              <a:ext uri="{FF2B5EF4-FFF2-40B4-BE49-F238E27FC236}">
                <a16:creationId xmlns:a16="http://schemas.microsoft.com/office/drawing/2014/main" id="{7446E890-B4D7-45F0-845D-F9BDBBEDF807}"/>
              </a:ext>
            </a:extLst>
          </p:cNvPr>
          <p:cNvSpPr txBox="1"/>
          <p:nvPr/>
        </p:nvSpPr>
        <p:spPr>
          <a:xfrm>
            <a:off x="770636" y="902665"/>
            <a:ext cx="3296920" cy="8788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469265" algn="l"/>
              </a:tabLst>
            </a:pPr>
            <a:r>
              <a:rPr sz="2800" b="1" dirty="0">
                <a:solidFill>
                  <a:srgbClr val="163557"/>
                </a:solidFill>
                <a:latin typeface="Calibri"/>
                <a:cs typeface="Calibri"/>
              </a:rPr>
              <a:t>Открытый</a:t>
            </a:r>
            <a:r>
              <a:rPr sz="2800" b="1" spc="-15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sz="2800" b="1" spc="-10" dirty="0">
                <a:solidFill>
                  <a:srgbClr val="163557"/>
                </a:solidFill>
                <a:latin typeface="Calibri"/>
                <a:cs typeface="Calibri"/>
              </a:rPr>
              <a:t>текст:</a:t>
            </a:r>
            <a:endParaRPr sz="2800" dirty="0">
              <a:latin typeface="Calibri"/>
              <a:cs typeface="Calibri"/>
            </a:endParaRPr>
          </a:p>
          <a:p>
            <a:pPr marL="93345">
              <a:lnSpc>
                <a:spcPct val="100000"/>
              </a:lnSpc>
              <a:spcBef>
                <a:spcPts val="5"/>
              </a:spcBef>
            </a:pPr>
            <a:r>
              <a:rPr sz="2800" spc="-10" dirty="0">
                <a:solidFill>
                  <a:srgbClr val="DE7400"/>
                </a:solidFill>
                <a:latin typeface="Calibri"/>
                <a:cs typeface="Calibri"/>
              </a:rPr>
              <a:t>HIL</a:t>
            </a:r>
            <a:r>
              <a:rPr sz="2800" spc="-10" dirty="0">
                <a:solidFill>
                  <a:srgbClr val="7B3B9F"/>
                </a:solidFill>
                <a:latin typeface="Calibri"/>
                <a:cs typeface="Calibri"/>
              </a:rPr>
              <a:t>LCI</a:t>
            </a:r>
            <a:r>
              <a:rPr sz="2800" spc="-10" dirty="0">
                <a:solidFill>
                  <a:srgbClr val="5E9922"/>
                </a:solidFill>
                <a:latin typeface="Calibri"/>
                <a:cs typeface="Calibri"/>
              </a:rPr>
              <a:t>PHE</a:t>
            </a:r>
            <a:r>
              <a:rPr sz="2800" spc="-10" dirty="0">
                <a:solidFill>
                  <a:srgbClr val="277082"/>
                </a:solidFill>
                <a:latin typeface="Calibri"/>
                <a:cs typeface="Calibri"/>
              </a:rPr>
              <a:t>REX</a:t>
            </a:r>
            <a:r>
              <a:rPr sz="2800" spc="-10" dirty="0">
                <a:solidFill>
                  <a:srgbClr val="BE9000"/>
                </a:solidFill>
                <a:latin typeface="Calibri"/>
                <a:cs typeface="Calibri"/>
              </a:rPr>
              <a:t>AMP</a:t>
            </a:r>
            <a:r>
              <a:rPr sz="2800" spc="-10" dirty="0">
                <a:solidFill>
                  <a:srgbClr val="163557"/>
                </a:solidFill>
                <a:latin typeface="Calibri"/>
                <a:cs typeface="Calibri"/>
              </a:rPr>
              <a:t>LES</a:t>
            </a:r>
            <a:endParaRPr sz="2800" dirty="0">
              <a:latin typeface="Calibri"/>
              <a:cs typeface="Calibri"/>
            </a:endParaRPr>
          </a:p>
        </p:txBody>
      </p:sp>
      <p:graphicFrame>
        <p:nvGraphicFramePr>
          <p:cNvPr id="29" name="object 3">
            <a:extLst>
              <a:ext uri="{FF2B5EF4-FFF2-40B4-BE49-F238E27FC236}">
                <a16:creationId xmlns:a16="http://schemas.microsoft.com/office/drawing/2014/main" id="{D9830BCA-B9C1-4CAE-9123-B5221407BA6A}"/>
              </a:ext>
            </a:extLst>
          </p:cNvPr>
          <p:cNvGraphicFramePr>
            <a:graphicFrameLocks noGrp="1"/>
          </p:cNvGraphicFramePr>
          <p:nvPr/>
        </p:nvGraphicFramePr>
        <p:xfrm>
          <a:off x="707404" y="1899387"/>
          <a:ext cx="11094715" cy="74041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6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67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671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6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671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426719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18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23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24"/>
                    </a:ext>
                  </a:extLst>
                </a:gridCol>
                <a:gridCol w="426720">
                  <a:extLst>
                    <a:ext uri="{9D8B030D-6E8A-4147-A177-3AD203B41FA5}">
                      <a16:colId xmlns:a16="http://schemas.microsoft.com/office/drawing/2014/main" val="20025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A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B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C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D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G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H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I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J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K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L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9370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M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699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N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83185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O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P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Q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R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S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T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U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V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0480" algn="ct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W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Y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Z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7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9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17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54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2540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17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19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20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21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R="3175"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22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23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24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71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25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30" name="object 5">
            <a:extLst>
              <a:ext uri="{FF2B5EF4-FFF2-40B4-BE49-F238E27FC236}">
                <a16:creationId xmlns:a16="http://schemas.microsoft.com/office/drawing/2014/main" id="{DB1E9742-08C6-4952-88CC-FD79E5EB938C}"/>
              </a:ext>
            </a:extLst>
          </p:cNvPr>
          <p:cNvGraphicFramePr>
            <a:graphicFrameLocks noGrp="1"/>
          </p:cNvGraphicFramePr>
          <p:nvPr/>
        </p:nvGraphicFramePr>
        <p:xfrm>
          <a:off x="687236" y="2884018"/>
          <a:ext cx="1676400" cy="22225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5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DE7400"/>
                          </a:solidFill>
                          <a:latin typeface="Calibri"/>
                          <a:cs typeface="Calibri"/>
                        </a:rPr>
                        <a:t>7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DE7400"/>
                          </a:solidFill>
                          <a:latin typeface="Calibri"/>
                          <a:cs typeface="Calibri"/>
                        </a:rPr>
                        <a:t>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25" dirty="0">
                          <a:solidFill>
                            <a:srgbClr val="DE7400"/>
                          </a:solidFill>
                          <a:latin typeface="Calibri"/>
                          <a:cs typeface="Calibri"/>
                        </a:rPr>
                        <a:t>11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25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11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25" dirty="0">
                          <a:solidFill>
                            <a:srgbClr val="5E9922"/>
                          </a:solidFill>
                          <a:latin typeface="Calibri"/>
                          <a:cs typeface="Calibri"/>
                        </a:rPr>
                        <a:t>15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5E9922"/>
                          </a:solidFill>
                          <a:latin typeface="Calibri"/>
                          <a:cs typeface="Calibri"/>
                        </a:rPr>
                        <a:t>7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5E9922"/>
                          </a:solidFill>
                          <a:latin typeface="Calibri"/>
                          <a:cs typeface="Calibri"/>
                        </a:rPr>
                        <a:t>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25" dirty="0">
                          <a:solidFill>
                            <a:srgbClr val="277082"/>
                          </a:solidFill>
                          <a:latin typeface="Calibri"/>
                          <a:cs typeface="Calibri"/>
                        </a:rPr>
                        <a:t>17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277082"/>
                          </a:solidFill>
                          <a:latin typeface="Calibri"/>
                          <a:cs typeface="Calibri"/>
                        </a:rPr>
                        <a:t>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25" dirty="0">
                          <a:solidFill>
                            <a:srgbClr val="277082"/>
                          </a:solidFill>
                          <a:latin typeface="Calibri"/>
                          <a:cs typeface="Calibri"/>
                        </a:rPr>
                        <a:t>23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BE9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25" dirty="0">
                          <a:solidFill>
                            <a:srgbClr val="BE9000"/>
                          </a:solidFill>
                          <a:latin typeface="Calibri"/>
                          <a:cs typeface="Calibri"/>
                        </a:rPr>
                        <a:t>12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25" dirty="0">
                          <a:solidFill>
                            <a:srgbClr val="BE9000"/>
                          </a:solidFill>
                          <a:latin typeface="Calibri"/>
                          <a:cs typeface="Calibri"/>
                        </a:rPr>
                        <a:t>15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25" dirty="0">
                          <a:solidFill>
                            <a:srgbClr val="163557"/>
                          </a:solidFill>
                          <a:latin typeface="Calibri"/>
                          <a:cs typeface="Calibri"/>
                        </a:rPr>
                        <a:t>11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163557"/>
                          </a:solidFill>
                          <a:latin typeface="Calibri"/>
                          <a:cs typeface="Calibri"/>
                        </a:rPr>
                        <a:t>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25" dirty="0">
                          <a:solidFill>
                            <a:srgbClr val="163557"/>
                          </a:solidFill>
                          <a:latin typeface="Calibri"/>
                          <a:cs typeface="Calibri"/>
                        </a:rPr>
                        <a:t>18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31" name="object 6">
            <a:extLst>
              <a:ext uri="{FF2B5EF4-FFF2-40B4-BE49-F238E27FC236}">
                <a16:creationId xmlns:a16="http://schemas.microsoft.com/office/drawing/2014/main" id="{760ADD62-B55C-4629-9692-F1972C4B239E}"/>
              </a:ext>
            </a:extLst>
          </p:cNvPr>
          <p:cNvGrpSpPr/>
          <p:nvPr/>
        </p:nvGrpSpPr>
        <p:grpSpPr>
          <a:xfrm>
            <a:off x="2488692" y="3534181"/>
            <a:ext cx="574675" cy="520065"/>
            <a:chOff x="2488692" y="3534181"/>
            <a:chExt cx="574675" cy="520065"/>
          </a:xfrm>
        </p:grpSpPr>
        <p:pic>
          <p:nvPicPr>
            <p:cNvPr id="32" name="object 7">
              <a:extLst>
                <a:ext uri="{FF2B5EF4-FFF2-40B4-BE49-F238E27FC236}">
                  <a16:creationId xmlns:a16="http://schemas.microsoft.com/office/drawing/2014/main" id="{BCF3A1ED-7211-47A4-AF36-390F5D839AAB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488692" y="3534181"/>
              <a:ext cx="574522" cy="519658"/>
            </a:xfrm>
            <a:prstGeom prst="rect">
              <a:avLst/>
            </a:prstGeom>
          </p:spPr>
        </p:pic>
        <p:pic>
          <p:nvPicPr>
            <p:cNvPr id="33" name="object 8">
              <a:extLst>
                <a:ext uri="{FF2B5EF4-FFF2-40B4-BE49-F238E27FC236}">
                  <a16:creationId xmlns:a16="http://schemas.microsoft.com/office/drawing/2014/main" id="{7FC9FC7D-DB30-492D-9D5D-1182DA8965C8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531237" y="3554349"/>
              <a:ext cx="493775" cy="437642"/>
            </a:xfrm>
            <a:prstGeom prst="rect">
              <a:avLst/>
            </a:prstGeom>
          </p:spPr>
        </p:pic>
      </p:grpSp>
      <p:graphicFrame>
        <p:nvGraphicFramePr>
          <p:cNvPr id="34" name="object 9">
            <a:extLst>
              <a:ext uri="{FF2B5EF4-FFF2-40B4-BE49-F238E27FC236}">
                <a16:creationId xmlns:a16="http://schemas.microsoft.com/office/drawing/2014/main" id="{14BEAF67-1055-43DD-B399-D159D843741E}"/>
              </a:ext>
            </a:extLst>
          </p:cNvPr>
          <p:cNvGraphicFramePr>
            <a:graphicFrameLocks noGrp="1"/>
          </p:cNvGraphicFramePr>
          <p:nvPr/>
        </p:nvGraphicFramePr>
        <p:xfrm>
          <a:off x="3209393" y="3269844"/>
          <a:ext cx="2017395" cy="11068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7246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24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246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24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20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17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35" name="object 10">
            <a:extLst>
              <a:ext uri="{FF2B5EF4-FFF2-40B4-BE49-F238E27FC236}">
                <a16:creationId xmlns:a16="http://schemas.microsoft.com/office/drawing/2014/main" id="{172D0CD2-E56E-4FA1-B887-6357951C1459}"/>
              </a:ext>
            </a:extLst>
          </p:cNvPr>
          <p:cNvGrpSpPr/>
          <p:nvPr/>
        </p:nvGrpSpPr>
        <p:grpSpPr>
          <a:xfrm>
            <a:off x="5471159" y="3573779"/>
            <a:ext cx="494030" cy="370840"/>
            <a:chOff x="5471159" y="3573779"/>
            <a:chExt cx="494030" cy="370840"/>
          </a:xfrm>
        </p:grpSpPr>
        <p:pic>
          <p:nvPicPr>
            <p:cNvPr id="36" name="object 11">
              <a:extLst>
                <a:ext uri="{FF2B5EF4-FFF2-40B4-BE49-F238E27FC236}">
                  <a16:creationId xmlns:a16="http://schemas.microsoft.com/office/drawing/2014/main" id="{1B7ECEE4-11B9-4BE9-AAC7-2C592891773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471159" y="3573779"/>
              <a:ext cx="493814" cy="370332"/>
            </a:xfrm>
            <a:prstGeom prst="rect">
              <a:avLst/>
            </a:prstGeom>
          </p:spPr>
        </p:pic>
        <p:pic>
          <p:nvPicPr>
            <p:cNvPr id="37" name="object 12">
              <a:extLst>
                <a:ext uri="{FF2B5EF4-FFF2-40B4-BE49-F238E27FC236}">
                  <a16:creationId xmlns:a16="http://schemas.microsoft.com/office/drawing/2014/main" id="{40C67532-AB03-4CFA-A8BA-F743C6E93ACE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14085" y="3592956"/>
              <a:ext cx="413258" cy="115823"/>
            </a:xfrm>
            <a:prstGeom prst="rect">
              <a:avLst/>
            </a:prstGeom>
          </p:spPr>
        </p:pic>
        <p:pic>
          <p:nvPicPr>
            <p:cNvPr id="38" name="object 13">
              <a:extLst>
                <a:ext uri="{FF2B5EF4-FFF2-40B4-BE49-F238E27FC236}">
                  <a16:creationId xmlns:a16="http://schemas.microsoft.com/office/drawing/2014/main" id="{251DB989-C310-4F51-90D9-1C0C9BE93B89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5514085" y="3766692"/>
              <a:ext cx="413258" cy="115696"/>
            </a:xfrm>
            <a:prstGeom prst="rect">
              <a:avLst/>
            </a:prstGeom>
          </p:spPr>
        </p:pic>
      </p:grpSp>
      <p:grpSp>
        <p:nvGrpSpPr>
          <p:cNvPr id="39" name="object 14">
            <a:extLst>
              <a:ext uri="{FF2B5EF4-FFF2-40B4-BE49-F238E27FC236}">
                <a16:creationId xmlns:a16="http://schemas.microsoft.com/office/drawing/2014/main" id="{C9644958-F436-449F-9D38-D1C95A11A125}"/>
              </a:ext>
            </a:extLst>
          </p:cNvPr>
          <p:cNvGrpSpPr/>
          <p:nvPr/>
        </p:nvGrpSpPr>
        <p:grpSpPr>
          <a:xfrm>
            <a:off x="7961376" y="3488423"/>
            <a:ext cx="478790" cy="547370"/>
            <a:chOff x="7961376" y="3488423"/>
            <a:chExt cx="478790" cy="547370"/>
          </a:xfrm>
        </p:grpSpPr>
        <p:pic>
          <p:nvPicPr>
            <p:cNvPr id="40" name="object 15">
              <a:extLst>
                <a:ext uri="{FF2B5EF4-FFF2-40B4-BE49-F238E27FC236}">
                  <a16:creationId xmlns:a16="http://schemas.microsoft.com/office/drawing/2014/main" id="{61EFF930-3D1B-456C-B519-C07929ABDA00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7961376" y="3488423"/>
              <a:ext cx="478548" cy="368820"/>
            </a:xfrm>
            <a:prstGeom prst="rect">
              <a:avLst/>
            </a:prstGeom>
          </p:spPr>
        </p:pic>
        <p:pic>
          <p:nvPicPr>
            <p:cNvPr id="41" name="object 16">
              <a:extLst>
                <a:ext uri="{FF2B5EF4-FFF2-40B4-BE49-F238E27FC236}">
                  <a16:creationId xmlns:a16="http://schemas.microsoft.com/office/drawing/2014/main" id="{30704551-EDBB-4156-8AC1-6B21196187C2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003413" y="3507358"/>
              <a:ext cx="398398" cy="115696"/>
            </a:xfrm>
            <a:prstGeom prst="rect">
              <a:avLst/>
            </a:prstGeom>
          </p:spPr>
        </p:pic>
        <p:pic>
          <p:nvPicPr>
            <p:cNvPr id="42" name="object 17">
              <a:extLst>
                <a:ext uri="{FF2B5EF4-FFF2-40B4-BE49-F238E27FC236}">
                  <a16:creationId xmlns:a16="http://schemas.microsoft.com/office/drawing/2014/main" id="{35C340A7-9B21-44B5-A63F-90C6D3D5472A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8003413" y="3680967"/>
              <a:ext cx="398398" cy="115696"/>
            </a:xfrm>
            <a:prstGeom prst="rect">
              <a:avLst/>
            </a:prstGeom>
          </p:spPr>
        </p:pic>
        <p:pic>
          <p:nvPicPr>
            <p:cNvPr id="43" name="object 18">
              <a:extLst>
                <a:ext uri="{FF2B5EF4-FFF2-40B4-BE49-F238E27FC236}">
                  <a16:creationId xmlns:a16="http://schemas.microsoft.com/office/drawing/2014/main" id="{45900EB0-C671-4388-A880-997F1F6198B4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7961376" y="3832923"/>
              <a:ext cx="478548" cy="202755"/>
            </a:xfrm>
            <a:prstGeom prst="rect">
              <a:avLst/>
            </a:prstGeom>
          </p:spPr>
        </p:pic>
        <p:pic>
          <p:nvPicPr>
            <p:cNvPr id="44" name="object 19">
              <a:extLst>
                <a:ext uri="{FF2B5EF4-FFF2-40B4-BE49-F238E27FC236}">
                  <a16:creationId xmlns:a16="http://schemas.microsoft.com/office/drawing/2014/main" id="{92D267D6-C55C-4A10-8513-3D7331C00F2C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8003413" y="3851818"/>
              <a:ext cx="398437" cy="122773"/>
            </a:xfrm>
            <a:prstGeom prst="rect">
              <a:avLst/>
            </a:prstGeom>
          </p:spPr>
        </p:pic>
      </p:grpSp>
      <p:sp>
        <p:nvSpPr>
          <p:cNvPr id="45" name="object 20">
            <a:extLst>
              <a:ext uri="{FF2B5EF4-FFF2-40B4-BE49-F238E27FC236}">
                <a16:creationId xmlns:a16="http://schemas.microsoft.com/office/drawing/2014/main" id="{7E5C327A-EF2A-43A0-88D8-75E9578D2B55}"/>
              </a:ext>
            </a:extLst>
          </p:cNvPr>
          <p:cNvSpPr txBox="1"/>
          <p:nvPr/>
        </p:nvSpPr>
        <p:spPr>
          <a:xfrm>
            <a:off x="10529061" y="3630295"/>
            <a:ext cx="1268730" cy="4521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800" b="1" i="1" spc="-10" dirty="0">
                <a:solidFill>
                  <a:srgbClr val="163557"/>
                </a:solidFill>
                <a:latin typeface="Calibri"/>
                <a:cs typeface="Calibri"/>
              </a:rPr>
              <a:t>(mod26)</a:t>
            </a:r>
            <a:endParaRPr sz="2800">
              <a:latin typeface="Calibri"/>
              <a:cs typeface="Calibri"/>
            </a:endParaRPr>
          </a:p>
        </p:txBody>
      </p:sp>
      <p:sp>
        <p:nvSpPr>
          <p:cNvPr id="46" name="object 21">
            <a:extLst>
              <a:ext uri="{FF2B5EF4-FFF2-40B4-BE49-F238E27FC236}">
                <a16:creationId xmlns:a16="http://schemas.microsoft.com/office/drawing/2014/main" id="{B8DF61DB-08FD-45B4-8E49-BDBFDF157907}"/>
              </a:ext>
            </a:extLst>
          </p:cNvPr>
          <p:cNvSpPr txBox="1"/>
          <p:nvPr/>
        </p:nvSpPr>
        <p:spPr>
          <a:xfrm>
            <a:off x="3473577" y="4389246"/>
            <a:ext cx="1516380" cy="577215"/>
          </a:xfrm>
          <a:prstGeom prst="rect">
            <a:avLst/>
          </a:prstGeom>
        </p:spPr>
        <p:txBody>
          <a:bodyPr vert="horz" wrap="square" lIns="0" tIns="9525" rIns="0" bIns="0" rtlCol="0">
            <a:spAutoFit/>
          </a:bodyPr>
          <a:lstStyle/>
          <a:p>
            <a:pPr marL="12700" marR="5080" indent="112395">
              <a:lnSpc>
                <a:spcPct val="101099"/>
              </a:lnSpc>
              <a:spcBef>
                <a:spcPts val="75"/>
              </a:spcBef>
            </a:pPr>
            <a:r>
              <a:rPr sz="1800" i="1" spc="-10" dirty="0">
                <a:solidFill>
                  <a:srgbClr val="163557"/>
                </a:solidFill>
                <a:latin typeface="Calibri"/>
                <a:cs typeface="Calibri"/>
              </a:rPr>
              <a:t>Шифрующая </a:t>
            </a:r>
            <a:r>
              <a:rPr sz="1800" i="1" spc="-20" dirty="0">
                <a:solidFill>
                  <a:srgbClr val="163557"/>
                </a:solidFill>
                <a:latin typeface="Calibri"/>
                <a:cs typeface="Calibri"/>
              </a:rPr>
              <a:t>матрица-ключ</a:t>
            </a:r>
            <a:endParaRPr sz="1800">
              <a:latin typeface="Calibri"/>
              <a:cs typeface="Calibri"/>
            </a:endParaRPr>
          </a:p>
        </p:txBody>
      </p:sp>
      <p:graphicFrame>
        <p:nvGraphicFramePr>
          <p:cNvPr id="47" name="object 22">
            <a:extLst>
              <a:ext uri="{FF2B5EF4-FFF2-40B4-BE49-F238E27FC236}">
                <a16:creationId xmlns:a16="http://schemas.microsoft.com/office/drawing/2014/main" id="{94A611CB-6E9F-4DD5-A16C-C173D6E62EBE}"/>
              </a:ext>
            </a:extLst>
          </p:cNvPr>
          <p:cNvGraphicFramePr>
            <a:graphicFrameLocks noGrp="1"/>
          </p:cNvGraphicFramePr>
          <p:nvPr/>
        </p:nvGraphicFramePr>
        <p:xfrm>
          <a:off x="5999033" y="2879659"/>
          <a:ext cx="1840864" cy="2255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924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11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7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marL="635" algn="ctr">
                        <a:lnSpc>
                          <a:spcPts val="2150"/>
                        </a:lnSpc>
                        <a:spcBef>
                          <a:spcPts val="71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366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50"/>
                        </a:lnSpc>
                        <a:spcBef>
                          <a:spcPts val="71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483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ts val="2150"/>
                        </a:lnSpc>
                        <a:spcBef>
                          <a:spcPts val="71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252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marL="635" algn="ctr">
                        <a:lnSpc>
                          <a:spcPts val="2150"/>
                        </a:lnSpc>
                        <a:spcBef>
                          <a:spcPts val="71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252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50"/>
                        </a:lnSpc>
                        <a:spcBef>
                          <a:spcPts val="71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432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ts val="2150"/>
                        </a:lnSpc>
                        <a:spcBef>
                          <a:spcPts val="710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151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017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marL="635" algn="ctr">
                        <a:lnSpc>
                          <a:spcPts val="2150"/>
                        </a:lnSpc>
                        <a:spcBef>
                          <a:spcPts val="71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261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080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50"/>
                        </a:lnSpc>
                        <a:spcBef>
                          <a:spcPts val="71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540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080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ts val="2150"/>
                        </a:lnSpc>
                        <a:spcBef>
                          <a:spcPts val="71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145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080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marL="635" algn="ctr">
                        <a:lnSpc>
                          <a:spcPts val="2145"/>
                        </a:lnSpc>
                        <a:spcBef>
                          <a:spcPts val="71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614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080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5"/>
                        </a:lnSpc>
                        <a:spcBef>
                          <a:spcPts val="71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863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080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ts val="2145"/>
                        </a:lnSpc>
                        <a:spcBef>
                          <a:spcPts val="71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402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080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marL="635" algn="ctr">
                        <a:lnSpc>
                          <a:spcPts val="2150"/>
                        </a:lnSpc>
                        <a:spcBef>
                          <a:spcPts val="71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456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080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50"/>
                        </a:lnSpc>
                        <a:spcBef>
                          <a:spcPts val="71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447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080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ts val="2150"/>
                        </a:lnSpc>
                        <a:spcBef>
                          <a:spcPts val="71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345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080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marL="635" algn="ctr">
                        <a:lnSpc>
                          <a:spcPts val="2145"/>
                        </a:lnSpc>
                        <a:spcBef>
                          <a:spcPts val="71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478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080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45"/>
                        </a:lnSpc>
                        <a:spcBef>
                          <a:spcPts val="71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634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080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ts val="2145"/>
                        </a:lnSpc>
                        <a:spcBef>
                          <a:spcPts val="715"/>
                        </a:spcBef>
                      </a:pPr>
                      <a:r>
                        <a:rPr sz="1800" spc="-25" dirty="0">
                          <a:latin typeface="Calibri"/>
                          <a:cs typeface="Calibri"/>
                        </a:rPr>
                        <a:t>321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90805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48" name="object 23">
            <a:extLst>
              <a:ext uri="{FF2B5EF4-FFF2-40B4-BE49-F238E27FC236}">
                <a16:creationId xmlns:a16="http://schemas.microsoft.com/office/drawing/2014/main" id="{46F393BF-0A8F-4908-93AC-C39E11CAE98D}"/>
              </a:ext>
            </a:extLst>
          </p:cNvPr>
          <p:cNvGraphicFramePr>
            <a:graphicFrameLocks noGrp="1"/>
          </p:cNvGraphicFramePr>
          <p:nvPr/>
        </p:nvGraphicFramePr>
        <p:xfrm>
          <a:off x="8618408" y="2901250"/>
          <a:ext cx="1828800" cy="22021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7030">
                <a:tc>
                  <a:txBody>
                    <a:bodyPr/>
                    <a:lstStyle/>
                    <a:p>
                      <a:pPr marL="2540" algn="ctr">
                        <a:lnSpc>
                          <a:spcPts val="2150"/>
                        </a:lnSpc>
                        <a:spcBef>
                          <a:spcPts val="640"/>
                        </a:spcBef>
                      </a:pPr>
                      <a:r>
                        <a:rPr sz="1800" b="1" spc="-50" dirty="0">
                          <a:solidFill>
                            <a:srgbClr val="DE7400"/>
                          </a:solidFill>
                          <a:latin typeface="Calibri"/>
                          <a:cs typeface="Calibri"/>
                        </a:rPr>
                        <a:t>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12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ts val="2150"/>
                        </a:lnSpc>
                        <a:spcBef>
                          <a:spcPts val="640"/>
                        </a:spcBef>
                      </a:pPr>
                      <a:r>
                        <a:rPr sz="1800" b="1" spc="-25" dirty="0">
                          <a:solidFill>
                            <a:srgbClr val="DE7400"/>
                          </a:solidFill>
                          <a:latin typeface="Calibri"/>
                          <a:cs typeface="Calibri"/>
                        </a:rPr>
                        <a:t>15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12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ts val="2150"/>
                        </a:lnSpc>
                        <a:spcBef>
                          <a:spcPts val="640"/>
                        </a:spcBef>
                      </a:pPr>
                      <a:r>
                        <a:rPr sz="1800" b="1" spc="-25" dirty="0">
                          <a:solidFill>
                            <a:srgbClr val="DE7400"/>
                          </a:solidFill>
                          <a:latin typeface="Calibri"/>
                          <a:cs typeface="Calibri"/>
                        </a:rPr>
                        <a:t>18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12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7030">
                <a:tc>
                  <a:txBody>
                    <a:bodyPr/>
                    <a:lstStyle/>
                    <a:p>
                      <a:pPr marL="2540" algn="ctr">
                        <a:lnSpc>
                          <a:spcPts val="2150"/>
                        </a:lnSpc>
                        <a:spcBef>
                          <a:spcPts val="640"/>
                        </a:spcBef>
                      </a:pPr>
                      <a:r>
                        <a:rPr sz="1800" b="1" spc="-25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18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12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ts val="2150"/>
                        </a:lnSpc>
                        <a:spcBef>
                          <a:spcPts val="640"/>
                        </a:spcBef>
                      </a:pPr>
                      <a:r>
                        <a:rPr sz="1800" b="1" spc="-25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16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12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ts val="2150"/>
                        </a:lnSpc>
                        <a:spcBef>
                          <a:spcPts val="640"/>
                        </a:spcBef>
                      </a:pPr>
                      <a:r>
                        <a:rPr sz="1800" b="1" spc="-25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21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12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7030">
                <a:tc>
                  <a:txBody>
                    <a:bodyPr/>
                    <a:lstStyle/>
                    <a:p>
                      <a:pPr marL="2540" algn="ctr">
                        <a:lnSpc>
                          <a:spcPts val="2150"/>
                        </a:lnSpc>
                        <a:spcBef>
                          <a:spcPts val="640"/>
                        </a:spcBef>
                      </a:pPr>
                      <a:r>
                        <a:rPr sz="1800" b="1" spc="-50" dirty="0">
                          <a:solidFill>
                            <a:srgbClr val="5E9922"/>
                          </a:solidFill>
                          <a:latin typeface="Calibri"/>
                          <a:cs typeface="Calibri"/>
                        </a:rPr>
                        <a:t>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12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ts val="2150"/>
                        </a:lnSpc>
                        <a:spcBef>
                          <a:spcPts val="640"/>
                        </a:spcBef>
                      </a:pPr>
                      <a:r>
                        <a:rPr sz="1800" b="1" spc="-25" dirty="0">
                          <a:solidFill>
                            <a:srgbClr val="5E9922"/>
                          </a:solidFill>
                          <a:latin typeface="Calibri"/>
                          <a:cs typeface="Calibri"/>
                        </a:rPr>
                        <a:t>20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12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ts val="2150"/>
                        </a:lnSpc>
                        <a:spcBef>
                          <a:spcPts val="640"/>
                        </a:spcBef>
                      </a:pPr>
                      <a:r>
                        <a:rPr sz="1800" b="1" spc="-25" dirty="0">
                          <a:solidFill>
                            <a:srgbClr val="5E9922"/>
                          </a:solidFill>
                          <a:latin typeface="Calibri"/>
                          <a:cs typeface="Calibri"/>
                        </a:rPr>
                        <a:t>15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12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7030">
                <a:tc>
                  <a:txBody>
                    <a:bodyPr/>
                    <a:lstStyle/>
                    <a:p>
                      <a:pPr marL="2540" algn="ctr">
                        <a:lnSpc>
                          <a:spcPts val="2150"/>
                        </a:lnSpc>
                        <a:spcBef>
                          <a:spcPts val="640"/>
                        </a:spcBef>
                      </a:pPr>
                      <a:r>
                        <a:rPr sz="1800" b="1" spc="-25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16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12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ts val="2150"/>
                        </a:lnSpc>
                        <a:spcBef>
                          <a:spcPts val="640"/>
                        </a:spcBef>
                      </a:pPr>
                      <a:r>
                        <a:rPr sz="1800" b="1" spc="-50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12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ts val="2150"/>
                        </a:lnSpc>
                        <a:spcBef>
                          <a:spcPts val="640"/>
                        </a:spcBef>
                      </a:pPr>
                      <a:r>
                        <a:rPr sz="1800" b="1" spc="-25" dirty="0">
                          <a:solidFill>
                            <a:srgbClr val="508FD3"/>
                          </a:solidFill>
                          <a:latin typeface="Calibri"/>
                          <a:cs typeface="Calibri"/>
                        </a:rPr>
                        <a:t>12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12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7030">
                <a:tc>
                  <a:txBody>
                    <a:bodyPr/>
                    <a:lstStyle/>
                    <a:p>
                      <a:pPr marL="2540" algn="ctr">
                        <a:lnSpc>
                          <a:spcPts val="2150"/>
                        </a:lnSpc>
                        <a:spcBef>
                          <a:spcPts val="640"/>
                        </a:spcBef>
                      </a:pPr>
                      <a:r>
                        <a:rPr sz="1800" b="1" spc="-25" dirty="0">
                          <a:solidFill>
                            <a:srgbClr val="BE9000"/>
                          </a:solidFill>
                          <a:latin typeface="Calibri"/>
                          <a:cs typeface="Calibri"/>
                        </a:rPr>
                        <a:t>14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12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175" algn="ctr">
                        <a:lnSpc>
                          <a:spcPts val="2150"/>
                        </a:lnSpc>
                        <a:spcBef>
                          <a:spcPts val="640"/>
                        </a:spcBef>
                      </a:pPr>
                      <a:r>
                        <a:rPr sz="1800" b="1" spc="-50" dirty="0">
                          <a:solidFill>
                            <a:srgbClr val="BE9000"/>
                          </a:solidFill>
                          <a:latin typeface="Calibri"/>
                          <a:cs typeface="Calibri"/>
                        </a:rPr>
                        <a:t>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12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ts val="2150"/>
                        </a:lnSpc>
                        <a:spcBef>
                          <a:spcPts val="640"/>
                        </a:spcBef>
                      </a:pPr>
                      <a:r>
                        <a:rPr sz="1800" b="1" spc="-50" dirty="0">
                          <a:solidFill>
                            <a:srgbClr val="BE9000"/>
                          </a:solidFill>
                          <a:latin typeface="Calibri"/>
                          <a:cs typeface="Calibri"/>
                        </a:rPr>
                        <a:t>7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12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7030">
                <a:tc>
                  <a:txBody>
                    <a:bodyPr/>
                    <a:lstStyle/>
                    <a:p>
                      <a:pPr marL="2540" algn="ctr">
                        <a:lnSpc>
                          <a:spcPts val="2150"/>
                        </a:lnSpc>
                        <a:spcBef>
                          <a:spcPts val="640"/>
                        </a:spcBef>
                      </a:pPr>
                      <a:r>
                        <a:rPr sz="1800" b="1" spc="-25" dirty="0">
                          <a:solidFill>
                            <a:srgbClr val="163557"/>
                          </a:solidFill>
                          <a:latin typeface="Calibri"/>
                          <a:cs typeface="Calibri"/>
                        </a:rPr>
                        <a:t>10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12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ts val="2150"/>
                        </a:lnSpc>
                        <a:spcBef>
                          <a:spcPts val="640"/>
                        </a:spcBef>
                      </a:pPr>
                      <a:r>
                        <a:rPr sz="1800" b="1" spc="-25" dirty="0">
                          <a:solidFill>
                            <a:srgbClr val="163557"/>
                          </a:solidFill>
                          <a:latin typeface="Calibri"/>
                          <a:cs typeface="Calibri"/>
                        </a:rPr>
                        <a:t>10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12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540" algn="ctr">
                        <a:lnSpc>
                          <a:spcPts val="2150"/>
                        </a:lnSpc>
                        <a:spcBef>
                          <a:spcPts val="640"/>
                        </a:spcBef>
                      </a:pPr>
                      <a:r>
                        <a:rPr sz="1800" b="1" spc="-50" dirty="0">
                          <a:solidFill>
                            <a:srgbClr val="163557"/>
                          </a:solidFill>
                          <a:latin typeface="Calibri"/>
                          <a:cs typeface="Calibri"/>
                        </a:rPr>
                        <a:t>9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81280" marB="0">
                    <a:lnL w="9525">
                      <a:solidFill>
                        <a:srgbClr val="000000"/>
                      </a:solidFill>
                      <a:prstDash val="solid"/>
                    </a:lnL>
                    <a:lnR w="9525">
                      <a:solidFill>
                        <a:srgbClr val="000000"/>
                      </a:solidFill>
                      <a:prstDash val="solid"/>
                    </a:lnR>
                    <a:lnT w="9525">
                      <a:solidFill>
                        <a:srgbClr val="000000"/>
                      </a:solidFill>
                      <a:prstDash val="solid"/>
                    </a:lnT>
                    <a:lnB w="952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9" name="object 24">
            <a:extLst>
              <a:ext uri="{FF2B5EF4-FFF2-40B4-BE49-F238E27FC236}">
                <a16:creationId xmlns:a16="http://schemas.microsoft.com/office/drawing/2014/main" id="{9419FFCA-6A19-41CA-B7FC-6F6F1146C4E0}"/>
              </a:ext>
            </a:extLst>
          </p:cNvPr>
          <p:cNvSpPr txBox="1"/>
          <p:nvPr/>
        </p:nvSpPr>
        <p:spPr>
          <a:xfrm>
            <a:off x="8009890" y="5106415"/>
            <a:ext cx="3653154" cy="8788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469265" algn="l"/>
              </a:tabLst>
            </a:pPr>
            <a:r>
              <a:rPr sz="2800" b="1" spc="-10" dirty="0">
                <a:solidFill>
                  <a:srgbClr val="163557"/>
                </a:solidFill>
                <a:latin typeface="Calibri"/>
                <a:cs typeface="Calibri"/>
              </a:rPr>
              <a:t>Шифровка:</a:t>
            </a:r>
            <a:endParaRPr sz="2800" dirty="0">
              <a:latin typeface="Calibri"/>
              <a:cs typeface="Calibri"/>
            </a:endParaRPr>
          </a:p>
          <a:p>
            <a:pPr marL="93345">
              <a:lnSpc>
                <a:spcPct val="100000"/>
              </a:lnSpc>
            </a:pPr>
            <a:r>
              <a:rPr sz="2800" spc="-10" dirty="0">
                <a:solidFill>
                  <a:srgbClr val="DE7400"/>
                </a:solidFill>
                <a:latin typeface="Calibri"/>
                <a:cs typeface="Calibri"/>
              </a:rPr>
              <a:t>CPS</a:t>
            </a:r>
            <a:r>
              <a:rPr sz="2800" spc="-10" dirty="0">
                <a:solidFill>
                  <a:srgbClr val="7B3B9F"/>
                </a:solidFill>
                <a:latin typeface="Calibri"/>
                <a:cs typeface="Calibri"/>
              </a:rPr>
              <a:t>SQV</a:t>
            </a:r>
            <a:r>
              <a:rPr sz="2800" spc="-10" dirty="0">
                <a:solidFill>
                  <a:srgbClr val="5E9922"/>
                </a:solidFill>
                <a:latin typeface="Calibri"/>
                <a:cs typeface="Calibri"/>
              </a:rPr>
              <a:t>BUP</a:t>
            </a:r>
            <a:r>
              <a:rPr sz="2800" spc="-10" dirty="0">
                <a:solidFill>
                  <a:srgbClr val="277082"/>
                </a:solidFill>
                <a:latin typeface="Calibri"/>
                <a:cs typeface="Calibri"/>
              </a:rPr>
              <a:t>QFM</a:t>
            </a:r>
            <a:r>
              <a:rPr sz="2800" spc="-10" dirty="0">
                <a:solidFill>
                  <a:srgbClr val="BE9000"/>
                </a:solidFill>
                <a:latin typeface="Calibri"/>
                <a:cs typeface="Calibri"/>
              </a:rPr>
              <a:t>OFH</a:t>
            </a:r>
            <a:r>
              <a:rPr sz="2800" spc="-10" dirty="0">
                <a:solidFill>
                  <a:srgbClr val="163557"/>
                </a:solidFill>
                <a:latin typeface="Calibri"/>
                <a:cs typeface="Calibri"/>
              </a:rPr>
              <a:t>KKJ</a:t>
            </a:r>
            <a:endParaRPr sz="2800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1003371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4368C03-8FD5-4D91-8371-0AEC469A3D7D}"/>
              </a:ext>
            </a:extLst>
          </p:cNvPr>
          <p:cNvSpPr txBox="1"/>
          <p:nvPr/>
        </p:nvSpPr>
        <p:spPr>
          <a:xfrm>
            <a:off x="447676" y="105430"/>
            <a:ext cx="6479592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2800" b="1" spc="-150" dirty="0">
                <a:solidFill>
                  <a:srgbClr val="161D31"/>
                </a:solidFill>
                <a:latin typeface="Calibri"/>
                <a:cs typeface="Calibri"/>
              </a:rPr>
              <a:t>C</a:t>
            </a: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хема протокола шифра в </a:t>
            </a:r>
            <a:r>
              <a:rPr lang="en-US" sz="2800" b="1" spc="-150" dirty="0">
                <a:solidFill>
                  <a:srgbClr val="161D31"/>
                </a:solidFill>
                <a:latin typeface="Calibri"/>
                <a:cs typeface="Calibri"/>
              </a:rPr>
              <a:t>CrypTool2</a:t>
            </a:r>
            <a:endParaRPr lang="ru-RU" sz="2800" b="1" spc="-150" dirty="0">
              <a:solidFill>
                <a:srgbClr val="161D31"/>
              </a:solidFill>
              <a:latin typeface="Calibri"/>
              <a:cs typeface="Calibri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84DB3C0-340B-4CC9-8F46-239E765501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" y="685800"/>
            <a:ext cx="9795027" cy="5287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898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533400" y="152400"/>
            <a:ext cx="11506200" cy="53290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Внешняя спецификация алгоритма расшифрования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Назначение: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расшифрование текста на основе матричного умножения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.</a:t>
            </a:r>
            <a:endParaRPr lang="ru-RU" sz="2600" spc="-15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Входные данные:</a:t>
            </a:r>
            <a:endParaRPr lang="en-US" sz="2600" spc="-15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C (</a:t>
            </a:r>
            <a:r>
              <a:rPr lang="en-US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) —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шифротекст.</a:t>
            </a: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K</a:t>
            </a:r>
            <a:r>
              <a:rPr lang="en-US" sz="2600" spc="-150" baseline="30000" dirty="0">
                <a:solidFill>
                  <a:srgbClr val="161D31"/>
                </a:solidFill>
                <a:latin typeface="Calibri"/>
                <a:cs typeface="Calibri"/>
              </a:rPr>
              <a:t>-1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 (</a:t>
            </a:r>
            <a:r>
              <a:rPr lang="en-US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Integer[][]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) —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обратная матрица-ключ размера 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m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× 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m (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например, 3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× 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3).</a:t>
            </a: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A (</a:t>
            </a:r>
            <a:r>
              <a:rPr lang="en-US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) —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алфавит (английский, 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n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=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26).</a:t>
            </a:r>
            <a:endParaRPr lang="ru-RU" sz="2600" spc="-15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Выходные данные:</a:t>
            </a:r>
            <a:endParaRPr lang="en-US" sz="2600" b="1" spc="-15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P (</a:t>
            </a:r>
            <a:r>
              <a:rPr lang="en-US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) —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открытый текст.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Условия и ограничения: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матрица зашифрования должна быть обратима по модулю n (ее детерминант взаимно прост с n). Длина C кратна m.</a:t>
            </a:r>
            <a:endParaRPr lang="en-US" sz="2600" spc="-15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Математическая модель:</a:t>
            </a:r>
            <a:r>
              <a:rPr lang="en-US" sz="2600" b="1" spc="-150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шифротекст разбивается на векторы-строки по m символов. Каждому вектору C</a:t>
            </a:r>
            <a:r>
              <a:rPr lang="ru-RU" sz="2600" spc="-150" baseline="-25000" dirty="0">
                <a:solidFill>
                  <a:srgbClr val="161D31"/>
                </a:solidFill>
                <a:latin typeface="Calibri"/>
                <a:cs typeface="Calibri"/>
              </a:rPr>
              <a:t>block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ставится в соответствие вектор чисел, который умножается на обратную матрицу ключа по модулю n: P</a:t>
            </a:r>
            <a:r>
              <a:rPr lang="ru-RU" sz="2600" spc="-150" baseline="-25000" dirty="0">
                <a:solidFill>
                  <a:srgbClr val="161D31"/>
                </a:solidFill>
                <a:latin typeface="Calibri"/>
                <a:cs typeface="Calibri"/>
              </a:rPr>
              <a:t>block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= (C</a:t>
            </a:r>
            <a:r>
              <a:rPr lang="ru-RU" sz="2600" spc="-150" baseline="-25000" dirty="0">
                <a:solidFill>
                  <a:srgbClr val="161D31"/>
                </a:solidFill>
                <a:latin typeface="Calibri"/>
                <a:cs typeface="Calibri"/>
              </a:rPr>
              <a:t>block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× K</a:t>
            </a:r>
            <a:r>
              <a:rPr lang="ru-RU" sz="2600" spc="-150" baseline="30000" dirty="0">
                <a:solidFill>
                  <a:srgbClr val="161D31"/>
                </a:solidFill>
                <a:latin typeface="Calibri"/>
                <a:cs typeface="Calibri"/>
              </a:rPr>
              <a:t>-1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) </a:t>
            </a:r>
            <a:r>
              <a:rPr lang="ru-RU" sz="2600" i="1" spc="-150" dirty="0">
                <a:solidFill>
                  <a:srgbClr val="161D31"/>
                </a:solidFill>
                <a:latin typeface="Calibri"/>
                <a:cs typeface="Calibri"/>
              </a:rPr>
              <a:t>mod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n.</a:t>
            </a:r>
          </a:p>
        </p:txBody>
      </p:sp>
    </p:spTree>
    <p:extLst>
      <p:ext uri="{BB962C8B-B14F-4D97-AF65-F5344CB8AC3E}">
        <p14:creationId xmlns:p14="http://schemas.microsoft.com/office/powerpoint/2010/main" val="1457074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3F4AFE5-A83B-458C-A072-08C8DA475824}"/>
              </a:ext>
            </a:extLst>
          </p:cNvPr>
          <p:cNvSpPr txBox="1"/>
          <p:nvPr/>
        </p:nvSpPr>
        <p:spPr>
          <a:xfrm>
            <a:off x="533400" y="152400"/>
            <a:ext cx="2667000" cy="1410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Блок-схема</a:t>
            </a:r>
            <a:endParaRPr lang="en-US" sz="2800" b="1" spc="-15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алгоритма</a:t>
            </a:r>
            <a:endParaRPr lang="en-US" sz="2800" b="1" spc="-15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расшифрования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DB842E1-D2A5-48FA-AC5E-1522B3C6F0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4361" y="0"/>
            <a:ext cx="308327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93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3">
            <a:extLst>
              <a:ext uri="{FF2B5EF4-FFF2-40B4-BE49-F238E27FC236}">
                <a16:creationId xmlns:a16="http://schemas.microsoft.com/office/drawing/2014/main" id="{C0AEC1E7-DAB4-4EAE-943F-EB706DCEFC96}"/>
              </a:ext>
            </a:extLst>
          </p:cNvPr>
          <p:cNvSpPr/>
          <p:nvPr/>
        </p:nvSpPr>
        <p:spPr>
          <a:xfrm>
            <a:off x="457200" y="2277362"/>
            <a:ext cx="427857" cy="300355"/>
          </a:xfrm>
          <a:custGeom>
            <a:avLst/>
            <a:gdLst/>
            <a:ahLst/>
            <a:cxnLst/>
            <a:rect l="l" t="t" r="r" b="b"/>
            <a:pathLst>
              <a:path w="640715" h="370839">
                <a:moveTo>
                  <a:pt x="640435" y="0"/>
                </a:moveTo>
                <a:lnTo>
                  <a:pt x="0" y="0"/>
                </a:lnTo>
                <a:lnTo>
                  <a:pt x="0" y="370801"/>
                </a:lnTo>
                <a:lnTo>
                  <a:pt x="640435" y="370801"/>
                </a:lnTo>
                <a:lnTo>
                  <a:pt x="640435" y="0"/>
                </a:lnTo>
                <a:close/>
              </a:path>
            </a:pathLst>
          </a:custGeom>
          <a:solidFill>
            <a:srgbClr val="FFC27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7943AA6-DB97-45FB-8745-C8DEF185D432}"/>
              </a:ext>
            </a:extLst>
          </p:cNvPr>
          <p:cNvSpPr txBox="1"/>
          <p:nvPr/>
        </p:nvSpPr>
        <p:spPr>
          <a:xfrm>
            <a:off x="609600" y="228600"/>
            <a:ext cx="609600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4000" spc="-150" dirty="0">
                <a:solidFill>
                  <a:srgbClr val="161D31"/>
                </a:solidFill>
                <a:latin typeface="Calibri"/>
                <a:cs typeface="Calibri"/>
              </a:rPr>
              <a:t>Шифр 5.</a:t>
            </a:r>
            <a:r>
              <a:rPr lang="en-US" sz="4000" spc="-150" dirty="0">
                <a:solidFill>
                  <a:srgbClr val="161D31"/>
                </a:solidFill>
                <a:latin typeface="Calibri"/>
                <a:cs typeface="Calibri"/>
              </a:rPr>
              <a:t> ADFGVX</a:t>
            </a:r>
            <a:r>
              <a:rPr lang="ru-RU" sz="4000" spc="-150" dirty="0">
                <a:solidFill>
                  <a:srgbClr val="161D31"/>
                </a:solidFill>
                <a:latin typeface="Calibri"/>
                <a:cs typeface="Calibri"/>
              </a:rPr>
              <a:t>  </a:t>
            </a:r>
          </a:p>
        </p:txBody>
      </p:sp>
      <p:sp>
        <p:nvSpPr>
          <p:cNvPr id="6" name="object 5">
            <a:extLst>
              <a:ext uri="{FF2B5EF4-FFF2-40B4-BE49-F238E27FC236}">
                <a16:creationId xmlns:a16="http://schemas.microsoft.com/office/drawing/2014/main" id="{8EA9738F-E05B-4858-A52F-A6646632079B}"/>
              </a:ext>
            </a:extLst>
          </p:cNvPr>
          <p:cNvSpPr txBox="1"/>
          <p:nvPr/>
        </p:nvSpPr>
        <p:spPr>
          <a:xfrm>
            <a:off x="218942" y="1013564"/>
            <a:ext cx="3410585" cy="727763"/>
          </a:xfrm>
          <a:prstGeom prst="rect">
            <a:avLst/>
          </a:prstGeom>
        </p:spPr>
        <p:txBody>
          <a:bodyPr vert="horz" wrap="square" lIns="0" tIns="60325" rIns="0" bIns="0" rtlCol="0">
            <a:spAutoFit/>
          </a:bodyPr>
          <a:lstStyle/>
          <a:p>
            <a:pPr marL="11430">
              <a:lnSpc>
                <a:spcPct val="100000"/>
              </a:lnSpc>
              <a:spcBef>
                <a:spcPts val="475"/>
              </a:spcBef>
              <a:buSzPct val="96428"/>
              <a:tabLst>
                <a:tab pos="328930" algn="l"/>
              </a:tabLst>
            </a:pPr>
            <a:r>
              <a:rPr sz="2000" b="1" dirty="0">
                <a:solidFill>
                  <a:srgbClr val="163557"/>
                </a:solidFill>
                <a:latin typeface="Calibri"/>
                <a:cs typeface="Calibri"/>
              </a:rPr>
              <a:t>Шаг</a:t>
            </a:r>
            <a:r>
              <a:rPr sz="2000" b="1" spc="-30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sz="2000" b="1" dirty="0">
                <a:solidFill>
                  <a:srgbClr val="163557"/>
                </a:solidFill>
                <a:latin typeface="Calibri"/>
                <a:cs typeface="Calibri"/>
              </a:rPr>
              <a:t>1:</a:t>
            </a:r>
            <a:r>
              <a:rPr sz="2000" b="1" spc="-20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sz="2000" b="1" spc="-10" dirty="0" err="1">
                <a:solidFill>
                  <a:srgbClr val="163557"/>
                </a:solidFill>
                <a:latin typeface="Calibri"/>
                <a:cs typeface="Calibri"/>
              </a:rPr>
              <a:t>Замена</a:t>
            </a:r>
            <a:endParaRPr lang="ru-RU" sz="2000" dirty="0">
              <a:latin typeface="Calibri"/>
              <a:cs typeface="Calibri"/>
            </a:endParaRPr>
          </a:p>
          <a:p>
            <a:pPr marL="400685" lvl="1">
              <a:lnSpc>
                <a:spcPct val="100000"/>
              </a:lnSpc>
              <a:spcBef>
                <a:spcPts val="375"/>
              </a:spcBef>
              <a:tabLst>
                <a:tab pos="857250" algn="l"/>
              </a:tabLst>
            </a:pPr>
            <a:r>
              <a:rPr lang="ru-RU" sz="2000" b="1" dirty="0">
                <a:solidFill>
                  <a:srgbClr val="163557"/>
                </a:solidFill>
                <a:latin typeface="Calibri"/>
                <a:cs typeface="Calibri"/>
              </a:rPr>
              <a:t>Открытый</a:t>
            </a:r>
            <a:r>
              <a:rPr lang="ru-RU" sz="2000" b="1" spc="5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lang="ru-RU" sz="2000" b="1" spc="-10" dirty="0">
                <a:solidFill>
                  <a:srgbClr val="163557"/>
                </a:solidFill>
                <a:latin typeface="Calibri"/>
                <a:cs typeface="Calibri"/>
              </a:rPr>
              <a:t>текст:</a:t>
            </a:r>
            <a:endParaRPr lang="ru-RU" sz="2000" dirty="0">
              <a:latin typeface="Calibri"/>
              <a:cs typeface="Calibri"/>
            </a:endParaRPr>
          </a:p>
        </p:txBody>
      </p:sp>
      <p:sp>
        <p:nvSpPr>
          <p:cNvPr id="8" name="object 6">
            <a:extLst>
              <a:ext uri="{FF2B5EF4-FFF2-40B4-BE49-F238E27FC236}">
                <a16:creationId xmlns:a16="http://schemas.microsoft.com/office/drawing/2014/main" id="{0A273C60-28B8-4465-AE9C-40E9D4395019}"/>
              </a:ext>
            </a:extLst>
          </p:cNvPr>
          <p:cNvSpPr txBox="1"/>
          <p:nvPr/>
        </p:nvSpPr>
        <p:spPr>
          <a:xfrm>
            <a:off x="2514600" y="1448268"/>
            <a:ext cx="2446020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10" dirty="0">
                <a:solidFill>
                  <a:srgbClr val="DE7400"/>
                </a:solidFill>
                <a:latin typeface="Calibri"/>
                <a:cs typeface="Calibri"/>
              </a:rPr>
              <a:t>C</a:t>
            </a:r>
            <a:r>
              <a:rPr sz="2000" spc="-10" dirty="0">
                <a:latin typeface="Calibri"/>
                <a:cs typeface="Calibri"/>
              </a:rPr>
              <a:t>IPHEREXAMPLE</a:t>
            </a:r>
            <a:endParaRPr sz="2800" dirty="0">
              <a:latin typeface="Calibri"/>
              <a:cs typeface="Calibri"/>
            </a:endParaRPr>
          </a:p>
        </p:txBody>
      </p:sp>
      <p:graphicFrame>
        <p:nvGraphicFramePr>
          <p:cNvPr id="10" name="object 4">
            <a:extLst>
              <a:ext uri="{FF2B5EF4-FFF2-40B4-BE49-F238E27FC236}">
                <a16:creationId xmlns:a16="http://schemas.microsoft.com/office/drawing/2014/main" id="{2510884A-E60E-457C-84AA-970BAC850F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68649082"/>
              </p:ext>
            </p:extLst>
          </p:nvPr>
        </p:nvGraphicFramePr>
        <p:xfrm>
          <a:off x="462748" y="1872103"/>
          <a:ext cx="2937598" cy="22466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85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073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96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965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965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196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1965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369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R w="1270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A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D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FFC27E"/>
                    </a:solidFill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G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V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X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056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A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A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B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DE7400"/>
                          </a:solidFill>
                          <a:latin typeface="Calibri"/>
                          <a:cs typeface="Calibri"/>
                        </a:rPr>
                        <a:t>C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D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056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D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G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H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I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J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K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L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056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M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N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O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P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Q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R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056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G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S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T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U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V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W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0569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V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Y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Z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0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1067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7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8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9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object 8">
            <a:extLst>
              <a:ext uri="{FF2B5EF4-FFF2-40B4-BE49-F238E27FC236}">
                <a16:creationId xmlns:a16="http://schemas.microsoft.com/office/drawing/2014/main" id="{809154EB-69E6-4426-AA70-5DE059BFEA12}"/>
              </a:ext>
            </a:extLst>
          </p:cNvPr>
          <p:cNvSpPr/>
          <p:nvPr/>
        </p:nvSpPr>
        <p:spPr>
          <a:xfrm>
            <a:off x="754167" y="2094921"/>
            <a:ext cx="1150834" cy="331786"/>
          </a:xfrm>
          <a:custGeom>
            <a:avLst/>
            <a:gdLst/>
            <a:ahLst/>
            <a:cxnLst/>
            <a:rect l="l" t="t" r="r" b="b"/>
            <a:pathLst>
              <a:path w="1626235" h="448944">
                <a:moveTo>
                  <a:pt x="1597977" y="39497"/>
                </a:moveTo>
                <a:lnTo>
                  <a:pt x="1583905" y="34925"/>
                </a:lnTo>
                <a:lnTo>
                  <a:pt x="1476438" y="0"/>
                </a:lnTo>
                <a:lnTo>
                  <a:pt x="1482115" y="37769"/>
                </a:lnTo>
                <a:lnTo>
                  <a:pt x="0" y="261112"/>
                </a:lnTo>
                <a:lnTo>
                  <a:pt x="5689" y="298831"/>
                </a:lnTo>
                <a:lnTo>
                  <a:pt x="1487779" y="75374"/>
                </a:lnTo>
                <a:lnTo>
                  <a:pt x="1493456" y="113030"/>
                </a:lnTo>
                <a:lnTo>
                  <a:pt x="1597977" y="39497"/>
                </a:lnTo>
                <a:close/>
              </a:path>
              <a:path w="1626235" h="448944">
                <a:moveTo>
                  <a:pt x="1625790" y="410337"/>
                </a:moveTo>
                <a:lnTo>
                  <a:pt x="1625663" y="372491"/>
                </a:lnTo>
                <a:lnTo>
                  <a:pt x="1625663" y="372237"/>
                </a:lnTo>
                <a:lnTo>
                  <a:pt x="145211" y="372491"/>
                </a:lnTo>
                <a:lnTo>
                  <a:pt x="145211" y="334391"/>
                </a:lnTo>
                <a:lnTo>
                  <a:pt x="30924" y="391541"/>
                </a:lnTo>
                <a:lnTo>
                  <a:pt x="145237" y="448691"/>
                </a:lnTo>
                <a:lnTo>
                  <a:pt x="145224" y="410591"/>
                </a:lnTo>
                <a:lnTo>
                  <a:pt x="1625790" y="410337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7">
            <a:extLst>
              <a:ext uri="{FF2B5EF4-FFF2-40B4-BE49-F238E27FC236}">
                <a16:creationId xmlns:a16="http://schemas.microsoft.com/office/drawing/2014/main" id="{34D789D5-35E3-4535-80EA-2FC5BBF3AF7E}"/>
              </a:ext>
            </a:extLst>
          </p:cNvPr>
          <p:cNvSpPr txBox="1"/>
          <p:nvPr/>
        </p:nvSpPr>
        <p:spPr>
          <a:xfrm>
            <a:off x="152400" y="4361147"/>
            <a:ext cx="411480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DE7400"/>
                </a:solidFill>
                <a:latin typeface="Calibri"/>
                <a:cs typeface="Calibri"/>
              </a:rPr>
              <a:t>AF</a:t>
            </a:r>
            <a:r>
              <a:rPr sz="1800" b="1" spc="-30" dirty="0">
                <a:solidFill>
                  <a:srgbClr val="DE7400"/>
                </a:solidFill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DF</a:t>
            </a:r>
            <a:r>
              <a:rPr sz="1800" spc="35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FG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DD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AV</a:t>
            </a:r>
            <a:r>
              <a:rPr sz="1800" spc="-3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FX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AV</a:t>
            </a:r>
            <a:r>
              <a:rPr sz="1800" spc="34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GX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AA</a:t>
            </a:r>
            <a:r>
              <a:rPr sz="1800" spc="355" dirty="0">
                <a:latin typeface="Calibri"/>
                <a:cs typeface="Calibri"/>
              </a:rPr>
              <a:t> </a:t>
            </a:r>
            <a:r>
              <a:rPr sz="1800" spc="-10" dirty="0">
                <a:latin typeface="Calibri"/>
                <a:cs typeface="Calibri"/>
              </a:rPr>
              <a:t>FA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FG</a:t>
            </a:r>
            <a:r>
              <a:rPr sz="1800" spc="-3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DX</a:t>
            </a:r>
            <a:r>
              <a:rPr sz="1800" spc="360" dirty="0">
                <a:latin typeface="Calibri"/>
                <a:cs typeface="Calibri"/>
              </a:rPr>
              <a:t> </a:t>
            </a:r>
            <a:r>
              <a:rPr sz="1800" spc="-25" dirty="0">
                <a:latin typeface="Calibri"/>
                <a:cs typeface="Calibri"/>
              </a:rPr>
              <a:t>AV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13" name="object 3">
            <a:extLst>
              <a:ext uri="{FF2B5EF4-FFF2-40B4-BE49-F238E27FC236}">
                <a16:creationId xmlns:a16="http://schemas.microsoft.com/office/drawing/2014/main" id="{0D18B0C5-C03A-4793-9F7C-CD7219169D73}"/>
              </a:ext>
            </a:extLst>
          </p:cNvPr>
          <p:cNvSpPr txBox="1"/>
          <p:nvPr/>
        </p:nvSpPr>
        <p:spPr>
          <a:xfrm>
            <a:off x="6115050" y="1198468"/>
            <a:ext cx="2205345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469265" algn="l"/>
              </a:tabLst>
            </a:pPr>
            <a:r>
              <a:rPr sz="2000" b="1" dirty="0">
                <a:solidFill>
                  <a:srgbClr val="163557"/>
                </a:solidFill>
                <a:latin typeface="Calibri"/>
                <a:cs typeface="Calibri"/>
              </a:rPr>
              <a:t>Текущий</a:t>
            </a:r>
            <a:r>
              <a:rPr sz="2000" b="1" spc="310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sz="2000" b="1" spc="-10" dirty="0">
                <a:solidFill>
                  <a:srgbClr val="163557"/>
                </a:solidFill>
                <a:latin typeface="Calibri"/>
                <a:cs typeface="Calibri"/>
              </a:rPr>
              <a:t>текст:</a:t>
            </a:r>
            <a:endParaRPr sz="2000" dirty="0">
              <a:latin typeface="Calibri"/>
              <a:cs typeface="Calibri"/>
            </a:endParaRPr>
          </a:p>
        </p:txBody>
      </p:sp>
      <p:sp>
        <p:nvSpPr>
          <p:cNvPr id="14" name="object 6">
            <a:extLst>
              <a:ext uri="{FF2B5EF4-FFF2-40B4-BE49-F238E27FC236}">
                <a16:creationId xmlns:a16="http://schemas.microsoft.com/office/drawing/2014/main" id="{35C138AA-681C-4777-ABB4-2FE705114C65}"/>
              </a:ext>
            </a:extLst>
          </p:cNvPr>
          <p:cNvSpPr txBox="1"/>
          <p:nvPr/>
        </p:nvSpPr>
        <p:spPr>
          <a:xfrm>
            <a:off x="7941665" y="1228604"/>
            <a:ext cx="4174135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latin typeface="Calibri"/>
                <a:cs typeface="Calibri"/>
              </a:rPr>
              <a:t>AF</a:t>
            </a:r>
            <a:r>
              <a:rPr spc="-50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DF</a:t>
            </a:r>
            <a:r>
              <a:rPr spc="-50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FG</a:t>
            </a:r>
            <a:r>
              <a:rPr spc="-35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DD</a:t>
            </a:r>
            <a:r>
              <a:rPr spc="-45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AV</a:t>
            </a:r>
            <a:r>
              <a:rPr spc="-35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FX</a:t>
            </a:r>
            <a:r>
              <a:rPr spc="-40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AV</a:t>
            </a:r>
            <a:r>
              <a:rPr spc="450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GX</a:t>
            </a:r>
            <a:r>
              <a:rPr spc="-40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AA</a:t>
            </a:r>
            <a:r>
              <a:rPr spc="455" dirty="0">
                <a:latin typeface="Calibri"/>
                <a:cs typeface="Calibri"/>
              </a:rPr>
              <a:t> </a:t>
            </a:r>
            <a:r>
              <a:rPr spc="-30" dirty="0">
                <a:latin typeface="Calibri"/>
                <a:cs typeface="Calibri"/>
              </a:rPr>
              <a:t>FA</a:t>
            </a:r>
            <a:r>
              <a:rPr spc="-60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FG</a:t>
            </a:r>
            <a:r>
              <a:rPr spc="-35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DX</a:t>
            </a:r>
            <a:r>
              <a:rPr spc="465" dirty="0">
                <a:latin typeface="Calibri"/>
                <a:cs typeface="Calibri"/>
              </a:rPr>
              <a:t> </a:t>
            </a:r>
            <a:r>
              <a:rPr spc="-25" dirty="0">
                <a:latin typeface="Calibri"/>
                <a:cs typeface="Calibri"/>
              </a:rPr>
              <a:t>AV</a:t>
            </a:r>
            <a:endParaRPr dirty="0">
              <a:latin typeface="Calibri"/>
              <a:cs typeface="Calibri"/>
            </a:endParaRPr>
          </a:p>
        </p:txBody>
      </p:sp>
      <p:graphicFrame>
        <p:nvGraphicFramePr>
          <p:cNvPr id="15" name="object 4">
            <a:extLst>
              <a:ext uri="{FF2B5EF4-FFF2-40B4-BE49-F238E27FC236}">
                <a16:creationId xmlns:a16="http://schemas.microsoft.com/office/drawing/2014/main" id="{D723B887-B9E6-4EEF-A8D9-581770ED6C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742054"/>
              </p:ext>
            </p:extLst>
          </p:nvPr>
        </p:nvGraphicFramePr>
        <p:xfrm>
          <a:off x="5018720" y="1734605"/>
          <a:ext cx="2948315" cy="271817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018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0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1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138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1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138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80466">
                <a:tc>
                  <a:txBody>
                    <a:bodyPr/>
                    <a:lstStyle/>
                    <a:p>
                      <a:pPr marR="235585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O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24154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U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41300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R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43204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K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48920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46379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Y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0466">
                <a:tc>
                  <a:txBody>
                    <a:bodyPr/>
                    <a:lstStyle/>
                    <a:p>
                      <a:pPr marR="254000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41300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47650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47650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47650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47650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0466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A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D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G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25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D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D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A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V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25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A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V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G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A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A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250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A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G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D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3025"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A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1440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V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6" name="object 7">
            <a:extLst>
              <a:ext uri="{FF2B5EF4-FFF2-40B4-BE49-F238E27FC236}">
                <a16:creationId xmlns:a16="http://schemas.microsoft.com/office/drawing/2014/main" id="{379691B9-93E6-403C-B4E5-8C7BAC004492}"/>
              </a:ext>
            </a:extLst>
          </p:cNvPr>
          <p:cNvSpPr txBox="1"/>
          <p:nvPr/>
        </p:nvSpPr>
        <p:spPr>
          <a:xfrm>
            <a:off x="5638800" y="878509"/>
            <a:ext cx="2557542" cy="3199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1430">
              <a:lnSpc>
                <a:spcPct val="100000"/>
              </a:lnSpc>
              <a:spcBef>
                <a:spcPts val="95"/>
              </a:spcBef>
              <a:buSzPct val="96428"/>
              <a:tabLst>
                <a:tab pos="328930" algn="l"/>
              </a:tabLst>
            </a:pPr>
            <a:r>
              <a:rPr lang="ru-RU" sz="2000" b="1" dirty="0">
                <a:solidFill>
                  <a:srgbClr val="163557"/>
                </a:solidFill>
                <a:latin typeface="Calibri"/>
                <a:cs typeface="Calibri"/>
              </a:rPr>
              <a:t>Шаг</a:t>
            </a:r>
            <a:r>
              <a:rPr lang="ru-RU" sz="2000" b="1" spc="-25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lang="ru-RU" sz="2000" b="1" dirty="0">
                <a:solidFill>
                  <a:srgbClr val="163557"/>
                </a:solidFill>
                <a:latin typeface="Calibri"/>
                <a:cs typeface="Calibri"/>
              </a:rPr>
              <a:t>2:</a:t>
            </a:r>
            <a:r>
              <a:rPr lang="ru-RU" sz="2000" b="1" spc="610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lang="ru-RU" sz="2000" b="1" spc="-10" dirty="0">
                <a:solidFill>
                  <a:srgbClr val="163557"/>
                </a:solidFill>
                <a:latin typeface="Calibri"/>
                <a:cs typeface="Calibri"/>
              </a:rPr>
              <a:t>Перестановка</a:t>
            </a:r>
            <a:endParaRPr lang="ru-RU" sz="2000" dirty="0">
              <a:latin typeface="Calibri"/>
              <a:cs typeface="Calibri"/>
            </a:endParaRPr>
          </a:p>
        </p:txBody>
      </p:sp>
      <p:sp>
        <p:nvSpPr>
          <p:cNvPr id="17" name="object 8">
            <a:extLst>
              <a:ext uri="{FF2B5EF4-FFF2-40B4-BE49-F238E27FC236}">
                <a16:creationId xmlns:a16="http://schemas.microsoft.com/office/drawing/2014/main" id="{AF33F3F0-6B3B-4181-9D1A-2C6A1D336557}"/>
              </a:ext>
            </a:extLst>
          </p:cNvPr>
          <p:cNvSpPr txBox="1"/>
          <p:nvPr/>
        </p:nvSpPr>
        <p:spPr>
          <a:xfrm>
            <a:off x="8352145" y="4958096"/>
            <a:ext cx="5097146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1" spc="-10" dirty="0">
                <a:solidFill>
                  <a:srgbClr val="163557"/>
                </a:solidFill>
                <a:latin typeface="Calibri"/>
                <a:cs typeface="Calibri"/>
              </a:rPr>
              <a:t>FFADF</a:t>
            </a:r>
            <a:r>
              <a:rPr b="1" spc="-114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b="1" dirty="0">
                <a:solidFill>
                  <a:srgbClr val="163557"/>
                </a:solidFill>
                <a:latin typeface="Calibri"/>
                <a:cs typeface="Calibri"/>
              </a:rPr>
              <a:t>VXGAD</a:t>
            </a:r>
            <a:r>
              <a:rPr b="1" spc="-85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b="1" spc="-25" dirty="0">
                <a:solidFill>
                  <a:srgbClr val="163557"/>
                </a:solidFill>
                <a:latin typeface="Calibri"/>
                <a:cs typeface="Calibri"/>
              </a:rPr>
              <a:t>AFADA</a:t>
            </a:r>
            <a:r>
              <a:rPr b="1" spc="-105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b="1" dirty="0">
                <a:solidFill>
                  <a:srgbClr val="163557"/>
                </a:solidFill>
                <a:latin typeface="Calibri"/>
                <a:cs typeface="Calibri"/>
              </a:rPr>
              <a:t>GFFDV</a:t>
            </a:r>
            <a:r>
              <a:rPr b="1" spc="-90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b="1" spc="-20" dirty="0">
                <a:solidFill>
                  <a:srgbClr val="163557"/>
                </a:solidFill>
                <a:latin typeface="Calibri"/>
                <a:cs typeface="Calibri"/>
              </a:rPr>
              <a:t>AVGXA</a:t>
            </a:r>
            <a:r>
              <a:rPr b="1" spc="-105" dirty="0">
                <a:solidFill>
                  <a:srgbClr val="163557"/>
                </a:solidFill>
                <a:latin typeface="Calibri"/>
                <a:cs typeface="Calibri"/>
              </a:rPr>
              <a:t> </a:t>
            </a:r>
            <a:r>
              <a:rPr b="1" spc="-50" dirty="0">
                <a:solidFill>
                  <a:srgbClr val="163557"/>
                </a:solidFill>
                <a:latin typeface="Calibri"/>
                <a:cs typeface="Calibri"/>
              </a:rPr>
              <a:t>X</a:t>
            </a:r>
            <a:endParaRPr dirty="0">
              <a:latin typeface="Calibri"/>
              <a:cs typeface="Calibri"/>
            </a:endParaRPr>
          </a:p>
        </p:txBody>
      </p:sp>
      <p:sp>
        <p:nvSpPr>
          <p:cNvPr id="18" name="object 9">
            <a:extLst>
              <a:ext uri="{FF2B5EF4-FFF2-40B4-BE49-F238E27FC236}">
                <a16:creationId xmlns:a16="http://schemas.microsoft.com/office/drawing/2014/main" id="{95BC97FF-8E5C-4444-A1F3-252B66EE15B0}"/>
              </a:ext>
            </a:extLst>
          </p:cNvPr>
          <p:cNvSpPr/>
          <p:nvPr/>
        </p:nvSpPr>
        <p:spPr>
          <a:xfrm>
            <a:off x="8382000" y="2585918"/>
            <a:ext cx="653770" cy="2443282"/>
          </a:xfrm>
          <a:custGeom>
            <a:avLst/>
            <a:gdLst/>
            <a:ahLst/>
            <a:cxnLst/>
            <a:rect l="l" t="t" r="r" b="b"/>
            <a:pathLst>
              <a:path w="719454" h="2145665">
                <a:moveTo>
                  <a:pt x="0" y="2019046"/>
                </a:moveTo>
                <a:lnTo>
                  <a:pt x="19812" y="2145284"/>
                </a:lnTo>
                <a:lnTo>
                  <a:pt x="102536" y="2060321"/>
                </a:lnTo>
                <a:lnTo>
                  <a:pt x="66928" y="2060321"/>
                </a:lnTo>
                <a:lnTo>
                  <a:pt x="30606" y="2048764"/>
                </a:lnTo>
                <a:lnTo>
                  <a:pt x="36384" y="2030623"/>
                </a:lnTo>
                <a:lnTo>
                  <a:pt x="0" y="2019046"/>
                </a:lnTo>
                <a:close/>
              </a:path>
              <a:path w="719454" h="2145665">
                <a:moveTo>
                  <a:pt x="36384" y="2030623"/>
                </a:moveTo>
                <a:lnTo>
                  <a:pt x="30606" y="2048764"/>
                </a:lnTo>
                <a:lnTo>
                  <a:pt x="66928" y="2060321"/>
                </a:lnTo>
                <a:lnTo>
                  <a:pt x="72706" y="2042180"/>
                </a:lnTo>
                <a:lnTo>
                  <a:pt x="36384" y="2030623"/>
                </a:lnTo>
                <a:close/>
              </a:path>
              <a:path w="719454" h="2145665">
                <a:moveTo>
                  <a:pt x="72706" y="2042180"/>
                </a:moveTo>
                <a:lnTo>
                  <a:pt x="66928" y="2060321"/>
                </a:lnTo>
                <a:lnTo>
                  <a:pt x="102536" y="2060321"/>
                </a:lnTo>
                <a:lnTo>
                  <a:pt x="108965" y="2053717"/>
                </a:lnTo>
                <a:lnTo>
                  <a:pt x="72706" y="2042180"/>
                </a:lnTo>
                <a:close/>
              </a:path>
              <a:path w="719454" h="2145665">
                <a:moveTo>
                  <a:pt x="683133" y="0"/>
                </a:moveTo>
                <a:lnTo>
                  <a:pt x="36384" y="2030623"/>
                </a:lnTo>
                <a:lnTo>
                  <a:pt x="72706" y="2042180"/>
                </a:lnTo>
                <a:lnTo>
                  <a:pt x="719454" y="11557"/>
                </a:lnTo>
                <a:lnTo>
                  <a:pt x="683133" y="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19" name="object 10">
            <a:extLst>
              <a:ext uri="{FF2B5EF4-FFF2-40B4-BE49-F238E27FC236}">
                <a16:creationId xmlns:a16="http://schemas.microsoft.com/office/drawing/2014/main" id="{43D96A84-6DCF-4674-8285-78DAEC2542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2420297"/>
              </p:ext>
            </p:extLst>
          </p:nvPr>
        </p:nvGraphicFramePr>
        <p:xfrm>
          <a:off x="8915400" y="1734605"/>
          <a:ext cx="2965068" cy="269610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941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41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41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417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417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417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7268">
                <a:tc>
                  <a:txBody>
                    <a:bodyPr/>
                    <a:lstStyle/>
                    <a:p>
                      <a:pPr marR="221615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E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13995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K</a:t>
                      </a:r>
                      <a:endParaRPr sz="1800" dirty="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199390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O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12090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R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01930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U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16535" algn="r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Y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8046">
                <a:tc>
                  <a:txBody>
                    <a:bodyPr/>
                    <a:lstStyle/>
                    <a:p>
                      <a:pPr marR="219075" algn="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1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18440" algn="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2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18440" algn="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3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18440" algn="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4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18440" algn="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5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tc>
                  <a:txBody>
                    <a:bodyPr/>
                    <a:lstStyle/>
                    <a:p>
                      <a:pPr marR="218440" algn="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spc="-50" dirty="0">
                          <a:solidFill>
                            <a:srgbClr val="7B3B9F"/>
                          </a:solidFill>
                          <a:latin typeface="Calibri"/>
                          <a:cs typeface="Calibri"/>
                        </a:rPr>
                        <a:t>6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  <a:solidFill>
                      <a:srgbClr val="EBDF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268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A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D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65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G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365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8046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V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D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A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D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8046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A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A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G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V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A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8046"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D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G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F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A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X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38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A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92075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spc="-50" dirty="0">
                          <a:latin typeface="Calibri"/>
                          <a:cs typeface="Calibri"/>
                        </a:rPr>
                        <a:t>V</a:t>
                      </a:r>
                      <a:endParaRPr sz="1800">
                        <a:latin typeface="Calibri"/>
                        <a:cs typeface="Calibri"/>
                      </a:endParaRPr>
                    </a:p>
                  </a:txBody>
                  <a:tcPr marL="0" marR="0" marT="3429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7076966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4368C03-8FD5-4D91-8371-0AEC469A3D7D}"/>
              </a:ext>
            </a:extLst>
          </p:cNvPr>
          <p:cNvSpPr txBox="1"/>
          <p:nvPr/>
        </p:nvSpPr>
        <p:spPr>
          <a:xfrm>
            <a:off x="228600" y="73680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Схема протокола шифра в </a:t>
            </a:r>
            <a:r>
              <a:rPr lang="en-US" sz="2800" b="1" spc="-150" dirty="0">
                <a:solidFill>
                  <a:srgbClr val="161D31"/>
                </a:solidFill>
                <a:latin typeface="Calibri"/>
                <a:cs typeface="Calibri"/>
              </a:rPr>
              <a:t>CrypTool2</a:t>
            </a:r>
            <a:endParaRPr lang="ru-RU" sz="2800" b="1" spc="-150" dirty="0">
              <a:solidFill>
                <a:srgbClr val="161D31"/>
              </a:solidFill>
              <a:latin typeface="Calibri"/>
              <a:cs typeface="Calibri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394D8DC-A2BF-46A0-9E9C-0DC6636682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" y="685800"/>
            <a:ext cx="9016775" cy="579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02183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8C03B41-2DF4-40F2-A14A-92BF3FB59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48200"/>
            <a:ext cx="12192000" cy="2248214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33400" y="152400"/>
            <a:ext cx="11430000" cy="65550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Внешняя спецификация алгоритма расшифрования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Назначение: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снятие комбинированного шифрования (обратная столбцовая перестановка → обратная замена координат по сетке 6 × 6)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Входные данные: </a:t>
            </a:r>
            <a:endParaRPr lang="ru-RU" sz="2600" spc="-15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C (</a:t>
            </a:r>
            <a:r>
              <a:rPr lang="ru-RU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) — шифротекст (содержит только буквы A, D, F, G, V, X).</a:t>
            </a: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K</a:t>
            </a:r>
            <a:r>
              <a:rPr lang="ru-RU" sz="2600" spc="-150" baseline="-25000" dirty="0">
                <a:solidFill>
                  <a:srgbClr val="161D31"/>
                </a:solidFill>
                <a:latin typeface="Calibri"/>
                <a:cs typeface="Calibri"/>
              </a:rPr>
              <a:t>trans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(</a:t>
            </a:r>
            <a:r>
              <a:rPr lang="ru-RU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) — пароль перестановки (например, </a:t>
            </a:r>
            <a:r>
              <a:rPr lang="ru-RU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OURKEY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).</a:t>
            </a: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M</a:t>
            </a:r>
            <a:r>
              <a:rPr lang="ru-RU" sz="2600" spc="-150" baseline="-25000" dirty="0">
                <a:solidFill>
                  <a:srgbClr val="161D31"/>
                </a:solidFill>
                <a:latin typeface="Calibri"/>
                <a:cs typeface="Calibri"/>
              </a:rPr>
              <a:t>sub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(</a:t>
            </a:r>
            <a:r>
              <a:rPr lang="ru-RU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Char[6][6]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) — заполненная матрица подстановки.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Выходные данные: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P (</a:t>
            </a:r>
            <a:r>
              <a:rPr lang="en-US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String</a:t>
            </a:r>
            <a:r>
              <a:rPr lang="en-US" sz="2600" spc="-150" dirty="0">
                <a:solidFill>
                  <a:srgbClr val="161D31"/>
                </a:solidFill>
                <a:latin typeface="Calibri"/>
                <a:cs typeface="Calibri"/>
              </a:rPr>
              <a:t>) —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открытый текст.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Условия и ограничения: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длина C четная. В шифротексте нет посторонних символов.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Математическая модель: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dirty="0">
                <a:solidFill>
                  <a:srgbClr val="161D31"/>
                </a:solidFill>
                <a:latin typeface="Calibri"/>
                <a:cs typeface="Calibri"/>
              </a:rPr>
              <a:t>Этап 1: ключ K</a:t>
            </a:r>
            <a:r>
              <a:rPr lang="ru-RU" sz="2600" baseline="-25000" dirty="0">
                <a:solidFill>
                  <a:srgbClr val="161D31"/>
                </a:solidFill>
                <a:latin typeface="Calibri"/>
                <a:cs typeface="Calibri"/>
              </a:rPr>
              <a:t>trans</a:t>
            </a:r>
            <a:r>
              <a:rPr lang="ru-RU" sz="2600" dirty="0">
                <a:solidFill>
                  <a:srgbClr val="161D31"/>
                </a:solidFill>
                <a:latin typeface="Calibri"/>
                <a:cs typeface="Calibri"/>
              </a:rPr>
              <a:t> сортируется по алфавиту. Шифротекст записывается в столбцы под отсортированным ключом. Затем столбцы переставляются в исходный порядок слова K</a:t>
            </a:r>
            <a:r>
              <a:rPr lang="ru-RU" sz="2600" baseline="-25000" dirty="0">
                <a:solidFill>
                  <a:srgbClr val="161D31"/>
                </a:solidFill>
                <a:latin typeface="Calibri"/>
                <a:cs typeface="Calibri"/>
              </a:rPr>
              <a:t>trans</a:t>
            </a:r>
            <a:r>
              <a:rPr lang="ru-RU" sz="2600" dirty="0">
                <a:solidFill>
                  <a:srgbClr val="161D31"/>
                </a:solidFill>
                <a:latin typeface="Calibri"/>
                <a:cs typeface="Calibri"/>
              </a:rPr>
              <a:t>. Текст считывается по строкам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→</a:t>
            </a:r>
            <a:r>
              <a:rPr lang="ru-RU" sz="2600" dirty="0">
                <a:solidFill>
                  <a:srgbClr val="161D31"/>
                </a:solidFill>
                <a:latin typeface="Calibri"/>
                <a:cs typeface="Calibri"/>
              </a:rPr>
              <a:t> промежуточный текст T.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dirty="0">
                <a:solidFill>
                  <a:srgbClr val="161D31"/>
                </a:solidFill>
                <a:latin typeface="Calibri"/>
                <a:cs typeface="Calibri"/>
              </a:rPr>
              <a:t>Этап 2: текст T бьется на пары (строка, столбец). По этим координатам из матрицы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M</a:t>
            </a:r>
            <a:r>
              <a:rPr lang="ru-RU" sz="2600" spc="-150" baseline="-25000" dirty="0">
                <a:solidFill>
                  <a:srgbClr val="161D31"/>
                </a:solidFill>
                <a:latin typeface="Calibri"/>
                <a:cs typeface="Calibri"/>
              </a:rPr>
              <a:t>sub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lang="ru-RU" sz="2600" dirty="0">
                <a:solidFill>
                  <a:srgbClr val="161D31"/>
                </a:solidFill>
                <a:latin typeface="Calibri"/>
                <a:cs typeface="Calibri"/>
              </a:rPr>
              <a:t>извлекаются буквы открытого текста.</a:t>
            </a:r>
          </a:p>
        </p:txBody>
      </p:sp>
    </p:spTree>
    <p:extLst>
      <p:ext uri="{BB962C8B-B14F-4D97-AF65-F5344CB8AC3E}">
        <p14:creationId xmlns:p14="http://schemas.microsoft.com/office/powerpoint/2010/main" val="1751761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3F4AFE5-A83B-458C-A072-08C8DA475824}"/>
              </a:ext>
            </a:extLst>
          </p:cNvPr>
          <p:cNvSpPr txBox="1"/>
          <p:nvPr/>
        </p:nvSpPr>
        <p:spPr>
          <a:xfrm>
            <a:off x="533400" y="152400"/>
            <a:ext cx="2514600" cy="1410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Блок-схема</a:t>
            </a:r>
            <a:endParaRPr lang="en-US" sz="2800" b="1" spc="-15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алгоритма</a:t>
            </a:r>
            <a:endParaRPr lang="en-US" sz="2800" b="1" spc="-15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расшифрования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3B87CEFA-AF62-43AA-8A9A-79A40E1A77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0758" y="0"/>
            <a:ext cx="32504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82920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943AA6-DB97-45FB-8745-C8DEF185D432}"/>
              </a:ext>
            </a:extLst>
          </p:cNvPr>
          <p:cNvSpPr txBox="1"/>
          <p:nvPr/>
        </p:nvSpPr>
        <p:spPr>
          <a:xfrm>
            <a:off x="533400" y="252412"/>
            <a:ext cx="13639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3600" spc="-150" dirty="0">
                <a:solidFill>
                  <a:srgbClr val="161D31"/>
                </a:solidFill>
                <a:latin typeface="Calibri"/>
                <a:cs typeface="Calibri"/>
              </a:rPr>
              <a:t>Шифр </a:t>
            </a:r>
            <a:r>
              <a:rPr lang="en-US" sz="3600" spc="-150" dirty="0">
                <a:solidFill>
                  <a:srgbClr val="161D31"/>
                </a:solidFill>
                <a:latin typeface="Calibri"/>
                <a:cs typeface="Calibri"/>
              </a:rPr>
              <a:t>6</a:t>
            </a:r>
            <a:r>
              <a:rPr lang="ru-RU" sz="3600" spc="-150" dirty="0">
                <a:solidFill>
                  <a:srgbClr val="161D31"/>
                </a:solidFill>
                <a:latin typeface="Calibri"/>
                <a:cs typeface="Calibri"/>
              </a:rPr>
              <a:t>.</a:t>
            </a:r>
            <a:r>
              <a:rPr lang="en-US" sz="3600" spc="-150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lang="ru-RU" sz="3600" spc="-150" dirty="0">
                <a:solidFill>
                  <a:srgbClr val="161D31"/>
                </a:solidFill>
                <a:latin typeface="Calibri"/>
                <a:cs typeface="Calibri"/>
              </a:rPr>
              <a:t>Заданный вариантом. Прототип «Решетки Кардано».  </a:t>
            </a:r>
          </a:p>
        </p:txBody>
      </p:sp>
      <p:sp>
        <p:nvSpPr>
          <p:cNvPr id="6" name="object 4">
            <a:extLst>
              <a:ext uri="{FF2B5EF4-FFF2-40B4-BE49-F238E27FC236}">
                <a16:creationId xmlns:a16="http://schemas.microsoft.com/office/drawing/2014/main" id="{328EB33C-A147-46D1-98E4-6D7911EE0D4A}"/>
              </a:ext>
            </a:extLst>
          </p:cNvPr>
          <p:cNvSpPr txBox="1"/>
          <p:nvPr/>
        </p:nvSpPr>
        <p:spPr>
          <a:xfrm>
            <a:off x="533400" y="990600"/>
            <a:ext cx="11430000" cy="367728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Назначение: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 зашифрование строки байт с использованием вращающейся квадратной матрицы-трафарета (Решётка Кардано).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Входные данные: </a:t>
            </a:r>
            <a:endParaRPr lang="ru-RU" sz="2600" spc="-15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P (</a:t>
            </a:r>
            <a:r>
              <a:rPr lang="ru-RU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 of Bytes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) — исходное сообщение (длина произвольная, например |P|=11).</a:t>
            </a: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K1 (</a:t>
            </a:r>
            <a:r>
              <a:rPr lang="ru-RU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Char[4][4]</a:t>
            </a:r>
            <a:r>
              <a:rPr lang="ru-RU" sz="2600" spc="-150" dirty="0">
                <a:solidFill>
                  <a:srgbClr val="161D31"/>
                </a:solidFill>
                <a:latin typeface="+mj-lt"/>
                <a:cs typeface="Courier New" panose="02070309020205020404" pitchFamily="49" charset="0"/>
              </a:rPr>
              <a:t>)</a:t>
            </a:r>
            <a:r>
              <a:rPr lang="ru-RU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— матрица-трафарет размером 4 × 4, где '0' — отверстие (куда пишем), '#' — закрытая ячейка.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Выходные данные:</a:t>
            </a:r>
          </a:p>
          <a:p>
            <a:pPr marL="469900" indent="-457200" algn="just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C (</a:t>
            </a:r>
            <a:r>
              <a:rPr lang="ru-RU" sz="2600" spc="-150" dirty="0">
                <a:solidFill>
                  <a:srgbClr val="161D3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Array of Bytes</a:t>
            </a: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) — шифротекст.</a:t>
            </a:r>
          </a:p>
        </p:txBody>
      </p:sp>
    </p:spTree>
    <p:extLst>
      <p:ext uri="{BB962C8B-B14F-4D97-AF65-F5344CB8AC3E}">
        <p14:creationId xmlns:p14="http://schemas.microsoft.com/office/powerpoint/2010/main" val="19921660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943AA6-DB97-45FB-8745-C8DEF185D432}"/>
              </a:ext>
            </a:extLst>
          </p:cNvPr>
          <p:cNvSpPr txBox="1"/>
          <p:nvPr/>
        </p:nvSpPr>
        <p:spPr>
          <a:xfrm>
            <a:off x="533400" y="252412"/>
            <a:ext cx="13639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3600" spc="-150" dirty="0">
                <a:solidFill>
                  <a:srgbClr val="161D31"/>
                </a:solidFill>
                <a:latin typeface="Calibri"/>
                <a:cs typeface="Calibri"/>
              </a:rPr>
              <a:t>Шифр </a:t>
            </a:r>
            <a:r>
              <a:rPr lang="en-US" sz="3600" spc="-150" dirty="0">
                <a:solidFill>
                  <a:srgbClr val="161D31"/>
                </a:solidFill>
                <a:latin typeface="Calibri"/>
                <a:cs typeface="Calibri"/>
              </a:rPr>
              <a:t>6</a:t>
            </a:r>
            <a:r>
              <a:rPr lang="ru-RU" sz="3600" spc="-150" dirty="0">
                <a:solidFill>
                  <a:srgbClr val="161D31"/>
                </a:solidFill>
                <a:latin typeface="Calibri"/>
                <a:cs typeface="Calibri"/>
              </a:rPr>
              <a:t>.</a:t>
            </a:r>
            <a:r>
              <a:rPr lang="en-US" sz="3600" spc="-150" dirty="0">
                <a:solidFill>
                  <a:srgbClr val="161D31"/>
                </a:solidFill>
                <a:latin typeface="Calibri"/>
                <a:cs typeface="Calibri"/>
              </a:rPr>
              <a:t> </a:t>
            </a:r>
            <a:r>
              <a:rPr lang="ru-RU" sz="3600" spc="-150" dirty="0">
                <a:solidFill>
                  <a:srgbClr val="161D31"/>
                </a:solidFill>
                <a:latin typeface="Calibri"/>
                <a:cs typeface="Calibri"/>
              </a:rPr>
              <a:t>Заданный вариантом. Прототип «Решетки Кардано». 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BE9EBB3-D355-44E0-96D3-919CAA861FF9}"/>
              </a:ext>
            </a:extLst>
          </p:cNvPr>
          <p:cNvSpPr txBox="1"/>
          <p:nvPr/>
        </p:nvSpPr>
        <p:spPr>
          <a:xfrm>
            <a:off x="609600" y="1066800"/>
            <a:ext cx="11353800" cy="4557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b="1" spc="-150" dirty="0">
                <a:solidFill>
                  <a:srgbClr val="161D31"/>
                </a:solidFill>
                <a:latin typeface="Calibri"/>
                <a:cs typeface="Calibri"/>
              </a:rPr>
              <a:t>Математическая модель (алгоритм зашифрования):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1. Создается пустая рабочая матрица Grid размером 4 × 4.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2. Выполняется 4 итерации (повороты на 0, 90, 180, 270 градусов)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3. На каждой итерации алгоритм проходит по трафарету K1 (сверху вниз, слева направо). Если встречается '0' и в P еще остались байты, очередной байт из P записывается в Grid по тем же координатам.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4. После заполнения доступных отверстий трафарет K1 поворачивается на 90 градусов по часовой стрелке. Формула поворота координат: новая ячейка (r, c) берет значение из старой (3 - c, r).</a:t>
            </a:r>
          </a:p>
          <a:p>
            <a:pPr marL="12700" algn="just">
              <a:lnSpc>
                <a:spcPct val="100000"/>
              </a:lnSpc>
              <a:spcBef>
                <a:spcPts val="95"/>
              </a:spcBef>
            </a:pPr>
            <a:r>
              <a:rPr lang="ru-RU" sz="2600" spc="-150" dirty="0">
                <a:solidFill>
                  <a:srgbClr val="161D31"/>
                </a:solidFill>
                <a:latin typeface="Calibri"/>
                <a:cs typeface="Calibri"/>
              </a:rPr>
              <a:t>5. По завершении 4-х поворотов шифротекст C формируется путем считывания заполненных ячеек матрицы Grid построчно (пропуская пустые ячейки).</a:t>
            </a:r>
          </a:p>
        </p:txBody>
      </p:sp>
    </p:spTree>
    <p:extLst>
      <p:ext uri="{BB962C8B-B14F-4D97-AF65-F5344CB8AC3E}">
        <p14:creationId xmlns:p14="http://schemas.microsoft.com/office/powerpoint/2010/main" val="11292705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03F4AFE5-A83B-458C-A072-08C8DA475824}"/>
              </a:ext>
            </a:extLst>
          </p:cNvPr>
          <p:cNvSpPr txBox="1"/>
          <p:nvPr/>
        </p:nvSpPr>
        <p:spPr>
          <a:xfrm>
            <a:off x="533400" y="152400"/>
            <a:ext cx="2514600" cy="1410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Блок-схема</a:t>
            </a:r>
            <a:endParaRPr lang="en-US" sz="2800" b="1" spc="-15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алгоритма</a:t>
            </a:r>
            <a:endParaRPr lang="en-US" sz="2800" b="1" spc="-150" dirty="0">
              <a:solidFill>
                <a:srgbClr val="161D31"/>
              </a:solidFill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шифрования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42A0BB7-DEA7-435C-AC9A-0535B30C20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18939" y="0"/>
            <a:ext cx="315412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71043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974D6FC-0E5A-4591-9A60-5637D639C2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190500"/>
            <a:ext cx="6019800" cy="609397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3F4AFE5-A83B-458C-A072-08C8DA475824}"/>
              </a:ext>
            </a:extLst>
          </p:cNvPr>
          <p:cNvSpPr txBox="1"/>
          <p:nvPr/>
        </p:nvSpPr>
        <p:spPr>
          <a:xfrm>
            <a:off x="533400" y="152400"/>
            <a:ext cx="43434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ru-RU" sz="2800" b="1" spc="-150" dirty="0">
                <a:solidFill>
                  <a:srgbClr val="161D31"/>
                </a:solidFill>
                <a:latin typeface="Calibri"/>
                <a:cs typeface="Calibri"/>
              </a:rPr>
              <a:t>Программа зашифрования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835CAD-00FA-4C3F-8215-BD72EE14CE79}"/>
              </a:ext>
            </a:extLst>
          </p:cNvPr>
          <p:cNvSpPr txBox="1"/>
          <p:nvPr/>
        </p:nvSpPr>
        <p:spPr>
          <a:xfrm>
            <a:off x="4752975" y="190500"/>
            <a:ext cx="5943600" cy="6294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rotate_matrix_90_cw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"""</a:t>
            </a:r>
            <a:r>
              <a:rPr lang="ru-RU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Поворот матрицы 4</a:t>
            </a:r>
            <a:r>
              <a:rPr lang="en-US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x4 </a:t>
            </a:r>
            <a:r>
              <a:rPr lang="ru-RU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на 90 градусов по часовой стрелке"""</a:t>
            </a:r>
            <a:endParaRPr lang="ru-RU" sz="13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[[</a:t>
            </a:r>
            <a:r>
              <a:rPr lang="en-US" sz="13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matrix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)]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)]</a:t>
            </a:r>
          </a:p>
          <a:p>
            <a:b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r>
              <a:rPr lang="en-US" sz="1300" b="0" dirty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cardano_encrypt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3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K1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Создаем пустую рабочую матрицу 4</a:t>
            </a:r>
            <a:r>
              <a:rPr lang="en-US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x4</a:t>
            </a:r>
            <a:endParaRPr lang="en-US" sz="13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grid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[[</a:t>
            </a:r>
            <a:r>
              <a:rPr lang="en-US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)]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)]</a:t>
            </a: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p_idx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endParaRPr lang="en-US" sz="13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4 </a:t>
            </a:r>
            <a:r>
              <a:rPr lang="ru-RU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положения трафарета (0, 90, 180, 270 градусов)</a:t>
            </a:r>
            <a:endParaRPr lang="ru-RU" sz="13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Запись в отверстия трафарета</a:t>
            </a:r>
            <a:endParaRPr lang="ru-RU" sz="13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K1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'0'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p_idx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len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grid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p_idx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p_idx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+=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endParaRPr lang="en-US" sz="13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Поворот трафарета для следующей итерации</a:t>
            </a:r>
            <a:endParaRPr lang="ru-RU" sz="13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K1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rotate_matrix_90_cw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K1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ru-RU" sz="1300" b="0" dirty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Считывание зашифрованного текста построчно</a:t>
            </a:r>
            <a:endParaRPr lang="ru-RU" sz="13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[]</a:t>
            </a: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):</a:t>
            </a: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grid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 </a:t>
            </a:r>
            <a:r>
              <a:rPr lang="en-US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is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3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300" b="0" dirty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grid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r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sz="1300" b="0" dirty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])</a:t>
            </a: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</a:p>
          <a:p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3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300" b="0" dirty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300" b="0" dirty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C</a:t>
            </a:r>
            <a:endParaRPr lang="en-US" sz="1300" b="0" dirty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3BD7AFA-FA44-4811-9187-561B72B27F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" y="1143000"/>
            <a:ext cx="4401164" cy="523948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5E0F89A7-6C3E-4FFB-B607-C3C6AD45EB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531" y="1960960"/>
            <a:ext cx="4124901" cy="2753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15157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8B6EA3F-1848-450E-BB0E-C0E6F45297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648200"/>
            <a:ext cx="12192000" cy="2248214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152400" y="152400"/>
            <a:ext cx="11658600" cy="707886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245" algn="just">
              <a:lnSpc>
                <a:spcPct val="100000"/>
              </a:lnSpc>
              <a:spcBef>
                <a:spcPts val="100"/>
              </a:spcBef>
            </a:pPr>
            <a:r>
              <a:rPr sz="4800" spc="-55" dirty="0">
                <a:solidFill>
                  <a:srgbClr val="161D31"/>
                </a:solidFill>
              </a:rPr>
              <a:t>Заключение</a:t>
            </a:r>
            <a:endParaRPr sz="4800" dirty="0">
              <a:solidFill>
                <a:srgbClr val="161D31"/>
              </a:solidFill>
            </a:endParaRPr>
          </a:p>
          <a:p>
            <a:pPr marL="182245" algn="just">
              <a:lnSpc>
                <a:spcPct val="100000"/>
              </a:lnSpc>
              <a:spcBef>
                <a:spcPts val="90"/>
              </a:spcBef>
            </a:pPr>
            <a:r>
              <a:rPr sz="3200" dirty="0">
                <a:solidFill>
                  <a:srgbClr val="161D31"/>
                </a:solidFill>
              </a:rPr>
              <a:t>В</a:t>
            </a:r>
            <a:r>
              <a:rPr sz="3200" spc="-310" dirty="0">
                <a:solidFill>
                  <a:srgbClr val="161D31"/>
                </a:solidFill>
              </a:rPr>
              <a:t> </a:t>
            </a:r>
            <a:r>
              <a:rPr sz="3200" spc="-155" dirty="0">
                <a:solidFill>
                  <a:srgbClr val="161D31"/>
                </a:solidFill>
              </a:rPr>
              <a:t>работе</a:t>
            </a:r>
            <a:r>
              <a:rPr sz="3200" spc="-280" dirty="0">
                <a:solidFill>
                  <a:srgbClr val="161D31"/>
                </a:solidFill>
              </a:rPr>
              <a:t> </a:t>
            </a:r>
            <a:r>
              <a:rPr sz="3200" spc="-160" dirty="0">
                <a:solidFill>
                  <a:srgbClr val="161D31"/>
                </a:solidFill>
              </a:rPr>
              <a:t>получены</a:t>
            </a:r>
            <a:r>
              <a:rPr sz="3200" spc="-270" dirty="0">
                <a:solidFill>
                  <a:srgbClr val="161D31"/>
                </a:solidFill>
              </a:rPr>
              <a:t> </a:t>
            </a:r>
            <a:r>
              <a:rPr sz="3200" spc="-165" dirty="0">
                <a:solidFill>
                  <a:srgbClr val="161D31"/>
                </a:solidFill>
              </a:rPr>
              <a:t>следующие</a:t>
            </a:r>
            <a:r>
              <a:rPr sz="3200" spc="-280" dirty="0">
                <a:solidFill>
                  <a:srgbClr val="161D31"/>
                </a:solidFill>
              </a:rPr>
              <a:t> </a:t>
            </a:r>
            <a:r>
              <a:rPr sz="3200" spc="-105" dirty="0">
                <a:solidFill>
                  <a:srgbClr val="161D31"/>
                </a:solidFill>
              </a:rPr>
              <a:t>основные</a:t>
            </a:r>
            <a:r>
              <a:rPr sz="3200" spc="225" dirty="0">
                <a:solidFill>
                  <a:srgbClr val="161D31"/>
                </a:solidFill>
              </a:rPr>
              <a:t> </a:t>
            </a:r>
            <a:r>
              <a:rPr sz="3200" spc="-65" dirty="0">
                <a:solidFill>
                  <a:srgbClr val="161D31"/>
                </a:solidFill>
              </a:rPr>
              <a:t>результаты:</a:t>
            </a:r>
            <a:endParaRPr sz="3200" dirty="0">
              <a:solidFill>
                <a:srgbClr val="161D31"/>
              </a:solidFill>
            </a:endParaRPr>
          </a:p>
          <a:p>
            <a:pPr marL="754380" indent="-741680" algn="just">
              <a:lnSpc>
                <a:spcPct val="100000"/>
              </a:lnSpc>
              <a:spcBef>
                <a:spcPts val="1025"/>
              </a:spcBef>
              <a:buAutoNum type="arabicPeriod"/>
              <a:tabLst>
                <a:tab pos="754380" algn="l"/>
              </a:tabLst>
            </a:pPr>
            <a:r>
              <a:rPr lang="ru-RU" sz="20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Изучен шифр Scytale и выявлены его следующие основные характеристики: простая геометрическая перестановка, ключ – число колонок, взламывается перебором.</a:t>
            </a:r>
          </a:p>
          <a:p>
            <a:pPr marL="754380" indent="-741680" algn="just">
              <a:lnSpc>
                <a:spcPct val="100000"/>
              </a:lnSpc>
              <a:spcBef>
                <a:spcPts val="1025"/>
              </a:spcBef>
              <a:buAutoNum type="arabicPeriod"/>
              <a:tabLst>
                <a:tab pos="754380" algn="l"/>
              </a:tabLst>
            </a:pPr>
            <a:r>
              <a:rPr lang="ru-RU" sz="20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Изучен Агентурный шифр и выявлены его следующие основные характеристики: моноалфавитная подстановка со смешанным алфавитом, ключ – лозунг и сдвиг, взламывается частотным анализом.</a:t>
            </a:r>
          </a:p>
          <a:p>
            <a:pPr marL="754380" indent="-741680" algn="just">
              <a:lnSpc>
                <a:spcPct val="100000"/>
              </a:lnSpc>
              <a:spcBef>
                <a:spcPts val="1025"/>
              </a:spcBef>
              <a:buAutoNum type="arabicPeriod"/>
              <a:tabLst>
                <a:tab pos="754380" algn="l"/>
              </a:tabLst>
            </a:pPr>
            <a:r>
              <a:rPr lang="ru-RU" sz="20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Изучен шифр Vigenere и выявлены его следующие основные характеристики: </a:t>
            </a:r>
            <a:r>
              <a:rPr lang="ru-RU" sz="2000" i="1" spc="-1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полиалфавитный</a:t>
            </a:r>
            <a:r>
              <a:rPr lang="ru-RU" sz="20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шифр с периодическим ключом, ломается автокорреляцией и частотным анализом.</a:t>
            </a:r>
          </a:p>
          <a:p>
            <a:pPr marL="754380" indent="-741680" algn="just">
              <a:lnSpc>
                <a:spcPct val="100000"/>
              </a:lnSpc>
              <a:spcBef>
                <a:spcPts val="1025"/>
              </a:spcBef>
              <a:buAutoNum type="arabicPeriod"/>
              <a:tabLst>
                <a:tab pos="754380" algn="l"/>
              </a:tabLst>
            </a:pPr>
            <a:r>
              <a:rPr lang="ru-RU" sz="20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Изучен шифр Hill и выявлены его следующие основные характеристики: блочный .обратимая матрица, возможна атака на ключ на основе матричный шифр, ключ знания исходного текста.</a:t>
            </a:r>
          </a:p>
          <a:p>
            <a:pPr marL="754380" indent="-741680" algn="just">
              <a:lnSpc>
                <a:spcPct val="100000"/>
              </a:lnSpc>
              <a:spcBef>
                <a:spcPts val="1025"/>
              </a:spcBef>
              <a:buAutoNum type="arabicPeriod"/>
              <a:tabLst>
                <a:tab pos="754380" algn="l"/>
              </a:tabLst>
            </a:pPr>
            <a:r>
              <a:rPr lang="ru-RU" sz="20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Изучен шифр ADFGVX и выявлены его следующие основные характеристики: сочетание таблицы Полибия и транспозиции, усложненное шифрование, но взламывается определением перестановки и частотным анализом.</a:t>
            </a:r>
          </a:p>
          <a:p>
            <a:pPr marL="754380" indent="-741680" algn="just">
              <a:lnSpc>
                <a:spcPct val="100000"/>
              </a:lnSpc>
              <a:spcBef>
                <a:spcPts val="1025"/>
              </a:spcBef>
              <a:buAutoNum type="arabicPeriod"/>
              <a:tabLst>
                <a:tab pos="754380" algn="l"/>
              </a:tabLst>
            </a:pPr>
            <a:r>
              <a:rPr lang="ru-RU" sz="2000" i="1" spc="-10" dirty="0">
                <a:solidFill>
                  <a:srgbClr val="161D31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Изучен шифр по заданному варианту (Решетка Кардано): разработана блок-схема и написана программа зашифрования алгоритма трафаретной перестановки с вращающейся матрицей 4x4.</a:t>
            </a:r>
          </a:p>
          <a:p>
            <a:pPr marL="754380" indent="-741680" algn="just">
              <a:lnSpc>
                <a:spcPct val="100000"/>
              </a:lnSpc>
              <a:spcBef>
                <a:spcPts val="1025"/>
              </a:spcBef>
              <a:buAutoNum type="arabicPeriod"/>
              <a:tabLst>
                <a:tab pos="754380" algn="l"/>
              </a:tabLst>
            </a:pPr>
            <a:endParaRPr sz="2000" dirty="0">
              <a:solidFill>
                <a:srgbClr val="161D3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443</TotalTime>
  <Words>2336</Words>
  <Application>Microsoft Office PowerPoint</Application>
  <PresentationFormat>Широкоэкранный</PresentationFormat>
  <Paragraphs>689</Paragraphs>
  <Slides>27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3" baseType="lpstr">
      <vt:lpstr>Arial</vt:lpstr>
      <vt:lpstr>Calibri</vt:lpstr>
      <vt:lpstr>Consolas</vt:lpstr>
      <vt:lpstr>Courier New</vt:lpstr>
      <vt:lpstr>Times New Roman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Криптографические методы защиты информации</dc:title>
  <dc:creator>Tutor</dc:creator>
  <cp:lastModifiedBy>Марков Марк</cp:lastModifiedBy>
  <cp:revision>80</cp:revision>
  <dcterms:created xsi:type="dcterms:W3CDTF">2026-09-21T21:22:51Z</dcterms:created>
  <dcterms:modified xsi:type="dcterms:W3CDTF">2026-09-28T21:19:41Z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2026-09-15T00:00:00Z</vt:filetime>
  </property>
  <property fmtid="{D5CDD505-2E9C-101B-9397-08002B2CF9AE}" pid="4" name="Creator">
    <vt:lpwstr>Microsoft® PowerPoint® 2016</vt:lpwstr>
  </property>
  <property fmtid="{D5CDD505-2E9C-101B-9397-08002B2CF9AE}" pid="5" name="LastSaved">
    <vt:filetime>2026-09-21T00:00:00Z</vt:filetime>
  </property>
  <property fmtid="{D5CDD505-2E9C-101B-9397-08002B2CF9AE}" pid="6" name="Producer">
    <vt:lpwstr>Microsoft® PowerPoint® 2016</vt:lpwstr>
  </property>
</Properties>
</file>