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86" r:id="rId4"/>
    <p:sldId id="267" r:id="rId5"/>
    <p:sldId id="264" r:id="rId6"/>
    <p:sldId id="266" r:id="rId7"/>
    <p:sldId id="268" r:id="rId8"/>
    <p:sldId id="287" r:id="rId9"/>
    <p:sldId id="274" r:id="rId10"/>
    <p:sldId id="273" r:id="rId11"/>
    <p:sldId id="288" r:id="rId12"/>
    <p:sldId id="269" r:id="rId13"/>
    <p:sldId id="276" r:id="rId14"/>
    <p:sldId id="275" r:id="rId15"/>
    <p:sldId id="270" r:id="rId16"/>
    <p:sldId id="289" r:id="rId17"/>
    <p:sldId id="277" r:id="rId18"/>
    <p:sldId id="278" r:id="rId19"/>
    <p:sldId id="271" r:id="rId20"/>
    <p:sldId id="290" r:id="rId21"/>
    <p:sldId id="279" r:id="rId22"/>
    <p:sldId id="280" r:id="rId23"/>
    <p:sldId id="283" r:id="rId24"/>
    <p:sldId id="284" r:id="rId25"/>
    <p:sldId id="282" r:id="rId26"/>
    <p:sldId id="285" r:id="rId27"/>
    <p:sldId id="263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654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008758"/>
            <a:ext cx="12191746" cy="848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-125780"/>
            <a:ext cx="12217400" cy="1007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239" y="1034872"/>
            <a:ext cx="10883900" cy="4465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51148" y="228600"/>
            <a:ext cx="6489700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2460" marR="5080" indent="-620395">
              <a:lnSpc>
                <a:spcPct val="100499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Санкт-Петербургский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государственный электротехнический </a:t>
            </a:r>
            <a:r>
              <a:rPr sz="2000" dirty="0">
                <a:latin typeface="Calibri"/>
                <a:cs typeface="Calibri"/>
              </a:rPr>
              <a:t>университет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«ЛЭТИ»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им.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В.И.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Ульянова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(Ленина)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9342" y="1600200"/>
            <a:ext cx="7473315" cy="204286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  <a:tabLst>
                <a:tab pos="3475990" algn="l"/>
              </a:tabLst>
            </a:pPr>
            <a:r>
              <a:rPr sz="2800" spc="-10" dirty="0">
                <a:latin typeface="Calibri"/>
                <a:cs typeface="Calibri"/>
              </a:rPr>
              <a:t>Лабораторная </a:t>
            </a:r>
            <a:r>
              <a:rPr sz="2800" dirty="0">
                <a:latin typeface="Calibri"/>
                <a:cs typeface="Calibri"/>
              </a:rPr>
              <a:t>№ 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lang="ru-RU" sz="4800" i="1" spc="-155" dirty="0">
                <a:solidFill>
                  <a:schemeClr val="tx1"/>
                </a:solidFill>
                <a:latin typeface="Calibri"/>
                <a:cs typeface="Calibri"/>
              </a:rPr>
              <a:t>Изучение шести классических шифров</a:t>
            </a:r>
            <a:endParaRPr sz="4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3186" y="3962400"/>
            <a:ext cx="9445625" cy="1718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  <a:tabLst>
                <a:tab pos="4105910" algn="l"/>
              </a:tabLst>
            </a:pPr>
            <a:r>
              <a:rPr sz="2800" dirty="0">
                <a:latin typeface="Calibri"/>
                <a:cs typeface="Calibri"/>
              </a:rPr>
              <a:t>Студент: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ru-RU" sz="2800" i="1" dirty="0">
                <a:solidFill>
                  <a:schemeClr val="tx1"/>
                </a:solidFill>
                <a:latin typeface="Calibri"/>
                <a:cs typeface="Calibri"/>
              </a:rPr>
              <a:t>Марков</a:t>
            </a:r>
            <a:r>
              <a:rPr lang="ru-RU" sz="2800" i="1" spc="-65" dirty="0">
                <a:solidFill>
                  <a:schemeClr val="tx1"/>
                </a:solidFill>
                <a:latin typeface="Calibri"/>
                <a:cs typeface="Calibri"/>
              </a:rPr>
              <a:t> Марк</a:t>
            </a:r>
            <a:r>
              <a:rPr lang="ru-RU" sz="2800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chemeClr val="tx1"/>
                </a:solidFill>
                <a:latin typeface="Calibri"/>
                <a:cs typeface="Calibri"/>
              </a:rPr>
              <a:t>,</a:t>
            </a:r>
            <a:r>
              <a:rPr sz="2800" i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группа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ru-RU" sz="2800" i="1" spc="-2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sz="2800" i="1" spc="-2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lang="ru-RU" sz="2800" i="1" spc="-20" dirty="0">
                <a:solidFill>
                  <a:schemeClr val="tx1"/>
                </a:solidFill>
                <a:latin typeface="Calibri"/>
                <a:cs typeface="Calibri"/>
              </a:rPr>
              <a:t>81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tabLst>
                <a:tab pos="4222750" algn="l"/>
              </a:tabLst>
            </a:pPr>
            <a:r>
              <a:rPr sz="2800" spc="-10" dirty="0">
                <a:latin typeface="Calibri"/>
                <a:cs typeface="Calibri"/>
              </a:rPr>
              <a:t>Руководитель: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dirty="0">
                <a:latin typeface="Calibri"/>
                <a:cs typeface="Calibri"/>
              </a:rPr>
              <a:t>Племянников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А.К.,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доцент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каф.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ИБ</a:t>
            </a:r>
            <a:endParaRPr sz="2800" dirty="0">
              <a:latin typeface="Calibri"/>
              <a:cs typeface="Calibri"/>
            </a:endParaRPr>
          </a:p>
          <a:p>
            <a:pPr marL="2011680">
              <a:lnSpc>
                <a:spcPct val="150000"/>
              </a:lnSpc>
            </a:pPr>
            <a:r>
              <a:rPr sz="2000" spc="-10" dirty="0" err="1">
                <a:latin typeface="Calibri"/>
                <a:cs typeface="Calibri"/>
              </a:rPr>
              <a:t>Сан</a:t>
            </a:r>
            <a:r>
              <a:rPr lang="ru-RU" sz="2000" spc="-10" dirty="0">
                <a:latin typeface="Calibri"/>
                <a:cs typeface="Calibri"/>
              </a:rPr>
              <a:t>к</a:t>
            </a:r>
            <a:r>
              <a:rPr sz="2000" spc="-10" dirty="0">
                <a:latin typeface="Calibri"/>
                <a:cs typeface="Calibri"/>
              </a:rPr>
              <a:t>т-</a:t>
            </a:r>
            <a:r>
              <a:rPr sz="2000" dirty="0" err="1">
                <a:latin typeface="Calibri"/>
                <a:cs typeface="Calibri"/>
              </a:rPr>
              <a:t>Петербург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2026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8600" y="152400"/>
            <a:ext cx="11734800" cy="61517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4000" spc="-150" dirty="0">
                <a:solidFill>
                  <a:srgbClr val="161D31"/>
                </a:solidFill>
                <a:latin typeface="Calibri"/>
                <a:cs typeface="Calibri"/>
              </a:rPr>
              <a:t>Цель.</a:t>
            </a:r>
            <a:r>
              <a:rPr sz="4000" spc="-22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3200" dirty="0">
                <a:solidFill>
                  <a:srgbClr val="161D31"/>
                </a:solidFill>
                <a:latin typeface="Calibri"/>
                <a:cs typeface="Calibri"/>
              </a:rPr>
              <a:t>Повышение</a:t>
            </a:r>
            <a:r>
              <a:rPr lang="ru-RU" sz="3200" spc="-9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3200" spc="-10" dirty="0">
                <a:solidFill>
                  <a:srgbClr val="161D31"/>
                </a:solidFill>
                <a:latin typeface="Calibri"/>
                <a:cs typeface="Calibri"/>
              </a:rPr>
              <a:t>компетентности</a:t>
            </a:r>
            <a:r>
              <a:rPr lang="ru-RU" sz="3200" spc="-75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3200" dirty="0">
                <a:solidFill>
                  <a:srgbClr val="161D31"/>
                </a:solidFill>
                <a:latin typeface="Calibri"/>
                <a:cs typeface="Calibri"/>
              </a:rPr>
              <a:t>в зашифрования и расшифрования шести классических шифров.</a:t>
            </a:r>
          </a:p>
          <a:p>
            <a:pPr marL="12700" marR="344805" algn="just">
              <a:lnSpc>
                <a:spcPct val="100699"/>
              </a:lnSpc>
            </a:pPr>
            <a:endParaRPr lang="ru-RU" sz="320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marR="344805" algn="just">
              <a:lnSpc>
                <a:spcPct val="100699"/>
              </a:lnSpc>
            </a:pPr>
            <a:r>
              <a:rPr sz="3200" dirty="0" err="1">
                <a:solidFill>
                  <a:srgbClr val="161D31"/>
                </a:solidFill>
                <a:latin typeface="Calibri"/>
                <a:cs typeface="Calibri"/>
              </a:rPr>
              <a:t>Для</a:t>
            </a:r>
            <a:r>
              <a:rPr sz="3200" spc="-95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достижения</a:t>
            </a:r>
            <a:r>
              <a:rPr sz="3200" spc="-10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поставленной</a:t>
            </a:r>
            <a:r>
              <a:rPr sz="3200" spc="-125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цели</a:t>
            </a:r>
            <a:r>
              <a:rPr sz="3200" spc="-114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предстояло</a:t>
            </a:r>
            <a:r>
              <a:rPr sz="3200" spc="-10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D31"/>
                </a:solidFill>
                <a:latin typeface="Calibri"/>
                <a:cs typeface="Calibri"/>
              </a:rPr>
              <a:t>решить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следующие</a:t>
            </a:r>
            <a:r>
              <a:rPr sz="3200" spc="-65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D31"/>
                </a:solidFill>
                <a:latin typeface="Calibri"/>
                <a:cs typeface="Calibri"/>
              </a:rPr>
              <a:t>основные</a:t>
            </a:r>
            <a:r>
              <a:rPr sz="3200" spc="-6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sz="3200" spc="-10" dirty="0" err="1">
                <a:solidFill>
                  <a:srgbClr val="161D31"/>
                </a:solidFill>
                <a:latin typeface="Calibri"/>
                <a:cs typeface="Calibri"/>
              </a:rPr>
              <a:t>задачи</a:t>
            </a:r>
            <a:r>
              <a:rPr sz="3200" spc="-10" dirty="0">
                <a:solidFill>
                  <a:srgbClr val="161D31"/>
                </a:solidFill>
                <a:latin typeface="Calibri"/>
                <a:cs typeface="Calibri"/>
              </a:rPr>
              <a:t>:</a:t>
            </a:r>
            <a:endParaRPr lang="ru-RU" sz="3200" spc="-1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764540" indent="-741680" algn="just">
              <a:spcBef>
                <a:spcPts val="1190"/>
              </a:spcBef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 «</a:t>
            </a:r>
            <a:r>
              <a:rPr lang="en-US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Scytale</a:t>
            </a: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»</a:t>
            </a:r>
          </a:p>
          <a:p>
            <a:pPr marL="764540" indent="-741680" algn="just">
              <a:spcBef>
                <a:spcPts val="1190"/>
              </a:spcBef>
              <a:buFontTx/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 «Агентурный»</a:t>
            </a:r>
          </a:p>
          <a:p>
            <a:pPr marL="764540" indent="-741680" algn="just">
              <a:spcBef>
                <a:spcPts val="1190"/>
              </a:spcBef>
              <a:buFontTx/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 «</a:t>
            </a:r>
            <a:r>
              <a:rPr lang="en-US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Vigenere</a:t>
            </a: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»</a:t>
            </a:r>
          </a:p>
          <a:p>
            <a:pPr marL="764540" indent="-741680" algn="just">
              <a:spcBef>
                <a:spcPts val="1190"/>
              </a:spcBef>
              <a:buFontTx/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 «</a:t>
            </a:r>
            <a:r>
              <a:rPr lang="en-US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Hill</a:t>
            </a: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»</a:t>
            </a:r>
          </a:p>
          <a:p>
            <a:pPr marL="764540" indent="-741680" algn="just">
              <a:spcBef>
                <a:spcPts val="1190"/>
              </a:spcBef>
              <a:buFontTx/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 «</a:t>
            </a:r>
            <a:r>
              <a:rPr lang="en-US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ADFGVX</a:t>
            </a: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»</a:t>
            </a:r>
          </a:p>
          <a:p>
            <a:pPr marL="764540" indent="-741680" algn="just">
              <a:spcBef>
                <a:spcPts val="1190"/>
              </a:spcBef>
              <a:buFontTx/>
              <a:buAutoNum type="arabicPeriod"/>
              <a:tabLst>
                <a:tab pos="764540" algn="l"/>
              </a:tabLst>
            </a:pP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Изучить и исследовать шифр</a:t>
            </a:r>
            <a:r>
              <a:rPr lang="en-US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 </a:t>
            </a:r>
            <a:r>
              <a:rPr lang="ru-RU" sz="22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заданный 4 вариантом, прототип «Решётки Кардано»</a:t>
            </a:r>
          </a:p>
          <a:p>
            <a:pPr marL="764540" indent="-741680" algn="just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764540" algn="l"/>
              </a:tabLst>
            </a:pPr>
            <a:endParaRPr lang="ru-RU" sz="280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6096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Шифр 1. Сцитала (Scytale)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9139E-7DA1-401A-A431-5B5651BC2D55}"/>
              </a:ext>
            </a:extLst>
          </p:cNvPr>
          <p:cNvSpPr txBox="1"/>
          <p:nvPr/>
        </p:nvSpPr>
        <p:spPr>
          <a:xfrm>
            <a:off x="461898" y="2029832"/>
            <a:ext cx="5037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345">
              <a:lnSpc>
                <a:spcPct val="100000"/>
              </a:lnSpc>
            </a:pP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ПРИМЕР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ШИФРАС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ЦИТАЛА</a:t>
            </a:r>
            <a:endParaRPr lang="ru-RU" sz="3200" dirty="0">
              <a:latin typeface="Calibri"/>
              <a:cs typeface="Calibri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3EF5952-D226-4792-8305-486B33F9B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986611"/>
              </p:ext>
            </p:extLst>
          </p:nvPr>
        </p:nvGraphicFramePr>
        <p:xfrm>
          <a:off x="5810425" y="2458619"/>
          <a:ext cx="5181600" cy="169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0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16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П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М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Е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16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Ш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Ф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С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16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Ц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Т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9E9BD71-41CB-4996-8688-A20E8001BAFD}"/>
              </a:ext>
            </a:extLst>
          </p:cNvPr>
          <p:cNvSpPr txBox="1"/>
          <p:nvPr/>
        </p:nvSpPr>
        <p:spPr>
          <a:xfrm>
            <a:off x="546709" y="1591131"/>
            <a:ext cx="33924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Открытый</a:t>
            </a:r>
            <a:r>
              <a:rPr lang="ru-RU" sz="3200" b="1" spc="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spc="-10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endParaRPr lang="ru-RU" sz="3200" dirty="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6891F-1447-4326-9C5C-1AEE34B6D2DE}"/>
              </a:ext>
            </a:extLst>
          </p:cNvPr>
          <p:cNvSpPr txBox="1"/>
          <p:nvPr/>
        </p:nvSpPr>
        <p:spPr>
          <a:xfrm>
            <a:off x="5512410" y="1752600"/>
            <a:ext cx="62481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Ключ</a:t>
            </a:r>
            <a:r>
              <a:rPr lang="ru-RU" sz="3200" b="1" spc="54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(сдвиг</a:t>
            </a:r>
            <a:r>
              <a:rPr lang="ru-RU" sz="3200" b="1" spc="-4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+</a:t>
            </a:r>
            <a:r>
              <a:rPr lang="ru-RU" sz="3200" b="1" spc="-5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толщина):</a:t>
            </a:r>
            <a:r>
              <a:rPr lang="ru-RU" sz="3200" b="1" spc="57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dirty="0">
                <a:solidFill>
                  <a:srgbClr val="163557"/>
                </a:solidFill>
                <a:latin typeface="Calibri"/>
                <a:cs typeface="Calibri"/>
              </a:rPr>
              <a:t>&gt;&gt;0</a:t>
            </a:r>
            <a:r>
              <a:rPr lang="ru-RU" sz="3200" b="1" spc="-3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3200" b="1" spc="-25" dirty="0">
                <a:solidFill>
                  <a:srgbClr val="163557"/>
                </a:solidFill>
                <a:latin typeface="Calibri"/>
                <a:cs typeface="Calibri"/>
              </a:rPr>
              <a:t>+3</a:t>
            </a:r>
            <a:endParaRPr lang="ru-RU" sz="3200" dirty="0">
              <a:latin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F5769-435F-4B19-922F-DE395027B17F}"/>
              </a:ext>
            </a:extLst>
          </p:cNvPr>
          <p:cNvSpPr txBox="1"/>
          <p:nvPr/>
        </p:nvSpPr>
        <p:spPr>
          <a:xfrm>
            <a:off x="553756" y="3304867"/>
            <a:ext cx="2759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lang="ru-RU" sz="3200" b="1" spc="-10" dirty="0" err="1">
                <a:solidFill>
                  <a:srgbClr val="163557"/>
                </a:solidFill>
                <a:latin typeface="Calibri"/>
                <a:cs typeface="Calibri"/>
              </a:rPr>
              <a:t>Шифротекст</a:t>
            </a:r>
            <a:r>
              <a:rPr lang="ru-RU" sz="3200" b="1" spc="-10" dirty="0">
                <a:solidFill>
                  <a:srgbClr val="163557"/>
                </a:solidFill>
                <a:latin typeface="Calibri"/>
                <a:cs typeface="Calibri"/>
              </a:rPr>
              <a:t>:</a:t>
            </a:r>
            <a:endParaRPr lang="ru-RU" sz="3200" dirty="0">
              <a:latin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12347-ED95-4D4C-8336-3523555BECBC}"/>
              </a:ext>
            </a:extLst>
          </p:cNvPr>
          <p:cNvSpPr txBox="1"/>
          <p:nvPr/>
        </p:nvSpPr>
        <p:spPr>
          <a:xfrm>
            <a:off x="461898" y="3707953"/>
            <a:ext cx="5244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345">
              <a:lnSpc>
                <a:spcPct val="100000"/>
              </a:lnSpc>
              <a:spcBef>
                <a:spcPts val="3360"/>
              </a:spcBef>
            </a:pP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П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Ш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Ц</a:t>
            </a: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Р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И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И</a:t>
            </a: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И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Ф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Т</a:t>
            </a: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М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Р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А</a:t>
            </a: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Е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А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Л</a:t>
            </a:r>
            <a:r>
              <a:rPr lang="ru-RU" sz="3200" spc="-10" dirty="0">
                <a:solidFill>
                  <a:srgbClr val="DE7400"/>
                </a:solidFill>
                <a:latin typeface="Calibri"/>
                <a:cs typeface="Calibri"/>
              </a:rPr>
              <a:t>Р</a:t>
            </a:r>
            <a:r>
              <a:rPr lang="ru-RU" sz="3200" spc="-10" dirty="0">
                <a:solidFill>
                  <a:srgbClr val="5E9922"/>
                </a:solidFill>
                <a:latin typeface="Calibri"/>
                <a:cs typeface="Calibri"/>
              </a:rPr>
              <a:t>С</a:t>
            </a:r>
            <a:r>
              <a:rPr lang="ru-RU" sz="3200" spc="-10" dirty="0">
                <a:solidFill>
                  <a:srgbClr val="7B3B9F"/>
                </a:solidFill>
                <a:latin typeface="Calibri"/>
                <a:cs typeface="Calibri"/>
              </a:rPr>
              <a:t>А</a:t>
            </a:r>
            <a:endParaRPr lang="ru-RU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26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E483E1-EDFA-4540-B421-9E3910A0D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" y="1143000"/>
            <a:ext cx="12169628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368C03-8FD5-4D91-8371-0AEC469A3D7D}"/>
              </a:ext>
            </a:extLst>
          </p:cNvPr>
          <p:cNvSpPr txBox="1"/>
          <p:nvPr/>
        </p:nvSpPr>
        <p:spPr>
          <a:xfrm>
            <a:off x="634651" y="2286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</a:t>
            </a: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хема протокола шифра в </a:t>
            </a: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CrypTool2</a:t>
            </a:r>
            <a:endParaRPr lang="ru-RU" sz="2800" b="1" spc="-15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8283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152400"/>
            <a:ext cx="10114915" cy="57163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Внешняя спецификация алгоритма расшифрования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восстановление открытого текста, зашифрованного методом геометрической перестановки (запись по строкам, считывание по столбцам).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</a:t>
            </a:r>
          </a:p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шифротекст.</a:t>
            </a:r>
          </a:p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m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ключ (толщина / количество строк).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</a:p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расшифрованный открытый текст.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Условия и ограничения: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ключ m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&gt; 1. Длина текста L должна быть кратна m. Если нет — шифротекст при зашифровании дополнялся незначащими символами, обычно пробелами.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расшифрование заключается в заполнении пустой матрицы размерностью m × n (где n = L/m) символами шифротекста строго по столбцам, а затем считывании полученного текста по строкам.</a:t>
            </a:r>
            <a:endParaRPr lang="ru-RU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115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9718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A5E0A4-1EC1-42D6-8C31-FF80AA1F5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52400"/>
            <a:ext cx="2286000" cy="617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47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6096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Шифр 2. Агентурный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C9E2D-E3DF-4722-B2B6-37809B570132}"/>
              </a:ext>
            </a:extLst>
          </p:cNvPr>
          <p:cNvSpPr txBox="1"/>
          <p:nvPr/>
        </p:nvSpPr>
        <p:spPr>
          <a:xfrm>
            <a:off x="1066800" y="990600"/>
            <a:ext cx="243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Открытый</a:t>
            </a:r>
            <a:r>
              <a:rPr lang="ru-RU" sz="2400" b="1" spc="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spc="-10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6F252-F701-4A10-BAF9-D872EFD298CC}"/>
              </a:ext>
            </a:extLst>
          </p:cNvPr>
          <p:cNvSpPr txBox="1"/>
          <p:nvPr/>
        </p:nvSpPr>
        <p:spPr>
          <a:xfrm>
            <a:off x="228600" y="1359932"/>
            <a:ext cx="441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spc="-10" dirty="0">
                <a:solidFill>
                  <a:srgbClr val="FF0000"/>
                </a:solidFill>
                <a:latin typeface="Calibri"/>
                <a:cs typeface="Calibri"/>
              </a:rPr>
              <a:t>П</a:t>
            </a:r>
            <a:r>
              <a:rPr lang="ru-RU" sz="2400" b="1" spc="-10" dirty="0">
                <a:latin typeface="Calibri"/>
                <a:cs typeface="Calibri"/>
              </a:rPr>
              <a:t>РИМЕРАГЕНТУРНОГОШИФРА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193E44-6D6D-47EC-9FE0-050301B904FF}"/>
              </a:ext>
            </a:extLst>
          </p:cNvPr>
          <p:cNvSpPr txBox="1"/>
          <p:nvPr/>
        </p:nvSpPr>
        <p:spPr>
          <a:xfrm>
            <a:off x="7162800" y="990600"/>
            <a:ext cx="352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Ключ</a:t>
            </a:r>
            <a:r>
              <a:rPr lang="ru-RU" sz="2400" b="1" spc="-7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(пароль</a:t>
            </a:r>
            <a:r>
              <a:rPr lang="ru-RU" sz="2400" b="1" spc="-6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и</a:t>
            </a:r>
            <a:r>
              <a:rPr lang="ru-RU" sz="2400" b="1" spc="-8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spc="-10" dirty="0">
                <a:solidFill>
                  <a:srgbClr val="163557"/>
                </a:solidFill>
                <a:latin typeface="Calibri"/>
                <a:cs typeface="Calibri"/>
              </a:rPr>
              <a:t>сдвиг):</a:t>
            </a:r>
            <a:endParaRPr lang="ru-R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75D17-6BAE-41BD-A779-11A717FB5ECA}"/>
              </a:ext>
            </a:extLst>
          </p:cNvPr>
          <p:cNvSpPr txBox="1"/>
          <p:nvPr/>
        </p:nvSpPr>
        <p:spPr>
          <a:xfrm>
            <a:off x="7990860" y="1452265"/>
            <a:ext cx="1873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Calibri"/>
                <a:cs typeface="Calibri"/>
              </a:rPr>
              <a:t>ЛОЗУНГ</a:t>
            </a:r>
            <a:r>
              <a:rPr lang="ru-RU" sz="24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Calibri"/>
                <a:cs typeface="Calibri"/>
              </a:rPr>
              <a:t>&gt;&gt;</a:t>
            </a:r>
            <a:r>
              <a:rPr lang="ru-RU"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ru-RU" sz="2400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lang="ru-RU" sz="2400" dirty="0"/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8F00E771-200A-4690-80D6-EF1CFEBD0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935970"/>
              </p:ext>
            </p:extLst>
          </p:nvPr>
        </p:nvGraphicFramePr>
        <p:xfrm>
          <a:off x="479695" y="2640409"/>
          <a:ext cx="10212885" cy="98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58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25872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78968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491364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ru-RU" sz="2400" spc="-50" dirty="0">
                          <a:latin typeface="Calibri"/>
                          <a:cs typeface="Calibri"/>
                        </a:rPr>
                        <a:t>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Б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Г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Д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Ж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З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И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К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Л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М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Н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О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П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Р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С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Т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У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Ф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Х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Ц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Ч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Ш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Щ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Ъ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Ы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Ь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Э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Ю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Я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46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О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З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У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Н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Г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Б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В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Д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Ж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И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К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М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П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Р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С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Ф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Х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Ц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Ч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Ш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Щ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Ъ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Ы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Ь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Э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Ю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Я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6">
            <a:extLst>
              <a:ext uri="{FF2B5EF4-FFF2-40B4-BE49-F238E27FC236}">
                <a16:creationId xmlns:a16="http://schemas.microsoft.com/office/drawing/2014/main" id="{82DB684B-B67D-4E33-A316-A240320C2A01}"/>
              </a:ext>
            </a:extLst>
          </p:cNvPr>
          <p:cNvSpPr/>
          <p:nvPr/>
        </p:nvSpPr>
        <p:spPr>
          <a:xfrm rot="313157">
            <a:off x="396231" y="1938631"/>
            <a:ext cx="4900654" cy="558228"/>
          </a:xfrm>
          <a:custGeom>
            <a:avLst/>
            <a:gdLst/>
            <a:ahLst/>
            <a:cxnLst/>
            <a:rect l="l" t="t" r="r" b="b"/>
            <a:pathLst>
              <a:path w="4395470" h="432435">
                <a:moveTo>
                  <a:pt x="4279904" y="393904"/>
                </a:moveTo>
                <a:lnTo>
                  <a:pt x="4276725" y="431926"/>
                </a:lnTo>
                <a:lnTo>
                  <a:pt x="4367750" y="395477"/>
                </a:lnTo>
                <a:lnTo>
                  <a:pt x="4298823" y="395477"/>
                </a:lnTo>
                <a:lnTo>
                  <a:pt x="4279904" y="393904"/>
                </a:lnTo>
                <a:close/>
              </a:path>
              <a:path w="4395470" h="432435">
                <a:moveTo>
                  <a:pt x="4283079" y="355931"/>
                </a:moveTo>
                <a:lnTo>
                  <a:pt x="4279904" y="393904"/>
                </a:lnTo>
                <a:lnTo>
                  <a:pt x="4298823" y="395477"/>
                </a:lnTo>
                <a:lnTo>
                  <a:pt x="4301998" y="357504"/>
                </a:lnTo>
                <a:lnTo>
                  <a:pt x="4283079" y="355931"/>
                </a:lnTo>
                <a:close/>
              </a:path>
              <a:path w="4395470" h="432435">
                <a:moveTo>
                  <a:pt x="4286250" y="318008"/>
                </a:moveTo>
                <a:lnTo>
                  <a:pt x="4283079" y="355931"/>
                </a:lnTo>
                <a:lnTo>
                  <a:pt x="4301998" y="357504"/>
                </a:lnTo>
                <a:lnTo>
                  <a:pt x="4298823" y="395477"/>
                </a:lnTo>
                <a:lnTo>
                  <a:pt x="4367750" y="395477"/>
                </a:lnTo>
                <a:lnTo>
                  <a:pt x="4395343" y="384428"/>
                </a:lnTo>
                <a:lnTo>
                  <a:pt x="4286250" y="318008"/>
                </a:lnTo>
                <a:close/>
              </a:path>
              <a:path w="4395470" h="432435">
                <a:moveTo>
                  <a:pt x="3162" y="0"/>
                </a:moveTo>
                <a:lnTo>
                  <a:pt x="0" y="37973"/>
                </a:lnTo>
                <a:lnTo>
                  <a:pt x="4279904" y="393904"/>
                </a:lnTo>
                <a:lnTo>
                  <a:pt x="4283079" y="355931"/>
                </a:lnTo>
                <a:lnTo>
                  <a:pt x="31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D950B319-1FC7-4D62-AD03-61A210BE9463}"/>
              </a:ext>
            </a:extLst>
          </p:cNvPr>
          <p:cNvSpPr/>
          <p:nvPr/>
        </p:nvSpPr>
        <p:spPr>
          <a:xfrm rot="655056">
            <a:off x="5323132" y="2730019"/>
            <a:ext cx="990600" cy="463793"/>
          </a:xfrm>
          <a:custGeom>
            <a:avLst/>
            <a:gdLst/>
            <a:ahLst/>
            <a:cxnLst/>
            <a:rect l="l" t="t" r="r" b="b"/>
            <a:pathLst>
              <a:path w="957579" h="340360">
                <a:moveTo>
                  <a:pt x="842878" y="304103"/>
                </a:moveTo>
                <a:lnTo>
                  <a:pt x="831342" y="340359"/>
                </a:lnTo>
                <a:lnTo>
                  <a:pt x="957580" y="320548"/>
                </a:lnTo>
                <a:lnTo>
                  <a:pt x="946623" y="309879"/>
                </a:lnTo>
                <a:lnTo>
                  <a:pt x="861060" y="309879"/>
                </a:lnTo>
                <a:lnTo>
                  <a:pt x="842878" y="304103"/>
                </a:lnTo>
                <a:close/>
              </a:path>
              <a:path w="957579" h="340360">
                <a:moveTo>
                  <a:pt x="854435" y="267781"/>
                </a:moveTo>
                <a:lnTo>
                  <a:pt x="842878" y="304103"/>
                </a:lnTo>
                <a:lnTo>
                  <a:pt x="861060" y="309879"/>
                </a:lnTo>
                <a:lnTo>
                  <a:pt x="872617" y="273557"/>
                </a:lnTo>
                <a:lnTo>
                  <a:pt x="854435" y="267781"/>
                </a:lnTo>
                <a:close/>
              </a:path>
              <a:path w="957579" h="340360">
                <a:moveTo>
                  <a:pt x="866013" y="231393"/>
                </a:moveTo>
                <a:lnTo>
                  <a:pt x="854435" y="267781"/>
                </a:lnTo>
                <a:lnTo>
                  <a:pt x="872617" y="273557"/>
                </a:lnTo>
                <a:lnTo>
                  <a:pt x="861060" y="309879"/>
                </a:lnTo>
                <a:lnTo>
                  <a:pt x="946623" y="309879"/>
                </a:lnTo>
                <a:lnTo>
                  <a:pt x="866013" y="231393"/>
                </a:lnTo>
                <a:close/>
              </a:path>
              <a:path w="957579" h="340360">
                <a:moveTo>
                  <a:pt x="11557" y="0"/>
                </a:moveTo>
                <a:lnTo>
                  <a:pt x="0" y="36321"/>
                </a:lnTo>
                <a:lnTo>
                  <a:pt x="842878" y="304103"/>
                </a:lnTo>
                <a:lnTo>
                  <a:pt x="854435" y="267781"/>
                </a:lnTo>
                <a:lnTo>
                  <a:pt x="115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AD235D-9698-4ED2-A7FB-B97B3D0ECDFB}"/>
              </a:ext>
            </a:extLst>
          </p:cNvPr>
          <p:cNvSpPr txBox="1"/>
          <p:nvPr/>
        </p:nvSpPr>
        <p:spPr>
          <a:xfrm>
            <a:off x="609600" y="401760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900" algn="l"/>
              </a:tabLst>
            </a:pP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Шифровка</a:t>
            </a:r>
            <a:r>
              <a:rPr lang="ru-RU" sz="2400" b="1" spc="-8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при</a:t>
            </a:r>
            <a:r>
              <a:rPr lang="ru-RU" sz="2400" b="1" spc="-10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dirty="0">
                <a:solidFill>
                  <a:srgbClr val="163557"/>
                </a:solidFill>
                <a:latin typeface="Calibri"/>
                <a:cs typeface="Calibri"/>
              </a:rPr>
              <a:t>сдвиге</a:t>
            </a:r>
            <a:r>
              <a:rPr lang="ru-RU" sz="2400" b="1" spc="-114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400" b="1" spc="-25" dirty="0">
                <a:solidFill>
                  <a:srgbClr val="163557"/>
                </a:solidFill>
                <a:latin typeface="Calibri"/>
                <a:cs typeface="Calibri"/>
              </a:rPr>
              <a:t>3: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BBD984-B997-49F6-8F9F-1BCDDF3A4C6C}"/>
              </a:ext>
            </a:extLst>
          </p:cNvPr>
          <p:cNvSpPr txBox="1"/>
          <p:nvPr/>
        </p:nvSpPr>
        <p:spPr>
          <a:xfrm>
            <a:off x="609600" y="4525680"/>
            <a:ext cx="6097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360"/>
              </a:spcBef>
            </a:pPr>
            <a:r>
              <a:rPr lang="ru-RU" sz="2400" b="1" spc="-20" dirty="0">
                <a:solidFill>
                  <a:srgbClr val="FF0000"/>
                </a:solidFill>
                <a:latin typeface="Calibri"/>
                <a:cs typeface="Calibri"/>
              </a:rPr>
              <a:t>С</a:t>
            </a:r>
            <a:r>
              <a:rPr lang="ru-RU" sz="2400" b="1" spc="-20" dirty="0">
                <a:latin typeface="Calibri"/>
                <a:cs typeface="Calibri"/>
              </a:rPr>
              <a:t>ТЖ…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DE49AB39-CF71-4B94-B41A-65435207C435}"/>
              </a:ext>
            </a:extLst>
          </p:cNvPr>
          <p:cNvSpPr/>
          <p:nvPr/>
        </p:nvSpPr>
        <p:spPr>
          <a:xfrm>
            <a:off x="914399" y="3445083"/>
            <a:ext cx="5257801" cy="1203118"/>
          </a:xfrm>
          <a:custGeom>
            <a:avLst/>
            <a:gdLst/>
            <a:ahLst/>
            <a:cxnLst/>
            <a:rect l="l" t="t" r="r" b="b"/>
            <a:pathLst>
              <a:path w="5439410" h="1577975">
                <a:moveTo>
                  <a:pt x="94462" y="1467611"/>
                </a:moveTo>
                <a:lnTo>
                  <a:pt x="0" y="1553717"/>
                </a:lnTo>
                <a:lnTo>
                  <a:pt x="125539" y="1577593"/>
                </a:lnTo>
                <a:lnTo>
                  <a:pt x="116639" y="1546097"/>
                </a:lnTo>
                <a:lnTo>
                  <a:pt x="96837" y="1546097"/>
                </a:lnTo>
                <a:lnTo>
                  <a:pt x="86474" y="1509395"/>
                </a:lnTo>
                <a:lnTo>
                  <a:pt x="104805" y="1504216"/>
                </a:lnTo>
                <a:lnTo>
                  <a:pt x="94462" y="1467611"/>
                </a:lnTo>
                <a:close/>
              </a:path>
              <a:path w="5439410" h="1577975">
                <a:moveTo>
                  <a:pt x="104805" y="1504216"/>
                </a:moveTo>
                <a:lnTo>
                  <a:pt x="86474" y="1509395"/>
                </a:lnTo>
                <a:lnTo>
                  <a:pt x="96837" y="1546097"/>
                </a:lnTo>
                <a:lnTo>
                  <a:pt x="115175" y="1540916"/>
                </a:lnTo>
                <a:lnTo>
                  <a:pt x="104805" y="1504216"/>
                </a:lnTo>
                <a:close/>
              </a:path>
              <a:path w="5439410" h="1577975">
                <a:moveTo>
                  <a:pt x="115175" y="1540916"/>
                </a:moveTo>
                <a:lnTo>
                  <a:pt x="96837" y="1546097"/>
                </a:lnTo>
                <a:lnTo>
                  <a:pt x="116639" y="1546097"/>
                </a:lnTo>
                <a:lnTo>
                  <a:pt x="115175" y="1540916"/>
                </a:lnTo>
                <a:close/>
              </a:path>
              <a:path w="5439410" h="1577975">
                <a:moveTo>
                  <a:pt x="5429072" y="0"/>
                </a:moveTo>
                <a:lnTo>
                  <a:pt x="104805" y="1504216"/>
                </a:lnTo>
                <a:lnTo>
                  <a:pt x="115175" y="1540916"/>
                </a:lnTo>
                <a:lnTo>
                  <a:pt x="5439359" y="36575"/>
                </a:lnTo>
                <a:lnTo>
                  <a:pt x="54290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457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368C03-8FD5-4D91-8371-0AEC469A3D7D}"/>
              </a:ext>
            </a:extLst>
          </p:cNvPr>
          <p:cNvSpPr txBox="1"/>
          <p:nvPr/>
        </p:nvSpPr>
        <p:spPr>
          <a:xfrm>
            <a:off x="609600" y="76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</a:t>
            </a: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хема протокола шифра в </a:t>
            </a: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CrypTool2</a:t>
            </a:r>
            <a:endParaRPr lang="ru-RU" sz="2800" b="1" spc="-15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10EF9C-81A0-44E5-8538-A3F810DD2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9508"/>
            <a:ext cx="9818957" cy="48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9525"/>
            <a:ext cx="11506200" cy="6142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Внешняя спецификация алгоритма расшифрования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восстановление текста, зашифрованного моноалфавитной подстановкой со смешанным по паролю алфавитом.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шифротекст.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W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лозунг (например, 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ЛОЗУНГ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s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сдвиг (например,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s = 3).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A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исходный алфавит (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N = 31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символ).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  <a:r>
              <a:rPr lang="en-US" sz="2600" b="1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открытый текст.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Условия и ограничения: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символы C и W принадлежат A. Из W удаляются дубликаты.</a:t>
            </a:r>
            <a:endParaRPr lang="en-US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формируется алфавит K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raw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= W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norm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U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(A \ W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norm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). Итоговый шифрующий алфавит получается сдвигом K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raw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на s позиций. Дешифрование: для каждого символа c</a:t>
            </a:r>
            <a:r>
              <a:rPr lang="en-US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∈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C ищется его индекс в ключевом алфавите K, и из A берется буква с тем же индексом.</a:t>
            </a:r>
            <a:endParaRPr lang="ru-RU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944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8194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5B66D8-8DE7-4F0F-B58D-2423250DC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331" y="76200"/>
            <a:ext cx="4265337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9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6096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Шифр 3. Виженера (</a:t>
            </a:r>
            <a:r>
              <a:rPr lang="en-US" sz="4000" spc="-150" dirty="0">
                <a:solidFill>
                  <a:srgbClr val="161D31"/>
                </a:solidFill>
                <a:latin typeface="Calibri"/>
                <a:cs typeface="Calibri"/>
              </a:rPr>
              <a:t>Vigenere</a:t>
            </a: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CD1BC3C-9F4E-4396-95E3-7ADB9C43CDE9}"/>
              </a:ext>
            </a:extLst>
          </p:cNvPr>
          <p:cNvSpPr/>
          <p:nvPr/>
        </p:nvSpPr>
        <p:spPr>
          <a:xfrm>
            <a:off x="1270127" y="1942973"/>
            <a:ext cx="1214755" cy="744220"/>
          </a:xfrm>
          <a:custGeom>
            <a:avLst/>
            <a:gdLst/>
            <a:ahLst/>
            <a:cxnLst/>
            <a:rect l="l" t="t" r="r" b="b"/>
            <a:pathLst>
              <a:path w="1214755" h="744219">
                <a:moveTo>
                  <a:pt x="306704" y="0"/>
                </a:moveTo>
                <a:lnTo>
                  <a:pt x="306704" y="743712"/>
                </a:lnTo>
              </a:path>
              <a:path w="1214755" h="744219">
                <a:moveTo>
                  <a:pt x="607314" y="0"/>
                </a:moveTo>
                <a:lnTo>
                  <a:pt x="607314" y="743712"/>
                </a:lnTo>
              </a:path>
              <a:path w="1214755" h="744219">
                <a:moveTo>
                  <a:pt x="907922" y="0"/>
                </a:moveTo>
                <a:lnTo>
                  <a:pt x="907922" y="743712"/>
                </a:lnTo>
              </a:path>
              <a:path w="1214755" h="744219">
                <a:moveTo>
                  <a:pt x="0" y="371855"/>
                </a:moveTo>
                <a:lnTo>
                  <a:pt x="1214628" y="371855"/>
                </a:lnTo>
              </a:path>
              <a:path w="1214755" h="744219">
                <a:moveTo>
                  <a:pt x="6095" y="0"/>
                </a:moveTo>
                <a:lnTo>
                  <a:pt x="6095" y="743712"/>
                </a:lnTo>
              </a:path>
              <a:path w="1214755" h="744219">
                <a:moveTo>
                  <a:pt x="1208531" y="0"/>
                </a:moveTo>
                <a:lnTo>
                  <a:pt x="1208531" y="743712"/>
                </a:lnTo>
              </a:path>
              <a:path w="1214755" h="744219">
                <a:moveTo>
                  <a:pt x="0" y="6096"/>
                </a:moveTo>
                <a:lnTo>
                  <a:pt x="1214628" y="6096"/>
                </a:lnTo>
              </a:path>
              <a:path w="1214755" h="744219">
                <a:moveTo>
                  <a:pt x="0" y="737615"/>
                </a:moveTo>
                <a:lnTo>
                  <a:pt x="1214628" y="737615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108F1C5-82A7-439E-9AED-C8BE69E459A2}"/>
              </a:ext>
            </a:extLst>
          </p:cNvPr>
          <p:cNvGraphicFramePr>
            <a:graphicFrameLocks noGrp="1"/>
          </p:cNvGraphicFramePr>
          <p:nvPr/>
        </p:nvGraphicFramePr>
        <p:xfrm>
          <a:off x="1336166" y="1942949"/>
          <a:ext cx="1142999" cy="730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5">
            <a:extLst>
              <a:ext uri="{FF2B5EF4-FFF2-40B4-BE49-F238E27FC236}">
                <a16:creationId xmlns:a16="http://schemas.microsoft.com/office/drawing/2014/main" id="{637EDD4C-B71F-4B6C-A580-ED742407902F}"/>
              </a:ext>
            </a:extLst>
          </p:cNvPr>
          <p:cNvSpPr/>
          <p:nvPr/>
        </p:nvSpPr>
        <p:spPr>
          <a:xfrm>
            <a:off x="2570098" y="194906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7E6CE0D-5C06-47C4-98FB-344B73097D8B}"/>
              </a:ext>
            </a:extLst>
          </p:cNvPr>
          <p:cNvSpPr/>
          <p:nvPr/>
        </p:nvSpPr>
        <p:spPr>
          <a:xfrm>
            <a:off x="5099430" y="194906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6EA406F1-D9D2-45C6-AE53-FC2E9E148E8B}"/>
              </a:ext>
            </a:extLst>
          </p:cNvPr>
          <p:cNvSpPr/>
          <p:nvPr/>
        </p:nvSpPr>
        <p:spPr>
          <a:xfrm>
            <a:off x="3837940" y="195300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E9240C6-DB44-411B-A8B7-EF3E27501986}"/>
              </a:ext>
            </a:extLst>
          </p:cNvPr>
          <p:cNvSpPr/>
          <p:nvPr/>
        </p:nvSpPr>
        <p:spPr>
          <a:xfrm>
            <a:off x="2570098" y="231482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8176837-8D4C-47E7-9A20-ADE5F7AD0F6D}"/>
              </a:ext>
            </a:extLst>
          </p:cNvPr>
          <p:cNvSpPr/>
          <p:nvPr/>
        </p:nvSpPr>
        <p:spPr>
          <a:xfrm>
            <a:off x="2570098" y="268058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21A50D1F-588F-4924-9534-F6D6A81103DF}"/>
              </a:ext>
            </a:extLst>
          </p:cNvPr>
          <p:cNvSpPr/>
          <p:nvPr/>
        </p:nvSpPr>
        <p:spPr>
          <a:xfrm>
            <a:off x="5099430" y="268058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7C697355-EDF0-4B2E-8F58-1608B8AFD914}"/>
              </a:ext>
            </a:extLst>
          </p:cNvPr>
          <p:cNvSpPr/>
          <p:nvPr/>
        </p:nvSpPr>
        <p:spPr>
          <a:xfrm>
            <a:off x="3837940" y="268452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8BC01381-EADB-45EE-87B5-B70D39930481}"/>
              </a:ext>
            </a:extLst>
          </p:cNvPr>
          <p:cNvGraphicFramePr>
            <a:graphicFrameLocks noGrp="1"/>
          </p:cNvGraphicFramePr>
          <p:nvPr/>
        </p:nvGraphicFramePr>
        <p:xfrm>
          <a:off x="2567027" y="1942973"/>
          <a:ext cx="1214755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1280" marR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4">
            <a:extLst>
              <a:ext uri="{FF2B5EF4-FFF2-40B4-BE49-F238E27FC236}">
                <a16:creationId xmlns:a16="http://schemas.microsoft.com/office/drawing/2014/main" id="{041F07C1-162A-48D1-A36A-E6431DD29F15}"/>
              </a:ext>
            </a:extLst>
          </p:cNvPr>
          <p:cNvSpPr/>
          <p:nvPr/>
        </p:nvSpPr>
        <p:spPr>
          <a:xfrm>
            <a:off x="3837940" y="23187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7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5">
            <a:extLst>
              <a:ext uri="{FF2B5EF4-FFF2-40B4-BE49-F238E27FC236}">
                <a16:creationId xmlns:a16="http://schemas.microsoft.com/office/drawing/2014/main" id="{1C65AF0A-50B3-4D87-AF78-B2BC2B5E4B40}"/>
              </a:ext>
            </a:extLst>
          </p:cNvPr>
          <p:cNvGraphicFramePr>
            <a:graphicFrameLocks noGrp="1"/>
          </p:cNvGraphicFramePr>
          <p:nvPr/>
        </p:nvGraphicFramePr>
        <p:xfrm>
          <a:off x="3837916" y="1946910"/>
          <a:ext cx="1211580" cy="743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240" marR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6">
            <a:extLst>
              <a:ext uri="{FF2B5EF4-FFF2-40B4-BE49-F238E27FC236}">
                <a16:creationId xmlns:a16="http://schemas.microsoft.com/office/drawing/2014/main" id="{BB126F9F-7E8A-40DF-AF98-8B5612B1EF56}"/>
              </a:ext>
            </a:extLst>
          </p:cNvPr>
          <p:cNvSpPr/>
          <p:nvPr/>
        </p:nvSpPr>
        <p:spPr>
          <a:xfrm>
            <a:off x="5099430" y="231482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17">
            <a:extLst>
              <a:ext uri="{FF2B5EF4-FFF2-40B4-BE49-F238E27FC236}">
                <a16:creationId xmlns:a16="http://schemas.microsoft.com/office/drawing/2014/main" id="{3998E3F7-D3C3-4B66-A14D-4713FB025327}"/>
              </a:ext>
            </a:extLst>
          </p:cNvPr>
          <p:cNvGraphicFramePr>
            <a:graphicFrameLocks noGrp="1"/>
          </p:cNvGraphicFramePr>
          <p:nvPr/>
        </p:nvGraphicFramePr>
        <p:xfrm>
          <a:off x="5099406" y="1942973"/>
          <a:ext cx="1210944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BA5B1F"/>
                          </a:solidFill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BA5B1F"/>
                          </a:solidFill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BA5B1F"/>
                          </a:solidFill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BA5B1F"/>
                          </a:solidFill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object 21">
            <a:extLst>
              <a:ext uri="{FF2B5EF4-FFF2-40B4-BE49-F238E27FC236}">
                <a16:creationId xmlns:a16="http://schemas.microsoft.com/office/drawing/2014/main" id="{D02741AF-8E43-4F1C-B34D-A8DC316D6CFF}"/>
              </a:ext>
            </a:extLst>
          </p:cNvPr>
          <p:cNvSpPr/>
          <p:nvPr/>
        </p:nvSpPr>
        <p:spPr>
          <a:xfrm>
            <a:off x="887031" y="2129789"/>
            <a:ext cx="4932045" cy="686435"/>
          </a:xfrm>
          <a:custGeom>
            <a:avLst/>
            <a:gdLst/>
            <a:ahLst/>
            <a:cxnLst/>
            <a:rect l="l" t="t" r="r" b="b"/>
            <a:pathLst>
              <a:path w="4932045" h="686435">
                <a:moveTo>
                  <a:pt x="388429" y="0"/>
                </a:moveTo>
                <a:lnTo>
                  <a:pt x="0" y="0"/>
                </a:lnTo>
                <a:lnTo>
                  <a:pt x="0" y="686181"/>
                </a:lnTo>
                <a:lnTo>
                  <a:pt x="4931600" y="686181"/>
                </a:lnTo>
              </a:path>
            </a:pathLst>
          </a:custGeom>
          <a:ln w="22225">
            <a:solidFill>
              <a:srgbClr val="DE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052F4135-1DF3-4FE2-909E-B5F5731AD44B}"/>
              </a:ext>
            </a:extLst>
          </p:cNvPr>
          <p:cNvSpPr/>
          <p:nvPr/>
        </p:nvSpPr>
        <p:spPr>
          <a:xfrm>
            <a:off x="6361938" y="1946910"/>
            <a:ext cx="1214755" cy="744220"/>
          </a:xfrm>
          <a:custGeom>
            <a:avLst/>
            <a:gdLst/>
            <a:ahLst/>
            <a:cxnLst/>
            <a:rect l="l" t="t" r="r" b="b"/>
            <a:pathLst>
              <a:path w="1214754" h="744219">
                <a:moveTo>
                  <a:pt x="0" y="371855"/>
                </a:moveTo>
                <a:lnTo>
                  <a:pt x="1214628" y="371855"/>
                </a:lnTo>
              </a:path>
              <a:path w="1214754" h="744219">
                <a:moveTo>
                  <a:pt x="1208532" y="0"/>
                </a:moveTo>
                <a:lnTo>
                  <a:pt x="1208532" y="743712"/>
                </a:lnTo>
              </a:path>
              <a:path w="1214754" h="744219">
                <a:moveTo>
                  <a:pt x="0" y="6095"/>
                </a:moveTo>
                <a:lnTo>
                  <a:pt x="1214628" y="6095"/>
                </a:lnTo>
              </a:path>
              <a:path w="1214754" h="744219">
                <a:moveTo>
                  <a:pt x="0" y="737615"/>
                </a:moveTo>
                <a:lnTo>
                  <a:pt x="1214628" y="737615"/>
                </a:lnTo>
              </a:path>
            </a:pathLst>
          </a:custGeom>
          <a:ln w="12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19">
            <a:extLst>
              <a:ext uri="{FF2B5EF4-FFF2-40B4-BE49-F238E27FC236}">
                <a16:creationId xmlns:a16="http://schemas.microsoft.com/office/drawing/2014/main" id="{6F983D21-E28C-46A7-A8F1-5760A844DECB}"/>
              </a:ext>
            </a:extLst>
          </p:cNvPr>
          <p:cNvGraphicFramePr>
            <a:graphicFrameLocks noGrp="1"/>
          </p:cNvGraphicFramePr>
          <p:nvPr/>
        </p:nvGraphicFramePr>
        <p:xfrm>
          <a:off x="6361914" y="1946910"/>
          <a:ext cx="910589" cy="743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38E6AEBE-6998-4B20-A8E7-22B4CE64EC67}"/>
              </a:ext>
            </a:extLst>
          </p:cNvPr>
          <p:cNvGraphicFramePr>
            <a:graphicFrameLocks noGrp="1"/>
          </p:cNvGraphicFramePr>
          <p:nvPr/>
        </p:nvGraphicFramePr>
        <p:xfrm>
          <a:off x="1357225" y="3051659"/>
          <a:ext cx="969645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Б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Г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З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О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С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У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Х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Ц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Щ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Ъ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Ь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Э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О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С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У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Х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Ц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093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Щ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Ъ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Ь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Э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Б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Г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З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О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С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У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Х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Ц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Щ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Ъ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Ь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Э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Б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Г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З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Б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Г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З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О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С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У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Х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Ц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Щ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Ъ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Ь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Э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Ч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Ш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Щ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Ъ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Ь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Э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Ю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Б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Г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Ж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З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К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М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О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П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С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У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Ф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Х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Ц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" name="object 23">
            <a:extLst>
              <a:ext uri="{FF2B5EF4-FFF2-40B4-BE49-F238E27FC236}">
                <a16:creationId xmlns:a16="http://schemas.microsoft.com/office/drawing/2014/main" id="{FEB868C2-EB97-4BA3-A9DE-D29F2FF89AEE}"/>
              </a:ext>
            </a:extLst>
          </p:cNvPr>
          <p:cNvGrpSpPr/>
          <p:nvPr/>
        </p:nvGrpSpPr>
        <p:grpSpPr>
          <a:xfrm>
            <a:off x="496849" y="2461704"/>
            <a:ext cx="867410" cy="1223010"/>
            <a:chOff x="496849" y="2461704"/>
            <a:chExt cx="867410" cy="1223010"/>
          </a:xfrm>
        </p:grpSpPr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22F5E1A4-FE88-49C5-935A-259B02629901}"/>
                </a:ext>
              </a:extLst>
            </p:cNvPr>
            <p:cNvSpPr/>
            <p:nvPr/>
          </p:nvSpPr>
          <p:spPr>
            <a:xfrm>
              <a:off x="507961" y="2472817"/>
              <a:ext cx="768350" cy="1153795"/>
            </a:xfrm>
            <a:custGeom>
              <a:avLst/>
              <a:gdLst/>
              <a:ahLst/>
              <a:cxnLst/>
              <a:rect l="l" t="t" r="r" b="b"/>
              <a:pathLst>
                <a:path w="768350" h="1153795">
                  <a:moveTo>
                    <a:pt x="768261" y="0"/>
                  </a:moveTo>
                  <a:lnTo>
                    <a:pt x="0" y="381"/>
                  </a:lnTo>
                </a:path>
                <a:path w="768350" h="1153795">
                  <a:moveTo>
                    <a:pt x="0" y="0"/>
                  </a:moveTo>
                  <a:lnTo>
                    <a:pt x="355" y="1153795"/>
                  </a:lnTo>
                </a:path>
              </a:pathLst>
            </a:custGeom>
            <a:ln w="22225">
              <a:solidFill>
                <a:srgbClr val="2770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CDA5541E-8291-4A80-8E64-7D5A6D4AA24B}"/>
                </a:ext>
              </a:extLst>
            </p:cNvPr>
            <p:cNvSpPr/>
            <p:nvPr/>
          </p:nvSpPr>
          <p:spPr>
            <a:xfrm>
              <a:off x="507822" y="3608451"/>
              <a:ext cx="855980" cy="76200"/>
            </a:xfrm>
            <a:custGeom>
              <a:avLst/>
              <a:gdLst/>
              <a:ahLst/>
              <a:cxnLst/>
              <a:rect l="l" t="t" r="r" b="b"/>
              <a:pathLst>
                <a:path w="855980" h="76200">
                  <a:moveTo>
                    <a:pt x="780084" y="0"/>
                  </a:moveTo>
                  <a:lnTo>
                    <a:pt x="779884" y="17144"/>
                  </a:lnTo>
                  <a:lnTo>
                    <a:pt x="779769" y="27016"/>
                  </a:lnTo>
                  <a:lnTo>
                    <a:pt x="792530" y="27178"/>
                  </a:lnTo>
                  <a:lnTo>
                    <a:pt x="792394" y="39116"/>
                  </a:lnTo>
                  <a:lnTo>
                    <a:pt x="792276" y="49403"/>
                  </a:lnTo>
                  <a:lnTo>
                    <a:pt x="779508" y="49403"/>
                  </a:lnTo>
                  <a:lnTo>
                    <a:pt x="779195" y="76200"/>
                  </a:lnTo>
                  <a:lnTo>
                    <a:pt x="834625" y="49403"/>
                  </a:lnTo>
                  <a:lnTo>
                    <a:pt x="792276" y="49403"/>
                  </a:lnTo>
                  <a:lnTo>
                    <a:pt x="779510" y="49241"/>
                  </a:lnTo>
                  <a:lnTo>
                    <a:pt x="834959" y="49241"/>
                  </a:lnTo>
                  <a:lnTo>
                    <a:pt x="855903" y="39116"/>
                  </a:lnTo>
                  <a:lnTo>
                    <a:pt x="780084" y="0"/>
                  </a:lnTo>
                  <a:close/>
                </a:path>
                <a:path w="855980" h="76200">
                  <a:moveTo>
                    <a:pt x="779769" y="27016"/>
                  </a:moveTo>
                  <a:lnTo>
                    <a:pt x="779628" y="39116"/>
                  </a:lnTo>
                  <a:lnTo>
                    <a:pt x="779510" y="49241"/>
                  </a:lnTo>
                  <a:lnTo>
                    <a:pt x="792276" y="49403"/>
                  </a:lnTo>
                  <a:lnTo>
                    <a:pt x="792530" y="27178"/>
                  </a:lnTo>
                  <a:lnTo>
                    <a:pt x="779769" y="27016"/>
                  </a:lnTo>
                  <a:close/>
                </a:path>
                <a:path w="855980" h="76200">
                  <a:moveTo>
                    <a:pt x="279" y="17144"/>
                  </a:moveTo>
                  <a:lnTo>
                    <a:pt x="3" y="39116"/>
                  </a:lnTo>
                  <a:lnTo>
                    <a:pt x="0" y="39369"/>
                  </a:lnTo>
                  <a:lnTo>
                    <a:pt x="779510" y="49241"/>
                  </a:lnTo>
                  <a:lnTo>
                    <a:pt x="779767" y="27178"/>
                  </a:lnTo>
                  <a:lnTo>
                    <a:pt x="779769" y="27016"/>
                  </a:lnTo>
                  <a:lnTo>
                    <a:pt x="279" y="17144"/>
                  </a:lnTo>
                  <a:close/>
                </a:path>
              </a:pathLst>
            </a:custGeom>
            <a:solidFill>
              <a:srgbClr val="277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2">
            <a:extLst>
              <a:ext uri="{FF2B5EF4-FFF2-40B4-BE49-F238E27FC236}">
                <a16:creationId xmlns:a16="http://schemas.microsoft.com/office/drawing/2014/main" id="{93C9CB01-DB2C-478E-935F-2867A996D4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0785" y="2793238"/>
            <a:ext cx="76136" cy="199771"/>
          </a:xfrm>
          <a:prstGeom prst="rect">
            <a:avLst/>
          </a:prstGeom>
        </p:spPr>
      </p:pic>
      <p:sp>
        <p:nvSpPr>
          <p:cNvPr id="29" name="object 26">
            <a:extLst>
              <a:ext uri="{FF2B5EF4-FFF2-40B4-BE49-F238E27FC236}">
                <a16:creationId xmlns:a16="http://schemas.microsoft.com/office/drawing/2014/main" id="{6012B0E1-3877-47AB-A54D-42447F681023}"/>
              </a:ext>
            </a:extLst>
          </p:cNvPr>
          <p:cNvSpPr txBox="1"/>
          <p:nvPr/>
        </p:nvSpPr>
        <p:spPr>
          <a:xfrm>
            <a:off x="1335405" y="999236"/>
            <a:ext cx="9777095" cy="1971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b="1" dirty="0">
                <a:solidFill>
                  <a:srgbClr val="163557"/>
                </a:solidFill>
                <a:latin typeface="Calibri"/>
                <a:cs typeface="Calibri"/>
              </a:rPr>
              <a:t>Открытый</a:t>
            </a:r>
            <a:r>
              <a:rPr sz="2800" b="1" spc="-5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r>
              <a:rPr sz="2800" b="1" spc="-6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DE7400"/>
                </a:solidFill>
                <a:latin typeface="Calibri"/>
                <a:cs typeface="Calibri"/>
              </a:rPr>
              <a:t>ПРИМ</a:t>
            </a:r>
            <a:r>
              <a:rPr sz="2800" spc="-10" dirty="0">
                <a:solidFill>
                  <a:srgbClr val="5E9922"/>
                </a:solidFill>
                <a:latin typeface="Calibri"/>
                <a:cs typeface="Calibri"/>
              </a:rPr>
              <a:t>ЕРШИ</a:t>
            </a:r>
            <a:r>
              <a:rPr sz="2800" spc="-10" dirty="0">
                <a:solidFill>
                  <a:srgbClr val="7B3B9F"/>
                </a:solidFill>
                <a:latin typeface="Calibri"/>
                <a:cs typeface="Calibri"/>
              </a:rPr>
              <a:t>ФРАВ</a:t>
            </a:r>
            <a:r>
              <a:rPr sz="2800" spc="-10" dirty="0">
                <a:solidFill>
                  <a:srgbClr val="BA5B1F"/>
                </a:solidFill>
                <a:latin typeface="Calibri"/>
                <a:cs typeface="Calibri"/>
              </a:rPr>
              <a:t>ИЖЕН</a:t>
            </a:r>
            <a:r>
              <a:rPr sz="2800" spc="-10" dirty="0">
                <a:solidFill>
                  <a:srgbClr val="163557"/>
                </a:solidFill>
                <a:latin typeface="Calibri"/>
                <a:cs typeface="Calibri"/>
              </a:rPr>
              <a:t>ЕРА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69265" algn="l"/>
                <a:tab pos="1640205" algn="l"/>
              </a:tabLst>
            </a:pPr>
            <a:r>
              <a:rPr sz="2800" b="1" spc="-20" dirty="0" err="1">
                <a:solidFill>
                  <a:srgbClr val="163557"/>
                </a:solidFill>
                <a:latin typeface="Calibri"/>
                <a:cs typeface="Calibri"/>
              </a:rPr>
              <a:t>Ключ</a:t>
            </a:r>
            <a:r>
              <a:rPr sz="2800" b="1" spc="-20" dirty="0">
                <a:solidFill>
                  <a:srgbClr val="163557"/>
                </a:solidFill>
                <a:latin typeface="Calibri"/>
                <a:cs typeface="Calibri"/>
              </a:rPr>
              <a:t>:</a:t>
            </a:r>
            <a:r>
              <a:rPr lang="ru-RU" sz="2800" b="1" spc="-2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КЛЮЧ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8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Таблица</a:t>
            </a:r>
            <a:r>
              <a:rPr sz="2400" b="1" spc="-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Виженера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B916DF8-BF0B-488E-A20D-1A586A4AB27E}"/>
              </a:ext>
            </a:extLst>
          </p:cNvPr>
          <p:cNvSpPr txBox="1"/>
          <p:nvPr/>
        </p:nvSpPr>
        <p:spPr>
          <a:xfrm>
            <a:off x="1335405" y="5054041"/>
            <a:ext cx="43249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b="1" spc="-10" dirty="0">
                <a:solidFill>
                  <a:srgbClr val="163557"/>
                </a:solidFill>
                <a:latin typeface="Calibri"/>
                <a:cs typeface="Calibri"/>
              </a:rPr>
              <a:t>Шифровка: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solidFill>
                  <a:srgbClr val="DE7400"/>
                </a:solidFill>
                <a:latin typeface="Calibri"/>
                <a:cs typeface="Calibri"/>
              </a:rPr>
              <a:t>ШЪЖВ</a:t>
            </a:r>
            <a:r>
              <a:rPr sz="2800" spc="-20" dirty="0">
                <a:solidFill>
                  <a:srgbClr val="5E9922"/>
                </a:solidFill>
                <a:latin typeface="Calibri"/>
                <a:cs typeface="Calibri"/>
              </a:rPr>
              <a:t>ПЪЦЯ</a:t>
            </a:r>
            <a:r>
              <a:rPr sz="2800" spc="-20" dirty="0">
                <a:solidFill>
                  <a:srgbClr val="7B3B9F"/>
                </a:solidFill>
                <a:latin typeface="Calibri"/>
                <a:cs typeface="Calibri"/>
              </a:rPr>
              <a:t>ЭЪЮЩ</a:t>
            </a:r>
            <a:r>
              <a:rPr sz="2800" spc="-20" dirty="0">
                <a:solidFill>
                  <a:srgbClr val="934D00"/>
                </a:solidFill>
                <a:latin typeface="Calibri"/>
                <a:cs typeface="Calibri"/>
              </a:rPr>
              <a:t>ТСГГ</a:t>
            </a:r>
            <a:r>
              <a:rPr sz="2800" spc="-20" dirty="0">
                <a:solidFill>
                  <a:srgbClr val="508FD3"/>
                </a:solidFill>
                <a:latin typeface="Calibri"/>
                <a:cs typeface="Calibri"/>
              </a:rPr>
              <a:t>ПЪЮ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7245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368C03-8FD5-4D91-8371-0AEC469A3D7D}"/>
              </a:ext>
            </a:extLst>
          </p:cNvPr>
          <p:cNvSpPr txBox="1"/>
          <p:nvPr/>
        </p:nvSpPr>
        <p:spPr>
          <a:xfrm>
            <a:off x="467513" y="151529"/>
            <a:ext cx="6125985" cy="54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</a:t>
            </a: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хема протокола шифра в </a:t>
            </a: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CrypTool2</a:t>
            </a:r>
            <a:endParaRPr lang="ru-RU" sz="2800" b="1" spc="-15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AFC1F1-2F53-49E1-B12D-0686A4983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00100"/>
            <a:ext cx="1167743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7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152400"/>
            <a:ext cx="10114915" cy="53290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Внешняя спецификация алгоритма расшифрования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расшифрование текста на основе полиалфавитной подстановки по таблице Тритемия (сложение по модулю).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шифротекст.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K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ключевое слово.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A(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алфавит (размер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n = 3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1).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  <a:endParaRPr lang="en-US" sz="26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открытый текст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.</a:t>
            </a:r>
            <a:endParaRPr lang="ru-RU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Условия и ограничения: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символы шифротекста и ключа должны быть в A.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модель:</a:t>
            </a:r>
            <a:r>
              <a:rPr lang="en-US" sz="2600" b="1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Гамма G формируется циклическим повторением ключа K. Символ открытого текста вычисляется по формуле: P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= (C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- G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+ n) </a:t>
            </a:r>
            <a:r>
              <a:rPr lang="en-US" sz="2600" i="1" spc="-150" dirty="0">
                <a:solidFill>
                  <a:srgbClr val="161D31"/>
                </a:solidFill>
                <a:latin typeface="Calibri"/>
                <a:cs typeface="Calibri"/>
              </a:rPr>
              <a:t>mod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n, где C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и G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i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— порядковые номера символов в алфавите A.</a:t>
            </a:r>
            <a:endParaRPr lang="ru-RU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827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7432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E41CBD-4E97-4021-ACBA-82C1F680A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163" y="0"/>
            <a:ext cx="2427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2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6096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Шифр 4. Хилла (</a:t>
            </a:r>
            <a:r>
              <a:rPr lang="en-US" sz="4000" spc="-150" dirty="0">
                <a:solidFill>
                  <a:srgbClr val="161D31"/>
                </a:solidFill>
                <a:latin typeface="Calibri"/>
                <a:cs typeface="Calibri"/>
              </a:rPr>
              <a:t>Hill</a:t>
            </a: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28" name="object 4">
            <a:extLst>
              <a:ext uri="{FF2B5EF4-FFF2-40B4-BE49-F238E27FC236}">
                <a16:creationId xmlns:a16="http://schemas.microsoft.com/office/drawing/2014/main" id="{7446E890-B4D7-45F0-845D-F9BDBBEDF807}"/>
              </a:ext>
            </a:extLst>
          </p:cNvPr>
          <p:cNvSpPr txBox="1"/>
          <p:nvPr/>
        </p:nvSpPr>
        <p:spPr>
          <a:xfrm>
            <a:off x="770636" y="902665"/>
            <a:ext cx="32969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b="1" dirty="0">
                <a:solidFill>
                  <a:srgbClr val="163557"/>
                </a:solidFill>
                <a:latin typeface="Calibri"/>
                <a:cs typeface="Calibri"/>
              </a:rPr>
              <a:t>Открытый</a:t>
            </a:r>
            <a:r>
              <a:rPr sz="2800" b="1" spc="-1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endParaRPr sz="2800" dirty="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E7400"/>
                </a:solidFill>
                <a:latin typeface="Calibri"/>
                <a:cs typeface="Calibri"/>
              </a:rPr>
              <a:t>HIL</a:t>
            </a:r>
            <a:r>
              <a:rPr sz="2800" spc="-10" dirty="0">
                <a:solidFill>
                  <a:srgbClr val="7B3B9F"/>
                </a:solidFill>
                <a:latin typeface="Calibri"/>
                <a:cs typeface="Calibri"/>
              </a:rPr>
              <a:t>LCI</a:t>
            </a:r>
            <a:r>
              <a:rPr sz="2800" spc="-10" dirty="0">
                <a:solidFill>
                  <a:srgbClr val="5E9922"/>
                </a:solidFill>
                <a:latin typeface="Calibri"/>
                <a:cs typeface="Calibri"/>
              </a:rPr>
              <a:t>PHE</a:t>
            </a:r>
            <a:r>
              <a:rPr sz="2800" spc="-10" dirty="0">
                <a:solidFill>
                  <a:srgbClr val="277082"/>
                </a:solidFill>
                <a:latin typeface="Calibri"/>
                <a:cs typeface="Calibri"/>
              </a:rPr>
              <a:t>REX</a:t>
            </a:r>
            <a:r>
              <a:rPr sz="2800" spc="-10" dirty="0">
                <a:solidFill>
                  <a:srgbClr val="BE9000"/>
                </a:solidFill>
                <a:latin typeface="Calibri"/>
                <a:cs typeface="Calibri"/>
              </a:rPr>
              <a:t>AMP</a:t>
            </a:r>
            <a:r>
              <a:rPr sz="2800" spc="-10" dirty="0">
                <a:solidFill>
                  <a:srgbClr val="163557"/>
                </a:solidFill>
                <a:latin typeface="Calibri"/>
                <a:cs typeface="Calibri"/>
              </a:rPr>
              <a:t>LES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29" name="object 3">
            <a:extLst>
              <a:ext uri="{FF2B5EF4-FFF2-40B4-BE49-F238E27FC236}">
                <a16:creationId xmlns:a16="http://schemas.microsoft.com/office/drawing/2014/main" id="{D9830BCA-B9C1-4CAE-9123-B5221407BA6A}"/>
              </a:ext>
            </a:extLst>
          </p:cNvPr>
          <p:cNvGraphicFramePr>
            <a:graphicFrameLocks noGrp="1"/>
          </p:cNvGraphicFramePr>
          <p:nvPr/>
        </p:nvGraphicFramePr>
        <p:xfrm>
          <a:off x="707404" y="1899387"/>
          <a:ext cx="11094715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Z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object 5">
            <a:extLst>
              <a:ext uri="{FF2B5EF4-FFF2-40B4-BE49-F238E27FC236}">
                <a16:creationId xmlns:a16="http://schemas.microsoft.com/office/drawing/2014/main" id="{DB1E9742-08C6-4952-88CC-FD79E5EB938C}"/>
              </a:ext>
            </a:extLst>
          </p:cNvPr>
          <p:cNvGraphicFramePr>
            <a:graphicFrameLocks noGrp="1"/>
          </p:cNvGraphicFramePr>
          <p:nvPr/>
        </p:nvGraphicFramePr>
        <p:xfrm>
          <a:off x="687236" y="2884018"/>
          <a:ext cx="167640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277082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277082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277082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1" name="object 6">
            <a:extLst>
              <a:ext uri="{FF2B5EF4-FFF2-40B4-BE49-F238E27FC236}">
                <a16:creationId xmlns:a16="http://schemas.microsoft.com/office/drawing/2014/main" id="{760ADD62-B55C-4629-9692-F1972C4B239E}"/>
              </a:ext>
            </a:extLst>
          </p:cNvPr>
          <p:cNvGrpSpPr/>
          <p:nvPr/>
        </p:nvGrpSpPr>
        <p:grpSpPr>
          <a:xfrm>
            <a:off x="2488692" y="3534181"/>
            <a:ext cx="574675" cy="520065"/>
            <a:chOff x="2488692" y="3534181"/>
            <a:chExt cx="574675" cy="520065"/>
          </a:xfrm>
        </p:grpSpPr>
        <p:pic>
          <p:nvPicPr>
            <p:cNvPr id="32" name="object 7">
              <a:extLst>
                <a:ext uri="{FF2B5EF4-FFF2-40B4-BE49-F238E27FC236}">
                  <a16:creationId xmlns:a16="http://schemas.microsoft.com/office/drawing/2014/main" id="{BCF3A1ED-7211-47A4-AF36-390F5D839A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8692" y="3534181"/>
              <a:ext cx="574522" cy="519658"/>
            </a:xfrm>
            <a:prstGeom prst="rect">
              <a:avLst/>
            </a:prstGeom>
          </p:spPr>
        </p:pic>
        <p:pic>
          <p:nvPicPr>
            <p:cNvPr id="33" name="object 8">
              <a:extLst>
                <a:ext uri="{FF2B5EF4-FFF2-40B4-BE49-F238E27FC236}">
                  <a16:creationId xmlns:a16="http://schemas.microsoft.com/office/drawing/2014/main" id="{7FC9FC7D-DB30-492D-9D5D-1182DA8965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1237" y="3554349"/>
              <a:ext cx="493775" cy="437642"/>
            </a:xfrm>
            <a:prstGeom prst="rect">
              <a:avLst/>
            </a:prstGeom>
          </p:spPr>
        </p:pic>
      </p:grpSp>
      <p:graphicFrame>
        <p:nvGraphicFramePr>
          <p:cNvPr id="34" name="object 9">
            <a:extLst>
              <a:ext uri="{FF2B5EF4-FFF2-40B4-BE49-F238E27FC236}">
                <a16:creationId xmlns:a16="http://schemas.microsoft.com/office/drawing/2014/main" id="{14BEAF67-1055-43DD-B399-D159D843741E}"/>
              </a:ext>
            </a:extLst>
          </p:cNvPr>
          <p:cNvGraphicFramePr>
            <a:graphicFrameLocks noGrp="1"/>
          </p:cNvGraphicFramePr>
          <p:nvPr/>
        </p:nvGraphicFramePr>
        <p:xfrm>
          <a:off x="3209393" y="3269844"/>
          <a:ext cx="2017395" cy="1106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2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5" name="object 10">
            <a:extLst>
              <a:ext uri="{FF2B5EF4-FFF2-40B4-BE49-F238E27FC236}">
                <a16:creationId xmlns:a16="http://schemas.microsoft.com/office/drawing/2014/main" id="{172D0CD2-E56E-4FA1-B887-6357951C1459}"/>
              </a:ext>
            </a:extLst>
          </p:cNvPr>
          <p:cNvGrpSpPr/>
          <p:nvPr/>
        </p:nvGrpSpPr>
        <p:grpSpPr>
          <a:xfrm>
            <a:off x="5471159" y="3573779"/>
            <a:ext cx="494030" cy="370840"/>
            <a:chOff x="5471159" y="3573779"/>
            <a:chExt cx="494030" cy="370840"/>
          </a:xfrm>
        </p:grpSpPr>
        <p:pic>
          <p:nvPicPr>
            <p:cNvPr id="36" name="object 11">
              <a:extLst>
                <a:ext uri="{FF2B5EF4-FFF2-40B4-BE49-F238E27FC236}">
                  <a16:creationId xmlns:a16="http://schemas.microsoft.com/office/drawing/2014/main" id="{1B7ECEE4-11B9-4BE9-AAC7-2C592891773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1159" y="3573779"/>
              <a:ext cx="493814" cy="370332"/>
            </a:xfrm>
            <a:prstGeom prst="rect">
              <a:avLst/>
            </a:prstGeom>
          </p:spPr>
        </p:pic>
        <p:pic>
          <p:nvPicPr>
            <p:cNvPr id="37" name="object 12">
              <a:extLst>
                <a:ext uri="{FF2B5EF4-FFF2-40B4-BE49-F238E27FC236}">
                  <a16:creationId xmlns:a16="http://schemas.microsoft.com/office/drawing/2014/main" id="{40C67532-AB03-4CFA-A8BA-F743C6E93AC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4085" y="3592956"/>
              <a:ext cx="413258" cy="115823"/>
            </a:xfrm>
            <a:prstGeom prst="rect">
              <a:avLst/>
            </a:prstGeom>
          </p:spPr>
        </p:pic>
        <p:pic>
          <p:nvPicPr>
            <p:cNvPr id="38" name="object 13">
              <a:extLst>
                <a:ext uri="{FF2B5EF4-FFF2-40B4-BE49-F238E27FC236}">
                  <a16:creationId xmlns:a16="http://schemas.microsoft.com/office/drawing/2014/main" id="{251DB989-C310-4F51-90D9-1C0C9BE93B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4085" y="3766692"/>
              <a:ext cx="413258" cy="115696"/>
            </a:xfrm>
            <a:prstGeom prst="rect">
              <a:avLst/>
            </a:prstGeom>
          </p:spPr>
        </p:pic>
      </p:grpSp>
      <p:grpSp>
        <p:nvGrpSpPr>
          <p:cNvPr id="39" name="object 14">
            <a:extLst>
              <a:ext uri="{FF2B5EF4-FFF2-40B4-BE49-F238E27FC236}">
                <a16:creationId xmlns:a16="http://schemas.microsoft.com/office/drawing/2014/main" id="{C9644958-F436-449F-9D38-D1C95A11A125}"/>
              </a:ext>
            </a:extLst>
          </p:cNvPr>
          <p:cNvGrpSpPr/>
          <p:nvPr/>
        </p:nvGrpSpPr>
        <p:grpSpPr>
          <a:xfrm>
            <a:off x="7961376" y="3488423"/>
            <a:ext cx="478790" cy="547370"/>
            <a:chOff x="7961376" y="3488423"/>
            <a:chExt cx="478790" cy="547370"/>
          </a:xfrm>
        </p:grpSpPr>
        <p:pic>
          <p:nvPicPr>
            <p:cNvPr id="40" name="object 15">
              <a:extLst>
                <a:ext uri="{FF2B5EF4-FFF2-40B4-BE49-F238E27FC236}">
                  <a16:creationId xmlns:a16="http://schemas.microsoft.com/office/drawing/2014/main" id="{61EFF930-3D1B-456C-B519-C07929ABDA0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1376" y="3488423"/>
              <a:ext cx="478548" cy="368820"/>
            </a:xfrm>
            <a:prstGeom prst="rect">
              <a:avLst/>
            </a:prstGeom>
          </p:spPr>
        </p:pic>
        <p:pic>
          <p:nvPicPr>
            <p:cNvPr id="41" name="object 16">
              <a:extLst>
                <a:ext uri="{FF2B5EF4-FFF2-40B4-BE49-F238E27FC236}">
                  <a16:creationId xmlns:a16="http://schemas.microsoft.com/office/drawing/2014/main" id="{30704551-EDBB-4156-8AC1-6B21196187C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3413" y="3507358"/>
              <a:ext cx="398398" cy="115696"/>
            </a:xfrm>
            <a:prstGeom prst="rect">
              <a:avLst/>
            </a:prstGeom>
          </p:spPr>
        </p:pic>
        <p:pic>
          <p:nvPicPr>
            <p:cNvPr id="42" name="object 17">
              <a:extLst>
                <a:ext uri="{FF2B5EF4-FFF2-40B4-BE49-F238E27FC236}">
                  <a16:creationId xmlns:a16="http://schemas.microsoft.com/office/drawing/2014/main" id="{35C340A7-9B21-44B5-A63F-90C6D3D5472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3413" y="3680967"/>
              <a:ext cx="398398" cy="115696"/>
            </a:xfrm>
            <a:prstGeom prst="rect">
              <a:avLst/>
            </a:prstGeom>
          </p:spPr>
        </p:pic>
        <p:pic>
          <p:nvPicPr>
            <p:cNvPr id="43" name="object 18">
              <a:extLst>
                <a:ext uri="{FF2B5EF4-FFF2-40B4-BE49-F238E27FC236}">
                  <a16:creationId xmlns:a16="http://schemas.microsoft.com/office/drawing/2014/main" id="{45900EB0-C671-4388-A880-997F1F6198B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61376" y="3832923"/>
              <a:ext cx="478548" cy="202755"/>
            </a:xfrm>
            <a:prstGeom prst="rect">
              <a:avLst/>
            </a:prstGeom>
          </p:spPr>
        </p:pic>
        <p:pic>
          <p:nvPicPr>
            <p:cNvPr id="44" name="object 19">
              <a:extLst>
                <a:ext uri="{FF2B5EF4-FFF2-40B4-BE49-F238E27FC236}">
                  <a16:creationId xmlns:a16="http://schemas.microsoft.com/office/drawing/2014/main" id="{92D267D6-C55C-4A10-8513-3D7331C00F2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03413" y="3851818"/>
              <a:ext cx="398437" cy="122773"/>
            </a:xfrm>
            <a:prstGeom prst="rect">
              <a:avLst/>
            </a:prstGeom>
          </p:spPr>
        </p:pic>
      </p:grpSp>
      <p:sp>
        <p:nvSpPr>
          <p:cNvPr id="45" name="object 20">
            <a:extLst>
              <a:ext uri="{FF2B5EF4-FFF2-40B4-BE49-F238E27FC236}">
                <a16:creationId xmlns:a16="http://schemas.microsoft.com/office/drawing/2014/main" id="{7E5C327A-EF2A-43A0-88D8-75E9578D2B55}"/>
              </a:ext>
            </a:extLst>
          </p:cNvPr>
          <p:cNvSpPr txBox="1"/>
          <p:nvPr/>
        </p:nvSpPr>
        <p:spPr>
          <a:xfrm>
            <a:off x="10529061" y="3630295"/>
            <a:ext cx="1268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10" dirty="0">
                <a:solidFill>
                  <a:srgbClr val="163557"/>
                </a:solidFill>
                <a:latin typeface="Calibri"/>
                <a:cs typeface="Calibri"/>
              </a:rPr>
              <a:t>(mod26)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B8DF61DB-08FD-45B4-8E49-BDBFDF157907}"/>
              </a:ext>
            </a:extLst>
          </p:cNvPr>
          <p:cNvSpPr txBox="1"/>
          <p:nvPr/>
        </p:nvSpPr>
        <p:spPr>
          <a:xfrm>
            <a:off x="3473577" y="4389246"/>
            <a:ext cx="151638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12395">
              <a:lnSpc>
                <a:spcPct val="101099"/>
              </a:lnSpc>
              <a:spcBef>
                <a:spcPts val="75"/>
              </a:spcBef>
            </a:pPr>
            <a:r>
              <a:rPr sz="1800" i="1" spc="-10" dirty="0">
                <a:solidFill>
                  <a:srgbClr val="163557"/>
                </a:solidFill>
                <a:latin typeface="Calibri"/>
                <a:cs typeface="Calibri"/>
              </a:rPr>
              <a:t>Шифрующая </a:t>
            </a:r>
            <a:r>
              <a:rPr sz="1800" i="1" spc="-20" dirty="0">
                <a:solidFill>
                  <a:srgbClr val="163557"/>
                </a:solidFill>
                <a:latin typeface="Calibri"/>
                <a:cs typeface="Calibri"/>
              </a:rPr>
              <a:t>матрица-ключ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7" name="object 22">
            <a:extLst>
              <a:ext uri="{FF2B5EF4-FFF2-40B4-BE49-F238E27FC236}">
                <a16:creationId xmlns:a16="http://schemas.microsoft.com/office/drawing/2014/main" id="{94A611CB-6E9F-4DD5-A16C-C173D6E62EBE}"/>
              </a:ext>
            </a:extLst>
          </p:cNvPr>
          <p:cNvGraphicFramePr>
            <a:graphicFrameLocks noGrp="1"/>
          </p:cNvGraphicFramePr>
          <p:nvPr/>
        </p:nvGraphicFramePr>
        <p:xfrm>
          <a:off x="5999033" y="2879659"/>
          <a:ext cx="1840864" cy="225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366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261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863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456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50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635"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45"/>
                        </a:lnSpc>
                        <a:spcBef>
                          <a:spcPts val="7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8" name="object 23">
            <a:extLst>
              <a:ext uri="{FF2B5EF4-FFF2-40B4-BE49-F238E27FC236}">
                <a16:creationId xmlns:a16="http://schemas.microsoft.com/office/drawing/2014/main" id="{46F393BF-0A8F-4908-93AC-C39E11CAE98D}"/>
              </a:ext>
            </a:extLst>
          </p:cNvPr>
          <p:cNvGraphicFramePr>
            <a:graphicFrameLocks noGrp="1"/>
          </p:cNvGraphicFramePr>
          <p:nvPr/>
        </p:nvGraphicFramePr>
        <p:xfrm>
          <a:off x="8618408" y="2901250"/>
          <a:ext cx="1828800" cy="220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5E9922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508FD3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BE9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25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  <a:spcBef>
                          <a:spcPts val="640"/>
                        </a:spcBef>
                      </a:pPr>
                      <a:r>
                        <a:rPr sz="1800" b="1" spc="-50" dirty="0">
                          <a:solidFill>
                            <a:srgbClr val="163557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object 24">
            <a:extLst>
              <a:ext uri="{FF2B5EF4-FFF2-40B4-BE49-F238E27FC236}">
                <a16:creationId xmlns:a16="http://schemas.microsoft.com/office/drawing/2014/main" id="{9419FFCA-6A19-41CA-B7FC-6F6F1146C4E0}"/>
              </a:ext>
            </a:extLst>
          </p:cNvPr>
          <p:cNvSpPr txBox="1"/>
          <p:nvPr/>
        </p:nvSpPr>
        <p:spPr>
          <a:xfrm>
            <a:off x="8009890" y="5106415"/>
            <a:ext cx="365315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b="1" spc="-10" dirty="0">
                <a:solidFill>
                  <a:srgbClr val="163557"/>
                </a:solidFill>
                <a:latin typeface="Calibri"/>
                <a:cs typeface="Calibri"/>
              </a:rPr>
              <a:t>Шифровка:</a:t>
            </a:r>
            <a:endParaRPr sz="2800" dirty="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2800" spc="-10" dirty="0">
                <a:solidFill>
                  <a:srgbClr val="DE7400"/>
                </a:solidFill>
                <a:latin typeface="Calibri"/>
                <a:cs typeface="Calibri"/>
              </a:rPr>
              <a:t>CPS</a:t>
            </a:r>
            <a:r>
              <a:rPr sz="2800" spc="-10" dirty="0">
                <a:solidFill>
                  <a:srgbClr val="7B3B9F"/>
                </a:solidFill>
                <a:latin typeface="Calibri"/>
                <a:cs typeface="Calibri"/>
              </a:rPr>
              <a:t>SQV</a:t>
            </a:r>
            <a:r>
              <a:rPr sz="2800" spc="-10" dirty="0">
                <a:solidFill>
                  <a:srgbClr val="5E9922"/>
                </a:solidFill>
                <a:latin typeface="Calibri"/>
                <a:cs typeface="Calibri"/>
              </a:rPr>
              <a:t>BUP</a:t>
            </a:r>
            <a:r>
              <a:rPr sz="2800" spc="-10" dirty="0">
                <a:solidFill>
                  <a:srgbClr val="277082"/>
                </a:solidFill>
                <a:latin typeface="Calibri"/>
                <a:cs typeface="Calibri"/>
              </a:rPr>
              <a:t>QFM</a:t>
            </a:r>
            <a:r>
              <a:rPr sz="2800" spc="-10" dirty="0">
                <a:solidFill>
                  <a:srgbClr val="BE9000"/>
                </a:solidFill>
                <a:latin typeface="Calibri"/>
                <a:cs typeface="Calibri"/>
              </a:rPr>
              <a:t>OFH</a:t>
            </a:r>
            <a:r>
              <a:rPr sz="2800" spc="-10" dirty="0">
                <a:solidFill>
                  <a:srgbClr val="163557"/>
                </a:solidFill>
                <a:latin typeface="Calibri"/>
                <a:cs typeface="Calibri"/>
              </a:rPr>
              <a:t>KKJ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003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368C03-8FD5-4D91-8371-0AEC469A3D7D}"/>
              </a:ext>
            </a:extLst>
          </p:cNvPr>
          <p:cNvSpPr txBox="1"/>
          <p:nvPr/>
        </p:nvSpPr>
        <p:spPr>
          <a:xfrm>
            <a:off x="447676" y="105430"/>
            <a:ext cx="6479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</a:t>
            </a: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хема протокола шифра в </a:t>
            </a: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CrypTool2</a:t>
            </a:r>
            <a:endParaRPr lang="ru-RU" sz="2800" b="1" spc="-15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4DB3C0-340B-4CC9-8F46-239E76550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5800"/>
            <a:ext cx="9795027" cy="528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152400"/>
            <a:ext cx="11506200" cy="53290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Внешняя спецификация алгоритма расшифрования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расшифрование текста на основе матричного умножения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.</a:t>
            </a:r>
            <a:endParaRPr lang="ru-RU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</a:t>
            </a:r>
            <a:endParaRPr lang="en-US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шифротекст.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K</a:t>
            </a:r>
            <a:r>
              <a:rPr lang="en-US" sz="2600" spc="-150" baseline="30000" dirty="0">
                <a:solidFill>
                  <a:srgbClr val="161D31"/>
                </a:solidFill>
                <a:latin typeface="Calibri"/>
                <a:cs typeface="Calibri"/>
              </a:rPr>
              <a:t>-1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Integer[][]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обратная матрица-ключ размера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m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×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m (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например, 3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×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3).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A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алфавит (английский,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n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=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26).</a:t>
            </a:r>
            <a:endParaRPr lang="ru-RU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  <a:endParaRPr lang="en-US" sz="26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открытый текст.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Условия и ограничения: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матрица зашифрования должна быть обратима по модулю n (ее детерминант взаимно прост с n). Длина C кратна m.</a:t>
            </a:r>
            <a:endParaRPr lang="en-US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модель:</a:t>
            </a:r>
            <a:r>
              <a:rPr lang="en-US" sz="2600" b="1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шифротекст разбивается на векторы-строки по m символов. Каждому вектору C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block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ставится в соответствие вектор чисел, который умножается на обратную матрицу ключа по модулю n: P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block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= (C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block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× K</a:t>
            </a:r>
            <a:r>
              <a:rPr lang="ru-RU" sz="2600" spc="-150" baseline="30000" dirty="0">
                <a:solidFill>
                  <a:srgbClr val="161D31"/>
                </a:solidFill>
                <a:latin typeface="Calibri"/>
                <a:cs typeface="Calibri"/>
              </a:rPr>
              <a:t>-1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</a:t>
            </a:r>
            <a:r>
              <a:rPr lang="ru-RU" sz="2600" i="1" spc="-150" dirty="0">
                <a:solidFill>
                  <a:srgbClr val="161D31"/>
                </a:solidFill>
                <a:latin typeface="Calibri"/>
                <a:cs typeface="Calibri"/>
              </a:rPr>
              <a:t>mod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n.</a:t>
            </a:r>
          </a:p>
        </p:txBody>
      </p:sp>
    </p:spTree>
    <p:extLst>
      <p:ext uri="{BB962C8B-B14F-4D97-AF65-F5344CB8AC3E}">
        <p14:creationId xmlns:p14="http://schemas.microsoft.com/office/powerpoint/2010/main" val="14570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6670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B842E1-D2A5-48FA-AC5E-1522B3C6F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361" y="0"/>
            <a:ext cx="3083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C0AEC1E7-DAB4-4EAE-943F-EB706DCEFC96}"/>
              </a:ext>
            </a:extLst>
          </p:cNvPr>
          <p:cNvSpPr/>
          <p:nvPr/>
        </p:nvSpPr>
        <p:spPr>
          <a:xfrm>
            <a:off x="457200" y="2277362"/>
            <a:ext cx="427857" cy="300355"/>
          </a:xfrm>
          <a:custGeom>
            <a:avLst/>
            <a:gdLst/>
            <a:ahLst/>
            <a:cxnLst/>
            <a:rect l="l" t="t" r="r" b="b"/>
            <a:pathLst>
              <a:path w="640715" h="370839">
                <a:moveTo>
                  <a:pt x="640435" y="0"/>
                </a:moveTo>
                <a:lnTo>
                  <a:pt x="0" y="0"/>
                </a:lnTo>
                <a:lnTo>
                  <a:pt x="0" y="370801"/>
                </a:lnTo>
                <a:lnTo>
                  <a:pt x="640435" y="370801"/>
                </a:lnTo>
                <a:lnTo>
                  <a:pt x="640435" y="0"/>
                </a:lnTo>
                <a:close/>
              </a:path>
            </a:pathLst>
          </a:custGeom>
          <a:solidFill>
            <a:srgbClr val="FFC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6096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Шифр 5.</a:t>
            </a:r>
            <a:r>
              <a:rPr lang="en-US" sz="4000" spc="-150" dirty="0">
                <a:solidFill>
                  <a:srgbClr val="161D31"/>
                </a:solidFill>
                <a:latin typeface="Calibri"/>
                <a:cs typeface="Calibri"/>
              </a:rPr>
              <a:t> ADFGVX</a:t>
            </a:r>
            <a:r>
              <a:rPr lang="ru-RU" sz="4000" spc="-150" dirty="0">
                <a:solidFill>
                  <a:srgbClr val="161D31"/>
                </a:solidFill>
                <a:latin typeface="Calibri"/>
                <a:cs typeface="Calibri"/>
              </a:rPr>
              <a:t>  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EA9738F-E05B-4858-A52F-A6646632079B}"/>
              </a:ext>
            </a:extLst>
          </p:cNvPr>
          <p:cNvSpPr txBox="1"/>
          <p:nvPr/>
        </p:nvSpPr>
        <p:spPr>
          <a:xfrm>
            <a:off x="218942" y="1013564"/>
            <a:ext cx="3410585" cy="72776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475"/>
              </a:spcBef>
              <a:buSzPct val="96428"/>
              <a:tabLst>
                <a:tab pos="328930" algn="l"/>
              </a:tabLst>
            </a:pPr>
            <a:r>
              <a:rPr sz="2000" b="1" dirty="0">
                <a:solidFill>
                  <a:srgbClr val="163557"/>
                </a:solidFill>
                <a:latin typeface="Calibri"/>
                <a:cs typeface="Calibri"/>
              </a:rPr>
              <a:t>Шаг</a:t>
            </a:r>
            <a:r>
              <a:rPr sz="2000" b="1" spc="-3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3557"/>
                </a:solidFill>
                <a:latin typeface="Calibri"/>
                <a:cs typeface="Calibri"/>
              </a:rPr>
              <a:t>1:</a:t>
            </a:r>
            <a:r>
              <a:rPr sz="2000" b="1" spc="-2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000" b="1" spc="-10" dirty="0" err="1">
                <a:solidFill>
                  <a:srgbClr val="163557"/>
                </a:solidFill>
                <a:latin typeface="Calibri"/>
                <a:cs typeface="Calibri"/>
              </a:rPr>
              <a:t>Замена</a:t>
            </a:r>
            <a:endParaRPr lang="ru-RU" sz="2000" dirty="0">
              <a:latin typeface="Calibri"/>
              <a:cs typeface="Calibri"/>
            </a:endParaRPr>
          </a:p>
          <a:p>
            <a:pPr marL="400685" lvl="1">
              <a:lnSpc>
                <a:spcPct val="100000"/>
              </a:lnSpc>
              <a:spcBef>
                <a:spcPts val="375"/>
              </a:spcBef>
              <a:tabLst>
                <a:tab pos="857250" algn="l"/>
              </a:tabLst>
            </a:pPr>
            <a:r>
              <a:rPr lang="ru-RU" sz="2000" b="1" dirty="0">
                <a:solidFill>
                  <a:srgbClr val="163557"/>
                </a:solidFill>
                <a:latin typeface="Calibri"/>
                <a:cs typeface="Calibri"/>
              </a:rPr>
              <a:t>Открытый</a:t>
            </a:r>
            <a:r>
              <a:rPr lang="ru-RU" sz="2000" b="1" spc="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000" b="1" spc="-10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endParaRPr lang="ru-RU" sz="2000" dirty="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0A273C60-28B8-4465-AE9C-40E9D4395019}"/>
              </a:ext>
            </a:extLst>
          </p:cNvPr>
          <p:cNvSpPr txBox="1"/>
          <p:nvPr/>
        </p:nvSpPr>
        <p:spPr>
          <a:xfrm>
            <a:off x="2514600" y="1448268"/>
            <a:ext cx="24460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DE7400"/>
                </a:solidFill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IPHEREXAMPLE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2510884A-E60E-457C-84AA-970BAC850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649082"/>
              </p:ext>
            </p:extLst>
          </p:nvPr>
        </p:nvGraphicFramePr>
        <p:xfrm>
          <a:off x="462748" y="1872103"/>
          <a:ext cx="2937598" cy="2246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6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7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DE740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Z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0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809154EB-69E6-4426-AA70-5DE059BFEA12}"/>
              </a:ext>
            </a:extLst>
          </p:cNvPr>
          <p:cNvSpPr/>
          <p:nvPr/>
        </p:nvSpPr>
        <p:spPr>
          <a:xfrm>
            <a:off x="754167" y="2094921"/>
            <a:ext cx="1150834" cy="331786"/>
          </a:xfrm>
          <a:custGeom>
            <a:avLst/>
            <a:gdLst/>
            <a:ahLst/>
            <a:cxnLst/>
            <a:rect l="l" t="t" r="r" b="b"/>
            <a:pathLst>
              <a:path w="1626235" h="448944">
                <a:moveTo>
                  <a:pt x="1597977" y="39497"/>
                </a:moveTo>
                <a:lnTo>
                  <a:pt x="1583905" y="34925"/>
                </a:lnTo>
                <a:lnTo>
                  <a:pt x="1476438" y="0"/>
                </a:lnTo>
                <a:lnTo>
                  <a:pt x="1482115" y="37769"/>
                </a:lnTo>
                <a:lnTo>
                  <a:pt x="0" y="261112"/>
                </a:lnTo>
                <a:lnTo>
                  <a:pt x="5689" y="298831"/>
                </a:lnTo>
                <a:lnTo>
                  <a:pt x="1487779" y="75374"/>
                </a:lnTo>
                <a:lnTo>
                  <a:pt x="1493456" y="113030"/>
                </a:lnTo>
                <a:lnTo>
                  <a:pt x="1597977" y="39497"/>
                </a:lnTo>
                <a:close/>
              </a:path>
              <a:path w="1626235" h="448944">
                <a:moveTo>
                  <a:pt x="1625790" y="410337"/>
                </a:moveTo>
                <a:lnTo>
                  <a:pt x="1625663" y="372491"/>
                </a:lnTo>
                <a:lnTo>
                  <a:pt x="1625663" y="372237"/>
                </a:lnTo>
                <a:lnTo>
                  <a:pt x="145211" y="372491"/>
                </a:lnTo>
                <a:lnTo>
                  <a:pt x="145211" y="334391"/>
                </a:lnTo>
                <a:lnTo>
                  <a:pt x="30924" y="391541"/>
                </a:lnTo>
                <a:lnTo>
                  <a:pt x="145237" y="448691"/>
                </a:lnTo>
                <a:lnTo>
                  <a:pt x="145224" y="410591"/>
                </a:lnTo>
                <a:lnTo>
                  <a:pt x="1625790" y="4103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34D789D5-35E3-4535-80EA-2FC5BBF3AF7E}"/>
              </a:ext>
            </a:extLst>
          </p:cNvPr>
          <p:cNvSpPr txBox="1"/>
          <p:nvPr/>
        </p:nvSpPr>
        <p:spPr>
          <a:xfrm>
            <a:off x="152400" y="4361147"/>
            <a:ext cx="411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E7400"/>
                </a:solidFill>
                <a:latin typeface="Calibri"/>
                <a:cs typeface="Calibri"/>
              </a:rPr>
              <a:t>AF</a:t>
            </a:r>
            <a:r>
              <a:rPr sz="1800" b="1" spc="-30" dirty="0">
                <a:solidFill>
                  <a:srgbClr val="DE74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DF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FX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GX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AA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DX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AV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0D18B0C5-C03A-4793-9F7C-CD7219169D73}"/>
              </a:ext>
            </a:extLst>
          </p:cNvPr>
          <p:cNvSpPr txBox="1"/>
          <p:nvPr/>
        </p:nvSpPr>
        <p:spPr>
          <a:xfrm>
            <a:off x="6115050" y="1198468"/>
            <a:ext cx="22053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000" b="1" dirty="0">
                <a:solidFill>
                  <a:srgbClr val="163557"/>
                </a:solidFill>
                <a:latin typeface="Calibri"/>
                <a:cs typeface="Calibri"/>
              </a:rPr>
              <a:t>Текущий</a:t>
            </a:r>
            <a:r>
              <a:rPr sz="2000" b="1" spc="31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63557"/>
                </a:solidFill>
                <a:latin typeface="Calibri"/>
                <a:cs typeface="Calibri"/>
              </a:rPr>
              <a:t>текст: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35C138AA-681C-4777-ABB4-2FE705114C65}"/>
              </a:ext>
            </a:extLst>
          </p:cNvPr>
          <p:cNvSpPr txBox="1"/>
          <p:nvPr/>
        </p:nvSpPr>
        <p:spPr>
          <a:xfrm>
            <a:off x="7941665" y="1228604"/>
            <a:ext cx="41741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FG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AV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FX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AV</a:t>
            </a:r>
            <a:r>
              <a:rPr spc="4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GX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AA</a:t>
            </a:r>
            <a:r>
              <a:rPr spc="45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FA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FG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DX</a:t>
            </a:r>
            <a:r>
              <a:rPr spc="46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AV</a:t>
            </a:r>
            <a:endParaRPr dirty="0">
              <a:latin typeface="Calibri"/>
              <a:cs typeface="Calibri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D723B887-B9E6-4EEF-A8D9-581770ED6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42054"/>
              </p:ext>
            </p:extLst>
          </p:nvPr>
        </p:nvGraphicFramePr>
        <p:xfrm>
          <a:off x="5018720" y="1734605"/>
          <a:ext cx="2948315" cy="27181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3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466">
                <a:tc>
                  <a:txBody>
                    <a:bodyPr/>
                    <a:lstStyle/>
                    <a:p>
                      <a:pPr marR="2355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2415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1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320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89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6379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66">
                <a:tc>
                  <a:txBody>
                    <a:bodyPr/>
                    <a:lstStyle/>
                    <a:p>
                      <a:pPr marR="2540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1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object 7">
            <a:extLst>
              <a:ext uri="{FF2B5EF4-FFF2-40B4-BE49-F238E27FC236}">
                <a16:creationId xmlns:a16="http://schemas.microsoft.com/office/drawing/2014/main" id="{379691B9-93E6-403C-B4E5-8C7BAC004492}"/>
              </a:ext>
            </a:extLst>
          </p:cNvPr>
          <p:cNvSpPr txBox="1"/>
          <p:nvPr/>
        </p:nvSpPr>
        <p:spPr>
          <a:xfrm>
            <a:off x="5638800" y="878509"/>
            <a:ext cx="25575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  <a:buSzPct val="96428"/>
              <a:tabLst>
                <a:tab pos="328930" algn="l"/>
              </a:tabLst>
            </a:pPr>
            <a:r>
              <a:rPr lang="ru-RU" sz="2000" b="1" dirty="0">
                <a:solidFill>
                  <a:srgbClr val="163557"/>
                </a:solidFill>
                <a:latin typeface="Calibri"/>
                <a:cs typeface="Calibri"/>
              </a:rPr>
              <a:t>Шаг</a:t>
            </a:r>
            <a:r>
              <a:rPr lang="ru-RU" sz="2000" b="1" spc="-2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000" b="1" dirty="0">
                <a:solidFill>
                  <a:srgbClr val="163557"/>
                </a:solidFill>
                <a:latin typeface="Calibri"/>
                <a:cs typeface="Calibri"/>
              </a:rPr>
              <a:t>2:</a:t>
            </a:r>
            <a:r>
              <a:rPr lang="ru-RU" sz="2000" b="1" spc="61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lang="ru-RU" sz="2000" b="1" spc="-10" dirty="0">
                <a:solidFill>
                  <a:srgbClr val="163557"/>
                </a:solidFill>
                <a:latin typeface="Calibri"/>
                <a:cs typeface="Calibri"/>
              </a:rPr>
              <a:t>Перестановка</a:t>
            </a:r>
            <a:endParaRPr lang="ru-RU" sz="2000" dirty="0">
              <a:latin typeface="Calibri"/>
              <a:cs typeface="Calibri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AF33F3F0-6B3B-4181-9D1A-2C6A1D336557}"/>
              </a:ext>
            </a:extLst>
          </p:cNvPr>
          <p:cNvSpPr txBox="1"/>
          <p:nvPr/>
        </p:nvSpPr>
        <p:spPr>
          <a:xfrm>
            <a:off x="8352145" y="4958096"/>
            <a:ext cx="509714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163557"/>
                </a:solidFill>
                <a:latin typeface="Calibri"/>
                <a:cs typeface="Calibri"/>
              </a:rPr>
              <a:t>FFADF</a:t>
            </a:r>
            <a:r>
              <a:rPr b="1" spc="-114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63557"/>
                </a:solidFill>
                <a:latin typeface="Calibri"/>
                <a:cs typeface="Calibri"/>
              </a:rPr>
              <a:t>VXGAD</a:t>
            </a:r>
            <a:r>
              <a:rPr b="1" spc="-8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163557"/>
                </a:solidFill>
                <a:latin typeface="Calibri"/>
                <a:cs typeface="Calibri"/>
              </a:rPr>
              <a:t>AFADA</a:t>
            </a:r>
            <a:r>
              <a:rPr b="1" spc="-10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63557"/>
                </a:solidFill>
                <a:latin typeface="Calibri"/>
                <a:cs typeface="Calibri"/>
              </a:rPr>
              <a:t>GFFDV</a:t>
            </a:r>
            <a:r>
              <a:rPr b="1" spc="-90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163557"/>
                </a:solidFill>
                <a:latin typeface="Calibri"/>
                <a:cs typeface="Calibri"/>
              </a:rPr>
              <a:t>AVGXA</a:t>
            </a:r>
            <a:r>
              <a:rPr b="1" spc="-105" dirty="0">
                <a:solidFill>
                  <a:srgbClr val="163557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163557"/>
                </a:solidFill>
                <a:latin typeface="Calibri"/>
                <a:cs typeface="Calibri"/>
              </a:rPr>
              <a:t>X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95BC97FF-8E5C-4444-A1F3-252B66EE15B0}"/>
              </a:ext>
            </a:extLst>
          </p:cNvPr>
          <p:cNvSpPr/>
          <p:nvPr/>
        </p:nvSpPr>
        <p:spPr>
          <a:xfrm>
            <a:off x="8382000" y="2585918"/>
            <a:ext cx="653770" cy="2443282"/>
          </a:xfrm>
          <a:custGeom>
            <a:avLst/>
            <a:gdLst/>
            <a:ahLst/>
            <a:cxnLst/>
            <a:rect l="l" t="t" r="r" b="b"/>
            <a:pathLst>
              <a:path w="719454" h="2145665">
                <a:moveTo>
                  <a:pt x="0" y="2019046"/>
                </a:moveTo>
                <a:lnTo>
                  <a:pt x="19812" y="2145284"/>
                </a:lnTo>
                <a:lnTo>
                  <a:pt x="102536" y="2060321"/>
                </a:lnTo>
                <a:lnTo>
                  <a:pt x="66928" y="2060321"/>
                </a:lnTo>
                <a:lnTo>
                  <a:pt x="30606" y="2048764"/>
                </a:lnTo>
                <a:lnTo>
                  <a:pt x="36384" y="2030623"/>
                </a:lnTo>
                <a:lnTo>
                  <a:pt x="0" y="2019046"/>
                </a:lnTo>
                <a:close/>
              </a:path>
              <a:path w="719454" h="2145665">
                <a:moveTo>
                  <a:pt x="36384" y="2030623"/>
                </a:moveTo>
                <a:lnTo>
                  <a:pt x="30606" y="2048764"/>
                </a:lnTo>
                <a:lnTo>
                  <a:pt x="66928" y="2060321"/>
                </a:lnTo>
                <a:lnTo>
                  <a:pt x="72706" y="2042180"/>
                </a:lnTo>
                <a:lnTo>
                  <a:pt x="36384" y="2030623"/>
                </a:lnTo>
                <a:close/>
              </a:path>
              <a:path w="719454" h="2145665">
                <a:moveTo>
                  <a:pt x="72706" y="2042180"/>
                </a:moveTo>
                <a:lnTo>
                  <a:pt x="66928" y="2060321"/>
                </a:lnTo>
                <a:lnTo>
                  <a:pt x="102536" y="2060321"/>
                </a:lnTo>
                <a:lnTo>
                  <a:pt x="108965" y="2053717"/>
                </a:lnTo>
                <a:lnTo>
                  <a:pt x="72706" y="2042180"/>
                </a:lnTo>
                <a:close/>
              </a:path>
              <a:path w="719454" h="2145665">
                <a:moveTo>
                  <a:pt x="683133" y="0"/>
                </a:moveTo>
                <a:lnTo>
                  <a:pt x="36384" y="2030623"/>
                </a:lnTo>
                <a:lnTo>
                  <a:pt x="72706" y="2042180"/>
                </a:lnTo>
                <a:lnTo>
                  <a:pt x="719454" y="11557"/>
                </a:lnTo>
                <a:lnTo>
                  <a:pt x="6831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43D96A84-6DCF-4674-8285-78DAEC254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420297"/>
              </p:ext>
            </p:extLst>
          </p:nvPr>
        </p:nvGraphicFramePr>
        <p:xfrm>
          <a:off x="8915400" y="1734605"/>
          <a:ext cx="2965068" cy="2696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1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268">
                <a:tc>
                  <a:txBody>
                    <a:bodyPr/>
                    <a:lstStyle/>
                    <a:p>
                      <a:pPr marR="2216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1993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2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46"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solidFill>
                            <a:srgbClr val="7B3B9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D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6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3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769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368C03-8FD5-4D91-8371-0AEC469A3D7D}"/>
              </a:ext>
            </a:extLst>
          </p:cNvPr>
          <p:cNvSpPr txBox="1"/>
          <p:nvPr/>
        </p:nvSpPr>
        <p:spPr>
          <a:xfrm>
            <a:off x="228600" y="7368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Схема протокола шифра в </a:t>
            </a:r>
            <a:r>
              <a:rPr lang="en-US" sz="2800" b="1" spc="-150" dirty="0">
                <a:solidFill>
                  <a:srgbClr val="161D31"/>
                </a:solidFill>
                <a:latin typeface="Calibri"/>
                <a:cs typeface="Calibri"/>
              </a:rPr>
              <a:t>CrypTool2</a:t>
            </a:r>
            <a:endParaRPr lang="ru-RU" sz="2800" b="1" spc="-150" dirty="0">
              <a:solidFill>
                <a:srgbClr val="161D31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94D8DC-A2BF-46A0-9E9C-0DC663668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85800"/>
            <a:ext cx="901677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18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C03B41-2DF4-40F2-A14A-92BF3FB5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8200"/>
            <a:ext cx="12192000" cy="2248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3400" y="152400"/>
            <a:ext cx="11430000" cy="655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Внешняя спецификация алгоритма расшифрования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снятие комбинированного шифрования (обратная столбцовая перестановка → обратная замена координат по сетке 6 × 6)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 </a:t>
            </a:r>
            <a:endParaRPr lang="ru-RU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шифротекст (содержит только буквы A, D, F, G, V, X).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K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trans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пароль перестановки (например, 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OURKEY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M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sub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Char[6][6]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заполненная матрица подстановки.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en-US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600" spc="-150" dirty="0">
                <a:solidFill>
                  <a:srgbClr val="161D31"/>
                </a:solidFill>
                <a:latin typeface="Calibri"/>
                <a:cs typeface="Calibri"/>
              </a:rPr>
              <a:t>) —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открытый текст.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Условия и ограничения: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длина C четная. В шифротексте нет посторонних символов.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модель: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Этап 1: ключ K</a:t>
            </a:r>
            <a:r>
              <a:rPr lang="ru-RU" sz="2600" baseline="-25000" dirty="0">
                <a:solidFill>
                  <a:srgbClr val="161D31"/>
                </a:solidFill>
                <a:latin typeface="Calibri"/>
                <a:cs typeface="Calibri"/>
              </a:rPr>
              <a:t>trans</a:t>
            </a: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 сортируется по алфавиту. Шифротекст записывается в столбцы под отсортированным ключом. Затем столбцы переставляются в исходный порядок слова K</a:t>
            </a:r>
            <a:r>
              <a:rPr lang="ru-RU" sz="2600" baseline="-25000" dirty="0">
                <a:solidFill>
                  <a:srgbClr val="161D31"/>
                </a:solidFill>
                <a:latin typeface="Calibri"/>
                <a:cs typeface="Calibri"/>
              </a:rPr>
              <a:t>trans</a:t>
            </a: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. Текст считывается по строкам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→</a:t>
            </a: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 промежуточный текст T.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Этап 2: текст T бьется на пары (строка, столбец). По этим координатам из матрицы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M</a:t>
            </a:r>
            <a:r>
              <a:rPr lang="ru-RU" sz="2600" spc="-150" baseline="-25000" dirty="0">
                <a:solidFill>
                  <a:srgbClr val="161D31"/>
                </a:solidFill>
                <a:latin typeface="Calibri"/>
                <a:cs typeface="Calibri"/>
              </a:rPr>
              <a:t>sub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2600" dirty="0">
                <a:solidFill>
                  <a:srgbClr val="161D31"/>
                </a:solidFill>
                <a:latin typeface="Calibri"/>
                <a:cs typeface="Calibri"/>
              </a:rPr>
              <a:t>извлекаются буквы открытого текста.</a:t>
            </a:r>
          </a:p>
        </p:txBody>
      </p:sp>
    </p:spTree>
    <p:extLst>
      <p:ext uri="{BB962C8B-B14F-4D97-AF65-F5344CB8AC3E}">
        <p14:creationId xmlns:p14="http://schemas.microsoft.com/office/powerpoint/2010/main" val="175176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5146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расшифрования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B87CEFA-AF62-43AA-8A9A-79A40E1A7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58" y="0"/>
            <a:ext cx="3250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92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533400" y="252412"/>
            <a:ext cx="1363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Шифр </a:t>
            </a:r>
            <a:r>
              <a:rPr lang="en-US" sz="3600" spc="-150" dirty="0">
                <a:solidFill>
                  <a:srgbClr val="161D31"/>
                </a:solidFill>
                <a:latin typeface="Calibri"/>
                <a:cs typeface="Calibri"/>
              </a:rPr>
              <a:t>6</a:t>
            </a: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.</a:t>
            </a:r>
            <a:r>
              <a:rPr lang="en-US" sz="3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Заданный вариантом. Прототип «Решетки Кардано».  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28EB33C-A147-46D1-98E4-6D7911EE0D4A}"/>
              </a:ext>
            </a:extLst>
          </p:cNvPr>
          <p:cNvSpPr txBox="1"/>
          <p:nvPr/>
        </p:nvSpPr>
        <p:spPr>
          <a:xfrm>
            <a:off x="533400" y="990600"/>
            <a:ext cx="11430000" cy="3677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Назначение: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 зашифрование строки байт с использованием вращающейся квадратной матрицы-трафарета (Решётка Кардано).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Входные данные: </a:t>
            </a:r>
            <a:endParaRPr lang="ru-RU" sz="2600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P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of Bytes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исходное сообщение (длина произвольная, например |P|=11).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K1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Char[4][4]</a:t>
            </a:r>
            <a:r>
              <a:rPr lang="ru-RU" sz="2600" spc="-150" dirty="0">
                <a:solidFill>
                  <a:srgbClr val="161D31"/>
                </a:solidFill>
                <a:latin typeface="+mj-lt"/>
                <a:cs typeface="Courier New" panose="02070309020205020404" pitchFamily="49" charset="0"/>
              </a:rPr>
              <a:t>)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— матрица-трафарет размером 4 × 4, где '0' — отверстие (куда пишем), '#' — закрытая ячейка.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Выходные данные:</a:t>
            </a:r>
          </a:p>
          <a:p>
            <a:pPr marL="469900" indent="-4572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C (</a:t>
            </a:r>
            <a:r>
              <a:rPr lang="ru-RU" sz="2600" spc="-150" dirty="0">
                <a:solidFill>
                  <a:srgbClr val="161D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of Bytes</a:t>
            </a: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) — шифротекст.</a:t>
            </a:r>
          </a:p>
        </p:txBody>
      </p:sp>
    </p:spTree>
    <p:extLst>
      <p:ext uri="{BB962C8B-B14F-4D97-AF65-F5344CB8AC3E}">
        <p14:creationId xmlns:p14="http://schemas.microsoft.com/office/powerpoint/2010/main" val="1992166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43AA6-DB97-45FB-8745-C8DEF185D432}"/>
              </a:ext>
            </a:extLst>
          </p:cNvPr>
          <p:cNvSpPr txBox="1"/>
          <p:nvPr/>
        </p:nvSpPr>
        <p:spPr>
          <a:xfrm>
            <a:off x="533400" y="252412"/>
            <a:ext cx="1363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Шифр </a:t>
            </a:r>
            <a:r>
              <a:rPr lang="en-US" sz="3600" spc="-150" dirty="0">
                <a:solidFill>
                  <a:srgbClr val="161D31"/>
                </a:solidFill>
                <a:latin typeface="Calibri"/>
                <a:cs typeface="Calibri"/>
              </a:rPr>
              <a:t>6</a:t>
            </a: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.</a:t>
            </a:r>
            <a:r>
              <a:rPr lang="en-US" sz="3600" spc="-150" dirty="0">
                <a:solidFill>
                  <a:srgbClr val="161D31"/>
                </a:solidFill>
                <a:latin typeface="Calibri"/>
                <a:cs typeface="Calibri"/>
              </a:rPr>
              <a:t> </a:t>
            </a:r>
            <a:r>
              <a:rPr lang="ru-RU" sz="3600" spc="-150" dirty="0">
                <a:solidFill>
                  <a:srgbClr val="161D31"/>
                </a:solidFill>
                <a:latin typeface="Calibri"/>
                <a:cs typeface="Calibri"/>
              </a:rPr>
              <a:t>Заданный вариантом. Прототип «Решетки Кардано».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9EBB3-D355-44E0-96D3-919CAA861FF9}"/>
              </a:ext>
            </a:extLst>
          </p:cNvPr>
          <p:cNvSpPr txBox="1"/>
          <p:nvPr/>
        </p:nvSpPr>
        <p:spPr>
          <a:xfrm>
            <a:off x="609600" y="1066800"/>
            <a:ext cx="11353800" cy="4557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b="1" spc="-150" dirty="0">
                <a:solidFill>
                  <a:srgbClr val="161D31"/>
                </a:solidFill>
                <a:latin typeface="Calibri"/>
                <a:cs typeface="Calibri"/>
              </a:rPr>
              <a:t>Математическая модель (алгоритм зашифрования):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1. Создается пустая рабочая матрица Grid размером 4 × 4.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2. Выполняется 4 итерации (повороты на 0, 90, 180, 270 градусов)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3. На каждой итерации алгоритм проходит по трафарету K1 (сверху вниз, слева направо). Если встречается '0' и в P еще остались байты, очередной байт из P записывается в Grid по тем же координатам.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4. После заполнения доступных отверстий трафарет K1 поворачивается на 90 градусов по часовой стрелке. Формула поворота координат: новая ячейка (r, c) берет значение из старой (3 - c, r).</a:t>
            </a: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2600" spc="-150" dirty="0">
                <a:solidFill>
                  <a:srgbClr val="161D31"/>
                </a:solidFill>
                <a:latin typeface="Calibri"/>
                <a:cs typeface="Calibri"/>
              </a:rPr>
              <a:t>5. По завершении 4-х поворотов шифротекст C формируется путем считывания заполненных ячеек матрицы Grid построчно (пропуская пустые ячейки).</a:t>
            </a:r>
          </a:p>
        </p:txBody>
      </p:sp>
    </p:spTree>
    <p:extLst>
      <p:ext uri="{BB962C8B-B14F-4D97-AF65-F5344CB8AC3E}">
        <p14:creationId xmlns:p14="http://schemas.microsoft.com/office/powerpoint/2010/main" val="112927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251460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Блок-схема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алгоритма</a:t>
            </a:r>
            <a:endParaRPr lang="en-US" sz="2800" b="1" spc="-150" dirty="0">
              <a:solidFill>
                <a:srgbClr val="161D3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шифрования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2A0BB7-DEA7-435C-AC9A-0535B30C2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39" y="0"/>
            <a:ext cx="3154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10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74D6FC-0E5A-4591-9A60-5637D639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90500"/>
            <a:ext cx="6019800" cy="6093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F4AFE5-A83B-458C-A072-08C8DA475824}"/>
              </a:ext>
            </a:extLst>
          </p:cNvPr>
          <p:cNvSpPr txBox="1"/>
          <p:nvPr/>
        </p:nvSpPr>
        <p:spPr>
          <a:xfrm>
            <a:off x="533400" y="152400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800" b="1" spc="-150" dirty="0">
                <a:solidFill>
                  <a:srgbClr val="161D31"/>
                </a:solidFill>
                <a:latin typeface="Calibri"/>
                <a:cs typeface="Calibri"/>
              </a:rPr>
              <a:t>Программа зашифрования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35CAD-00FA-4C3F-8215-BD72EE14CE79}"/>
              </a:ext>
            </a:extLst>
          </p:cNvPr>
          <p:cNvSpPr txBox="1"/>
          <p:nvPr/>
        </p:nvSpPr>
        <p:spPr>
          <a:xfrm>
            <a:off x="4752975" y="190500"/>
            <a:ext cx="5943600" cy="629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rotate_matrix_90_cw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ru-RU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Поворот матрицы 4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x4 </a:t>
            </a:r>
            <a:r>
              <a:rPr lang="ru-RU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на 90 градусов по часовой стрелке"""</a:t>
            </a:r>
            <a:endParaRPr lang="ru-RU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[[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b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cardano_encrypt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Создаем пустую рабочую матрицу 4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x4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[[</a:t>
            </a:r>
            <a:r>
              <a:rPr lang="en-US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p_idx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4 </a:t>
            </a:r>
            <a:r>
              <a:rPr lang="ru-RU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положения трафарета (0, 90, 180, 270 градусов)</a:t>
            </a:r>
            <a:endParaRPr lang="ru-RU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Запись в отверстия трафарета</a:t>
            </a:r>
            <a:endParaRPr lang="ru-RU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'0'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p_idx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p_idx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p_idx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Поворот трафарета для следующей итерации</a:t>
            </a:r>
            <a:endParaRPr lang="ru-RU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rotate_matrix_90_cw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Считывание зашифрованного текста построчно</a:t>
            </a:r>
            <a:endParaRPr lang="ru-RU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BD7AFA-FA44-4811-9187-561B72B2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43000"/>
            <a:ext cx="4401164" cy="5239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0F89A7-6C3E-4FFB-B607-C3C6AD45E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31" y="1960960"/>
            <a:ext cx="412490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15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6EA3F-1848-450E-BB0E-C0E6F452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8200"/>
            <a:ext cx="12192000" cy="22482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52400" y="152400"/>
            <a:ext cx="11658600" cy="7078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algn="just">
              <a:lnSpc>
                <a:spcPct val="100000"/>
              </a:lnSpc>
              <a:spcBef>
                <a:spcPts val="100"/>
              </a:spcBef>
            </a:pPr>
            <a:r>
              <a:rPr sz="4800" spc="-55" dirty="0">
                <a:solidFill>
                  <a:srgbClr val="161D31"/>
                </a:solidFill>
              </a:rPr>
              <a:t>Заключение</a:t>
            </a:r>
            <a:endParaRPr sz="4800" dirty="0">
              <a:solidFill>
                <a:srgbClr val="161D31"/>
              </a:solidFill>
            </a:endParaRPr>
          </a:p>
          <a:p>
            <a:pPr marL="182245" algn="just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161D31"/>
                </a:solidFill>
              </a:rPr>
              <a:t>В</a:t>
            </a:r>
            <a:r>
              <a:rPr sz="3200" spc="-310" dirty="0">
                <a:solidFill>
                  <a:srgbClr val="161D31"/>
                </a:solidFill>
              </a:rPr>
              <a:t> </a:t>
            </a:r>
            <a:r>
              <a:rPr sz="3200" spc="-155" dirty="0">
                <a:solidFill>
                  <a:srgbClr val="161D31"/>
                </a:solidFill>
              </a:rPr>
              <a:t>работе</a:t>
            </a:r>
            <a:r>
              <a:rPr sz="3200" spc="-280" dirty="0">
                <a:solidFill>
                  <a:srgbClr val="161D31"/>
                </a:solidFill>
              </a:rPr>
              <a:t> </a:t>
            </a:r>
            <a:r>
              <a:rPr sz="3200" spc="-160" dirty="0">
                <a:solidFill>
                  <a:srgbClr val="161D31"/>
                </a:solidFill>
              </a:rPr>
              <a:t>получены</a:t>
            </a:r>
            <a:r>
              <a:rPr sz="3200" spc="-270" dirty="0">
                <a:solidFill>
                  <a:srgbClr val="161D31"/>
                </a:solidFill>
              </a:rPr>
              <a:t> </a:t>
            </a:r>
            <a:r>
              <a:rPr sz="3200" spc="-165" dirty="0">
                <a:solidFill>
                  <a:srgbClr val="161D31"/>
                </a:solidFill>
              </a:rPr>
              <a:t>следующие</a:t>
            </a:r>
            <a:r>
              <a:rPr sz="3200" spc="-280" dirty="0">
                <a:solidFill>
                  <a:srgbClr val="161D31"/>
                </a:solidFill>
              </a:rPr>
              <a:t> </a:t>
            </a:r>
            <a:r>
              <a:rPr sz="3200" spc="-105" dirty="0">
                <a:solidFill>
                  <a:srgbClr val="161D31"/>
                </a:solidFill>
              </a:rPr>
              <a:t>основные</a:t>
            </a:r>
            <a:r>
              <a:rPr sz="3200" spc="225" dirty="0">
                <a:solidFill>
                  <a:srgbClr val="161D31"/>
                </a:solidFill>
              </a:rPr>
              <a:t> </a:t>
            </a:r>
            <a:r>
              <a:rPr sz="3200" spc="-65" dirty="0">
                <a:solidFill>
                  <a:srgbClr val="161D31"/>
                </a:solidFill>
              </a:rPr>
              <a:t>результаты:</a:t>
            </a:r>
            <a:endParaRPr sz="3200" dirty="0">
              <a:solidFill>
                <a:srgbClr val="161D31"/>
              </a:solidFill>
            </a:endParaRP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шифр Scytale и выявлены его следующие основные характеристики: простая геометрическая перестановка, ключ – число колонок, взламывается перебором.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Агентурный шифр и выявлены его следующие основные характеристики: моноалфавитная подстановка со смешанным алфавитом, ключ – лозунг и сдвиг, взламывается частотным анализом.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шифр Vigenere и выявлены его следующие основные характеристики: моноалфавитный шифр с периодическим ключом, ломается автокорреляцией и частотным анализом.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шифр Hill и выявлены его следующие основные характеристики: блочный .обратимая матрица, возможна атака на ключ на основе матричный шифр, ключ знания исходного текста.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шифр ADFGVX и выявлены его следующие основные характеристики: сочетание таблицы Полибия и транспозиции, усложненное шифрование, но взламывается определением перестановки и частотным анализом.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r>
              <a:rPr lang="ru-RU" sz="2000" i="1" spc="-10" dirty="0">
                <a:solidFill>
                  <a:srgbClr val="161D3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Изучен шифр по заданному варианту (Решетка Кардано): разработана блок-схема и написана программа зашифрования алгоритма трафаретной перестановки с вращающейся матрицей 4x4.</a:t>
            </a:r>
          </a:p>
          <a:p>
            <a:pPr marL="754380" indent="-741680" algn="just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754380" algn="l"/>
              </a:tabLst>
            </a:pPr>
            <a:endParaRPr sz="2000" dirty="0">
              <a:solidFill>
                <a:srgbClr val="161D3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2336</Words>
  <Application>Microsoft Office PowerPoint</Application>
  <PresentationFormat>Широкоэкранный</PresentationFormat>
  <Paragraphs>689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Криптографические методы защиты информации</dc:title>
  <dc:creator>Tutor</dc:creator>
  <cp:lastModifiedBy>Марков Марк</cp:lastModifiedBy>
  <cp:revision>78</cp:revision>
  <dcterms:created xsi:type="dcterms:W3CDTF">2026-09-21T21:22:51Z</dcterms:created>
  <dcterms:modified xsi:type="dcterms:W3CDTF">2026-09-28T21:12:24Z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2026-09-21T00:00:00Z</vt:filetime>
  </property>
  <property fmtid="{D5CDD505-2E9C-101B-9397-08002B2CF9AE}" pid="6" name="Producer">
    <vt:lpwstr>Microsoft® PowerPoint® 2016</vt:lpwstr>
  </property>
</Properties>
</file>